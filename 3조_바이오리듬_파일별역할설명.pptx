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40f85e4d-3d16-59b3-4b86-d4edbb70c0d2}">
          <p14:sldIdLst>
            <p14:sldId id="256"/>
            <p14:sldId id="257"/>
            <p14:sldId id="258"/>
          </p14:sldIdLst>
        </p14:section>
        <p14:section name="workflow.py" id="{58f19f05-ca67-bd1b-a207-aa3967e18987}">
          <p14:sldIdLst>
            <p14:sldId id="259"/>
            <p14:sldId id="260"/>
            <p14:sldId id="261"/>
            <p14:sldId id="262"/>
            <p14:sldId id="263"/>
            <p14:sldId id="264"/>
          </p14:sldIdLst>
        </p14:section>
        <p14:section name="prompts.py" id="{e6557439-9e9c-b3db-c551-193970112973}">
          <p14:sldIdLst>
            <p14:sldId id="265"/>
          </p14:sldIdLst>
        </p14:section>
        <p14:section name="나머지 파일과 시연" id="{2b630bab-4526-b8db-2bec-103b39fab902}">
          <p14:sldIdLst>
            <p14:sldId id="266"/>
            <p14:sldId id="267"/>
          </p14:sldIdLst>
        </p14:section>
        <p14:section name="수정·제출 가이드" id="{4c15698c-b4c0-bb2b-f5ab-61614438d8e8}">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바이오리듬 버전 제출물을 구성하는 파일 네 가지가 각각 무슨 역할을 하는지 설명드리겠습니다. 생년월일을 받아 바이오리듬을 계산하고, 리듬 해설, 궁합, 운세, 오늘의 조언, 운동 추천 중 하나로 답하는 에이전트입니다. 다 듣고 나면 "이걸 바꾸려면 어느 파일 어디를 고치면 되는지" 각자 알 수 있게 하는 것이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 조가 만든 건 teams/team3 폴더 안의 파일들입니다. workflow.py 가 그래프와 계산을 모두 담고 있고, prompts.py 에는 LLM 에게 주는 지시문만 모여 있습니다. requirements.txt 와 README.md 는 제출 양식에 맞춘 파일이고, screenshots 폴더는 실행 캡처를 넣으려고 앞으로 만들어야 합니다. app 폴더는 대회 측이 모든 조에 공통으로 준 것이라 우리는 가져다 쓰기만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사용자가 생년월일과 함께 질문하면 workflow.py 가 날짜를 확인하고 바이오리듬 수치를 직접 계산합니다. LLM 은 사인 함수 계산을 자주 틀려서, 같은 생년월일로 물어도 수치가 매번 달라질 수 있기 때문입니다. 계산이 끝나면 그 결과를 prompts.py 의 지시문과 함께 사내 LLM 에 넘겨서 해설만 쓰게 합니다. 파란색은 파이썬, 주황색은 LLM 이라고 기억해 주세요. 뒤 슬라이드에서도 같은 색을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workflow.py 는 위에서부터 구역이 나뉘어 있어서 필요한 곳만 보면 됩니다. ② 바이오리듬 계산 구역은 LLM 을 전혀 쓰지 않는 순수 파이썬이고, 여기서 만든 계산 결과 텍스트를 해설 노드들이 공통으로 받습니다. ③ 의 _expert 함수 덕분에 해설 노드 다섯 개는 각각 한 줄짜리 함수로 끝납니다. 디버깅할 때는 ⑥처럼 터미널에서 workflow.py 를 바로 실행하면 노드마다 무엇을 만들었는지 출력됩니다.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질문은 analyze_intent 로 들어옵니다. 첫 번째 갈림길에서 이전 답변에 이어지는 질문이면 answer_follow_up, 생년월일이 없거나 잘못됐으면 ask_clarify 로 가서 되묻고, 정보가 충분하면 calc_biorhythm 으로 갑니다. calc_biorhythm 은 LLM 없이 수치를 계산하고, 두 번째 갈림길에서 사용자가 원한 기능에 따라 해설 노드 다섯 개 중 하나로 갑니다. 계산은 모든 기능이 공통으로 쓰기 때문에 한 번만 하고 갈라지게 한 것이 포인트입니다.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노드는 workflow.py 안의 함수와 1대1로 대응하고, 함수 이름이 곧 실행 화면에 찍히는 노드 이름입니다. analyze_intent 는 오늘 날짜를 함께 넘겨서 "내일", "이번 주 금요일" 같은 표현도 정확한 날짜로 바꾸고, LLM 이 뽑은 날짜를 코드로 한 번 더 검사해서 2월 30일이나 미래 생일이면 되묻게 합니다. 해설 노드 다섯 개는 같은 계산 결과를 받지만 지시문과 창의성 정도가 다릅니다. 운세는 다양하게 나오도록 높게, 리듬 해설은 정확하게 나오도록 낮게 설정했습니다.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에서 노드끼리는 State 라는 딕셔너리 하나를 주고받습니다. 공용으로 받은 세 칸에 우리 조가 칸을 더해서 BioState 를 만들었습니다. analyze_intent 가 생년월일과 날짜를 채우면 calc_biorhythm 이 그걸 읽어 bio_report 를 만들고, 해설 노드가 bio_report 를 읽어 answer 를 채웁니다. 앞서 말한 생년월일은 이전 대화인 messages 에 남아 있어서, 두 번째 질문부터는 "운동도 추천해줘" 만 말해도 다시 계산할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바이오리듬은 태어난 날부터 신체 23일, 감성 28일, 지성 33일 주기로 오르내리는 사인 곡선입니다. 공식이 정해져 있어서 답이 하나이기 때문에 LLM 이 아니라 파이썬이 계산합니다. 그날 안에 값이 0 을 지나가면 리듬이 바뀌는 전환점이라 위험일로 표시합니다. 궁합은 두 사람 생일 차이가 주기의 배수에 가까울수록 리듬이 같이 움직이므로 점수가 높고, 생일이 같으면 100점입니다. 오른쪽은 실제로 계산해 본 예시이고, 해설 노드는 이 텍스트를 받아서 숫자를 바꾸지 않고 해석만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workflow.py 위쪽에 설정값을 모아 두었습니다. CYCLES 에 주기를 하나 더 넣으면 계산 결과에 리듬이 하나 더 나옵니다. temperature 는 LLM 이 얼마나 다양하게 답할지 정하는 값인데, 노드마다 다르게 줬습니다. 의도 분석은 항상 같은 JSON 이 나와야 해서 0, 리듬 해설은 0.4, 운동 0.5, 궁합과 조언은 0.6, 운세는 매번 새롭게 느껴지도록 0.8 입니다. TEAM_INFO 의 예시 질문은 README 맨 위 예시 질문과 항상 같게 맞춰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prompts.py 는 LLM 에게 주는 지시문만 모아 둔 파일입니다. LLM 노드 여덟 개가 각자 하나씩 쓰고, COMMON_RULES 는 해설 노드 다섯 개의 지시문 끝에 공통으로 붙습니다. 핵심은 "수치는 계산 결과에 적힌 값만 인용하라" 입니다. 바이오리듬은 과학적으로 검증된 이론이 아니라서 단정적으로 예언하지 말고 재미용 지표로 안내하라는 규칙도 넣었습니다. 운동 지시문에는 신체 리듬 50 이상은 고강도, 0에서 49는 중강도, 음수는 저강도, -50 이하나 위험일은 회복 위주라는 기준표가 들어 있습니다. 답변 형식이나 말투를 바꾸고 싶으면 이 파일만 고치면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requirements.txt 는 위쪽 공용 구역은 고치지 않고 아래 조별 구역에만 추가하는데, 우리 조는 사인 곡선과 날짜 계산을 파이썬 기본 라이브러리로 해서 추가할 패키지가 없습니다. README.md 는 실제로 평가받는 문서입니다. 1장의 다이어그램과 표는 workflow.py 와 반드시 일치해야 하고, 2장에는 prompts.py 의 최종 문구가 그대로 들어가 있습니다. screenshots 폴더는 아직 없어서 직접 만들고, 예시 질문 세 개를 실행한 화면을 노드 배지가 보이게 캡처해서 넣어야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시연할 때는 위의 세 질문으로 해설, 궁합, 운동 노드가 각각 실행되는 걸 보여주면 됩니다. 모두 analyze_intent, calc_biorhythm 을 거쳐서 마지막 노드만 달라집니다. 시간이 있으면 생년월일 없이 운세를 물어서 되묻기가 나오고, 생년월일만 답하면 처음 요청했던 운세가 이어서 나오는 멀티턴 흐름을 보여주세요. 같은 생년월일로 두 번 물어도 수치가 똑같이 나온다는 점도 계산을 코드로 분리한 효과로 강조하면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대부분의 개선은 prompts.py 문구 수정으로 끝나고, 계산 기준을 바꿀 때만 workflow.py 를 봅니다. 새 기능을 추가하는 게 가장 손이 많이 가는데, 예를 들어 수면 추천을 넣는다면 workflow.py 에서 TASK_NODES 와 TASK_LABELS 에 항목을 추가하고, 해설 노드 함수 하나와 EXPERT_NODES 등록을 추가하고, prompts.py 에 새 지시문을 만들고, ANALYZE_INTENT_SYSTEM 의 task 목록에도 넣어야 합니다. 그리고 README 1장의 노드 표와 다이어그램, 2장의 프롬프트 섹션도 함께 늘려야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 전에 남은 일입니다. 먼저 바이오리듬과 MES 소스 리뷰 중 어떤 주제로 낼지 정해야 합니다. 코드는 가짜 LLM 응답으로 분기와 계산을 시험해 봤지만 사내 LLM 으로는 아직 돌려보지 않았습니다. 실행해 보면서 이상하게 나온 답변을 기록해 두면 README 2장의 개선 전후 표를 바로 채울 수 있습니다. 생년월일은 사람마다 다르게 입력하니 여러 표현으로 테스트해 보고, 없는 날짜를 넣었을 때 되묻는지도 확인해 주세요. 담당자는 이 자리에서 정해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972800" cy="411480"/>
          </a:xfrm>
          <a:prstGeom prst="rect">
            <a:avLst/>
          </a:prstGeom>
          <a:noFill/>
          <a:ln/>
        </p:spPr>
        <p:txBody>
          <a:bodyPr wrap="square" rtlCol="0"/>
          <a:lstStyle>
            <a:lvl1pPr indent="0" marL="0">
              <a:buNone/>
              <a:defRPr lang="en-US" sz="1600" b="1" dirty="0">
                <a:solidFill>
                  <a:srgbClr val="7FD1BE"/>
                </a:solidFill>
              </a:defRPr>
            </a:lvl1pPr>
          </a:lstStyle>
          <a:p>
            <a:pPr indent="0" marL="0">
              <a:buNone/>
            </a:pPr>
            <a:endParaRPr lang="en-US" sz="1600" dirty="0"/>
          </a:p>
        </p:txBody>
      </p:sp>
      <p:sp>
        <p:nvSpPr>
          <p:cNvPr id="3" name="Text 0"/>
          <p:cNvSpPr/>
          <p:nvPr>
            <p:ph idx="101" type="title" hasCustomPrompt="1"/>
          </p:nvPr>
        </p:nvSpPr>
        <p:spPr>
          <a:xfrm>
            <a:off x="548640" y="2331720"/>
            <a:ext cx="10972800" cy="1005840"/>
          </a:xfrm>
          <a:prstGeom prst="rect">
            <a:avLst/>
          </a:prstGeom>
          <a:noFill/>
          <a:ln/>
        </p:spPr>
        <p:txBody>
          <a:bodyPr wrap="square" rtlCol="0"/>
          <a:lstStyle>
            <a:lvl1pPr algn="l" indent="0" marL="0">
              <a:buNone/>
              <a:defRPr lang="en-US" sz="4800" b="1" dirty="0">
                <a:solidFill>
                  <a:schemeClr val="bg2"/>
                </a:solidFill>
              </a:defRPr>
            </a:lvl1pPr>
          </a:lstStyle>
          <a:p>
            <a:pPr algn="l" indent="0" marL="0">
              <a:buNone/>
            </a:pPr>
            <a:endParaRPr lang="en-US" sz="4800" dirty="0"/>
          </a:p>
        </p:txBody>
      </p:sp>
      <p:sp>
        <p:nvSpPr>
          <p:cNvPr id="4" name="Text 0"/>
          <p:cNvSpPr/>
          <p:nvPr>
            <p:ph idx="102" type="body" hasCustomPrompt="1"/>
          </p:nvPr>
        </p:nvSpPr>
        <p:spPr>
          <a:xfrm>
            <a:off x="548640" y="3429000"/>
            <a:ext cx="10972800" cy="548640"/>
          </a:xfrm>
          <a:prstGeom prst="rect">
            <a:avLst/>
          </a:prstGeom>
          <a:noFill/>
          <a:ln/>
        </p:spPr>
        <p:txBody>
          <a:bodyPr wrap="square" rtlCol="0"/>
          <a:lstStyle>
            <a:lvl1pPr indent="0" marL="0">
              <a:buNone/>
              <a:defRPr lang="en-US" sz="2400" dirty="0">
                <a:solidFill>
                  <a:srgbClr val="C6D8D3"/>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380"/>
                </a:solidFill>
              </a:rPr>
              <a:t>3조 바이오리듬 컨디션 코치 · 파일별 역할 설명</a:t>
            </a:r>
            <a:endParaRPr lang="en-US" sz="11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LT">
    <p:bg>
      <p:bgPr>
        <a:solidFill>
          <a:srgbClr val="ECE9E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6B7380"/>
                </a:solidFill>
              </a:rPr>
              <a:t>3조 바이오리듬 컨디션 코치 · 파일별 역할 설명</a:t>
            </a:r>
            <a:endParaRPr lang="en-US" sz="11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rtlCol="0"/>
          <a:lstStyle>
            <a:lvl1pPr indent="0" marL="0">
              <a:buNone/>
              <a:defRPr lang="en-US" sz="1300" b="1" dirty="0">
                <a:solidFill>
                  <a:srgbClr val="7FD1BE"/>
                </a:solidFill>
              </a:defRPr>
            </a:lvl1pPr>
          </a:lstStyle>
          <a:p>
            <a:pPr indent="0" marL="0">
              <a:buNone/>
            </a:pP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rtlCol="0"/>
          <a:lstStyle>
            <a:lvl1pPr algn="l" indent="0" marL="0">
              <a:buNone/>
              <a:defRPr lang="en-US" sz="3000" b="1" dirty="0">
                <a:solidFill>
                  <a:schemeClr val="bg2"/>
                </a:solidFill>
              </a:defRPr>
            </a:lvl1pPr>
          </a:lstStyle>
          <a:p>
            <a:pPr algn="l" indent="0" marL="0">
              <a:buNone/>
            </a:pPr>
            <a:endParaRPr lang="en-US" sz="3000" dirty="0"/>
          </a:p>
        </p:txBody>
      </p:sp>
      <p:sp>
        <p:nvSpPr>
          <p:cNvPr id="4"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100" dirty="0">
                <a:solidFill>
                  <a:srgbClr val="8FB0A8"/>
                </a:solidFill>
              </a:rPr>
              <a:t>3조 바이오리듬 컨디션 코치 · 파일별 역할 설명</a:t>
            </a:r>
            <a:endParaRPr lang="en-US" sz="11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B0A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972800" cy="411480"/>
          </a:xfrm>
          <a:prstGeom prst="rect">
            <a:avLst/>
          </a:prstGeom>
          <a:noFill/>
          <a:ln/>
        </p:spPr>
        <p:txBody>
          <a:bodyPr wrap="square" lIns="0" tIns="0" rIns="0" bIns="0" rtlCol="0" anchor="t"/>
          <a:lstStyle/>
          <a:p>
            <a:pPr indent="0" marL="0">
              <a:buNone/>
            </a:pPr>
            <a:r>
              <a:rPr lang="en-US" sz="1600" b="1" dirty="0">
                <a:solidFill>
                  <a:srgbClr val="7FD1BE"/>
                </a:solidFill>
              </a:rPr>
              <a:t>사내 LLM 경진 · 3조</a:t>
            </a:r>
            <a:endParaRPr lang="en-US" sz="1600" dirty="0"/>
          </a:p>
        </p:txBody>
      </p:sp>
      <p:sp>
        <p:nvSpPr>
          <p:cNvPr id="3" name="Text 0"/>
          <p:cNvSpPr/>
          <p:nvPr>
            <p:ph idx="101" type="title" hasCustomPrompt="1"/>
          </p:nvPr>
        </p:nvSpPr>
        <p:spPr>
          <a:xfrm>
            <a:off x="548640" y="2331720"/>
            <a:ext cx="10972800" cy="1005840"/>
          </a:xfrm>
          <a:prstGeom prst="rect">
            <a:avLst/>
          </a:prstGeom>
          <a:noFill/>
          <a:ln/>
        </p:spPr>
        <p:txBody>
          <a:bodyPr wrap="square" lIns="0" tIns="0" rIns="0" bIns="0" rtlCol="0" anchor="t"/>
          <a:lstStyle/>
          <a:p>
            <a:pPr algn="l" indent="0" marL="0">
              <a:buNone/>
            </a:pPr>
            <a:r>
              <a:rPr lang="en-US" sz="4800" b="1" dirty="0">
                <a:solidFill>
                  <a:schemeClr val="bg2"/>
                </a:solidFill>
              </a:rPr>
              <a:t>바이오리듬 컨디션 코치</a:t>
            </a:r>
            <a:endParaRPr lang="en-US" sz="4800" dirty="0"/>
          </a:p>
        </p:txBody>
      </p:sp>
      <p:sp>
        <p:nvSpPr>
          <p:cNvPr id="4" name="Text 0"/>
          <p:cNvSpPr/>
          <p:nvPr>
            <p:ph idx="102" type="body" hasCustomPrompt="1"/>
          </p:nvPr>
        </p:nvSpPr>
        <p:spPr>
          <a:xfrm>
            <a:off x="548640" y="3429000"/>
            <a:ext cx="10972800" cy="548640"/>
          </a:xfrm>
          <a:prstGeom prst="rect">
            <a:avLst/>
          </a:prstGeom>
          <a:noFill/>
          <a:ln/>
        </p:spPr>
        <p:txBody>
          <a:bodyPr wrap="square" lIns="0" tIns="0" rIns="0" bIns="0" rtlCol="0" anchor="t"/>
          <a:lstStyle/>
          <a:p>
            <a:pPr indent="0" marL="0">
              <a:buNone/>
            </a:pPr>
            <a:r>
              <a:rPr lang="en-US" sz="2400" dirty="0">
                <a:solidFill>
                  <a:srgbClr val="C6D8D3"/>
                </a:solidFill>
              </a:rPr>
              <a:t>프로젝트 파일별 역할 설명</a:t>
            </a:r>
            <a:endParaRPr lang="en-US" sz="2400" dirty="0"/>
          </a:p>
        </p:txBody>
      </p:sp>
      <p:sp>
        <p:nvSpPr>
          <p:cNvPr id="5" name="Shape 3"/>
          <p:cNvSpPr/>
          <p:nvPr/>
        </p:nvSpPr>
        <p:spPr>
          <a:xfrm>
            <a:off x="548640" y="4343400"/>
            <a:ext cx="1668780" cy="457200"/>
          </a:xfrm>
          <a:prstGeom prst="roundRect">
            <a:avLst>
              <a:gd name="adj" fmla="val 16000"/>
            </a:avLst>
          </a:prstGeom>
          <a:solidFill>
            <a:srgbClr val="1D4740"/>
          </a:solidFill>
          <a:ln w="12700">
            <a:solidFill>
              <a:srgbClr val="1D4740"/>
            </a:solidFill>
            <a:prstDash val="solid"/>
          </a:ln>
        </p:spPr>
      </p:sp>
      <p:sp>
        <p:nvSpPr>
          <p:cNvPr id="6" name="Text 4"/>
          <p:cNvSpPr txBox="1"/>
          <p:nvPr/>
        </p:nvSpPr>
        <p:spPr>
          <a:xfrm>
            <a:off x="548640" y="4343400"/>
            <a:ext cx="1668780" cy="457200"/>
          </a:xfrm>
          <a:prstGeom prst="rect">
            <a:avLst/>
          </a:prstGeom>
          <a:noFill/>
          <a:ln/>
        </p:spPr>
        <p:txBody>
          <a:bodyPr wrap="square" lIns="0" tIns="0" rIns="0" bIns="0" rtlCol="0" anchor="ctr"/>
          <a:lstStyle/>
          <a:p>
            <a:pPr algn="ctr" indent="0" marL="0">
              <a:buNone/>
            </a:pPr>
            <a:r>
              <a:rPr lang="en-US" sz="1400" dirty="0">
                <a:solidFill>
                  <a:schemeClr val="bg2"/>
                </a:solidFill>
                <a:latin typeface="Consolas" pitchFamily="34" charset="0"/>
                <a:ea typeface="Consolas" pitchFamily="34" charset="-122"/>
                <a:cs typeface="Consolas" pitchFamily="34" charset="-120"/>
              </a:rPr>
              <a:t>workflow.py</a:t>
            </a:r>
            <a:endParaRPr lang="en-US" sz="1400" dirty="0"/>
          </a:p>
        </p:txBody>
      </p:sp>
      <p:sp>
        <p:nvSpPr>
          <p:cNvPr id="7" name="Shape 5"/>
          <p:cNvSpPr/>
          <p:nvPr/>
        </p:nvSpPr>
        <p:spPr>
          <a:xfrm>
            <a:off x="2354580" y="4343400"/>
            <a:ext cx="1554480" cy="457200"/>
          </a:xfrm>
          <a:prstGeom prst="roundRect">
            <a:avLst>
              <a:gd name="adj" fmla="val 16000"/>
            </a:avLst>
          </a:prstGeom>
          <a:solidFill>
            <a:srgbClr val="1D4740"/>
          </a:solidFill>
          <a:ln w="12700">
            <a:solidFill>
              <a:srgbClr val="1D4740"/>
            </a:solidFill>
            <a:prstDash val="solid"/>
          </a:ln>
        </p:spPr>
      </p:sp>
      <p:sp>
        <p:nvSpPr>
          <p:cNvPr id="8" name="Text 6"/>
          <p:cNvSpPr txBox="1"/>
          <p:nvPr/>
        </p:nvSpPr>
        <p:spPr>
          <a:xfrm>
            <a:off x="2354580" y="4343400"/>
            <a:ext cx="1554480" cy="457200"/>
          </a:xfrm>
          <a:prstGeom prst="rect">
            <a:avLst/>
          </a:prstGeom>
          <a:noFill/>
          <a:ln/>
        </p:spPr>
        <p:txBody>
          <a:bodyPr wrap="square" lIns="0" tIns="0" rIns="0" bIns="0" rtlCol="0" anchor="ctr"/>
          <a:lstStyle/>
          <a:p>
            <a:pPr algn="ctr" indent="0" marL="0">
              <a:buNone/>
            </a:pPr>
            <a:r>
              <a:rPr lang="en-US" sz="1400" dirty="0">
                <a:solidFill>
                  <a:schemeClr val="bg2"/>
                </a:solidFill>
                <a:latin typeface="Consolas" pitchFamily="34" charset="0"/>
                <a:ea typeface="Consolas" pitchFamily="34" charset="-122"/>
                <a:cs typeface="Consolas" pitchFamily="34" charset="-120"/>
              </a:rPr>
              <a:t>prompts.py</a:t>
            </a:r>
            <a:endParaRPr lang="en-US" sz="1400" dirty="0"/>
          </a:p>
        </p:txBody>
      </p:sp>
      <p:sp>
        <p:nvSpPr>
          <p:cNvPr id="9" name="Shape 7"/>
          <p:cNvSpPr/>
          <p:nvPr/>
        </p:nvSpPr>
        <p:spPr>
          <a:xfrm>
            <a:off x="4046220" y="4343400"/>
            <a:ext cx="2240280" cy="457200"/>
          </a:xfrm>
          <a:prstGeom prst="roundRect">
            <a:avLst>
              <a:gd name="adj" fmla="val 16000"/>
            </a:avLst>
          </a:prstGeom>
          <a:solidFill>
            <a:srgbClr val="1D4740"/>
          </a:solidFill>
          <a:ln w="12700">
            <a:solidFill>
              <a:srgbClr val="1D4740"/>
            </a:solidFill>
            <a:prstDash val="solid"/>
          </a:ln>
        </p:spPr>
      </p:sp>
      <p:sp>
        <p:nvSpPr>
          <p:cNvPr id="10" name="Text 8"/>
          <p:cNvSpPr txBox="1"/>
          <p:nvPr/>
        </p:nvSpPr>
        <p:spPr>
          <a:xfrm>
            <a:off x="4046220" y="4343400"/>
            <a:ext cx="2240280" cy="457200"/>
          </a:xfrm>
          <a:prstGeom prst="rect">
            <a:avLst/>
          </a:prstGeom>
          <a:noFill/>
          <a:ln/>
        </p:spPr>
        <p:txBody>
          <a:bodyPr wrap="square" lIns="0" tIns="0" rIns="0" bIns="0" rtlCol="0" anchor="ctr"/>
          <a:lstStyle/>
          <a:p>
            <a:pPr algn="ctr" indent="0" marL="0">
              <a:buNone/>
            </a:pPr>
            <a:r>
              <a:rPr lang="en-US" sz="1400" dirty="0">
                <a:solidFill>
                  <a:schemeClr val="bg2"/>
                </a:solidFill>
                <a:latin typeface="Consolas" pitchFamily="34" charset="0"/>
                <a:ea typeface="Consolas" pitchFamily="34" charset="-122"/>
                <a:cs typeface="Consolas" pitchFamily="34" charset="-120"/>
              </a:rPr>
              <a:t>requirements.txt</a:t>
            </a:r>
            <a:endParaRPr lang="en-US" sz="1400" dirty="0"/>
          </a:p>
        </p:txBody>
      </p:sp>
      <p:sp>
        <p:nvSpPr>
          <p:cNvPr id="11" name="Shape 9"/>
          <p:cNvSpPr/>
          <p:nvPr/>
        </p:nvSpPr>
        <p:spPr>
          <a:xfrm>
            <a:off x="6423660" y="4343400"/>
            <a:ext cx="1440180" cy="457200"/>
          </a:xfrm>
          <a:prstGeom prst="roundRect">
            <a:avLst>
              <a:gd name="adj" fmla="val 16000"/>
            </a:avLst>
          </a:prstGeom>
          <a:solidFill>
            <a:srgbClr val="1D4740"/>
          </a:solidFill>
          <a:ln w="12700">
            <a:solidFill>
              <a:srgbClr val="1D4740"/>
            </a:solidFill>
            <a:prstDash val="solid"/>
          </a:ln>
        </p:spPr>
      </p:sp>
      <p:sp>
        <p:nvSpPr>
          <p:cNvPr id="12" name="Text 10"/>
          <p:cNvSpPr txBox="1"/>
          <p:nvPr/>
        </p:nvSpPr>
        <p:spPr>
          <a:xfrm>
            <a:off x="6423660" y="4343400"/>
            <a:ext cx="1440180" cy="457200"/>
          </a:xfrm>
          <a:prstGeom prst="rect">
            <a:avLst/>
          </a:prstGeom>
          <a:noFill/>
          <a:ln/>
        </p:spPr>
        <p:txBody>
          <a:bodyPr wrap="square" lIns="0" tIns="0" rIns="0" bIns="0" rtlCol="0" anchor="ctr"/>
          <a:lstStyle/>
          <a:p>
            <a:pPr algn="ctr" indent="0" marL="0">
              <a:buNone/>
            </a:pPr>
            <a:r>
              <a:rPr lang="en-US" sz="1400" dirty="0">
                <a:solidFill>
                  <a:schemeClr val="bg2"/>
                </a:solidFill>
                <a:latin typeface="Consolas" pitchFamily="34" charset="0"/>
                <a:ea typeface="Consolas" pitchFamily="34" charset="-122"/>
                <a:cs typeface="Consolas" pitchFamily="34" charset="-120"/>
              </a:rPr>
              <a:t>README.md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한눈에 보기</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프로젝트 폴더 구성</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550213"/>
                <a:gridCol w="7544202"/>
              </a:tblGrid>
              <a:tr h="384048">
                <a:tc>
                  <a:txBody>
                    <a:bodyPr/>
                    <a:lstStyle/>
                    <a:p>
                      <a:pPr indent="0" marL="0">
                        <a:buNone/>
                      </a:pPr>
                      <a:r>
                        <a:rPr lang="en-US" sz="1400" b="1" dirty="0">
                          <a:solidFill>
                            <a:schemeClr val="bg2"/>
                          </a:solidFill>
                        </a:rPr>
                        <a:t>파일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역할</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teams/team3/workflow.py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에이전트 본체: 노드 9개, 그래프 연결, 바이오리듬 계산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teams/team3/prompts.py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LLM 노드 8개에 주는 지시문과 공통 규칙</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teams/team3/requirements.txt</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필요한 파이썬 패키지 목록 (우리 조 추가 패키지 없음)</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teams/team3/README.md</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제출 문서: 설계 설명, 프롬프트 개선 과정, 실행 결과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teams/team3/screenshots/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실행 캡처 case1~3.png 를 넣을 폴더 (아직 없음)</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app/ (공용)</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대회 측 제공 State·LLM 연결. 가져다 쓰기만 함</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r>
            </a:tbl>
          </a:graphicData>
        </a:graphic>
      </p:graphicFrame>
      <p:sp>
        <p:nvSpPr>
          <p:cNvPr id="5" name="Text 2"/>
          <p:cNvSpPr txBox="1"/>
          <p:nvPr/>
        </p:nvSpPr>
        <p:spPr>
          <a:xfrm>
            <a:off x="548640" y="475488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핵심은 workflow.py 와 prompts.py 두 개, 나머지는 제출 양식 파일입니다.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한눈에 보기</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파일들이 함께 일하는 방식</a:t>
            </a:r>
            <a:endParaRPr lang="en-US" sz="3000" dirty="0"/>
          </a:p>
        </p:txBody>
      </p:sp>
      <p:sp>
        <p:nvSpPr>
          <p:cNvPr id="4" name="Text 2"/>
          <p:cNvSpPr txBox="1"/>
          <p:nvPr/>
        </p:nvSpPr>
        <p:spPr>
          <a:xfrm>
            <a:off x="548640" y="1600200"/>
            <a:ext cx="11094415" cy="320040"/>
          </a:xfrm>
          <a:prstGeom prst="rect">
            <a:avLst/>
          </a:prstGeom>
          <a:noFill/>
          <a:ln/>
        </p:spPr>
        <p:txBody>
          <a:bodyPr wrap="square" lIns="0" tIns="0" rIns="0" bIns="0" rtlCol="0" anchor="t"/>
          <a:lstStyle/>
          <a:p>
            <a:pPr indent="0" marL="0">
              <a:buNone/>
            </a:pPr>
            <a:r>
              <a:rPr lang="en-US" sz="1600" b="1" dirty="0">
                <a:solidFill>
                  <a:schemeClr val="accent6"/>
                </a:solidFill>
              </a:rPr>
              <a:t>질문 하나가 처리되는 흐름</a:t>
            </a:r>
            <a:endParaRPr lang="en-US" sz="1600" dirty="0"/>
          </a:p>
        </p:txBody>
      </p:sp>
      <p:sp>
        <p:nvSpPr>
          <p:cNvPr id="5" name="Shape 3"/>
          <p:cNvSpPr/>
          <p:nvPr/>
        </p:nvSpPr>
        <p:spPr>
          <a:xfrm>
            <a:off x="548640" y="2011680"/>
            <a:ext cx="2293544" cy="1325880"/>
          </a:xfrm>
          <a:prstGeom prst="roundRect">
            <a:avLst>
              <a:gd name="adj" fmla="val 6897"/>
            </a:avLst>
          </a:prstGeom>
          <a:solidFill>
            <a:srgbClr val="FDFCF9"/>
          </a:solidFill>
          <a:ln w="12700">
            <a:solidFill>
              <a:srgbClr val="DDD8CC"/>
            </a:solidFill>
            <a:prstDash val="solid"/>
          </a:ln>
        </p:spPr>
      </p:sp>
      <p:sp>
        <p:nvSpPr>
          <p:cNvPr id="6" name="Text 4"/>
          <p:cNvSpPr txBox="1"/>
          <p:nvPr/>
        </p:nvSpPr>
        <p:spPr>
          <a:xfrm>
            <a:off x="731520" y="2176272"/>
            <a:ext cx="1927784" cy="365760"/>
          </a:xfrm>
          <a:prstGeom prst="rect">
            <a:avLst/>
          </a:prstGeom>
          <a:noFill/>
          <a:ln/>
        </p:spPr>
        <p:txBody>
          <a:bodyPr wrap="square" lIns="0" tIns="0" rIns="0" bIns="0" rtlCol="0" anchor="t"/>
          <a:lstStyle/>
          <a:p>
            <a:pPr indent="0" marL="0">
              <a:buNone/>
            </a:pPr>
            <a:r>
              <a:rPr lang="en-US" sz="1600" b="1" dirty="0">
                <a:solidFill>
                  <a:schemeClr val="tx2"/>
                </a:solidFill>
              </a:rPr>
              <a:t>① 사용자</a:t>
            </a:r>
            <a:endParaRPr lang="en-US" sz="1600" dirty="0"/>
          </a:p>
        </p:txBody>
      </p:sp>
      <p:sp>
        <p:nvSpPr>
          <p:cNvPr id="7" name="Text 5"/>
          <p:cNvSpPr txBox="1"/>
          <p:nvPr/>
        </p:nvSpPr>
        <p:spPr>
          <a:xfrm>
            <a:off x="731520" y="2578608"/>
            <a:ext cx="1927784" cy="640080"/>
          </a:xfrm>
          <a:prstGeom prst="rect">
            <a:avLst/>
          </a:prstGeom>
          <a:noFill/>
          <a:ln/>
        </p:spPr>
        <p:txBody>
          <a:bodyPr wrap="square" lIns="0" tIns="0" rIns="0" bIns="0" rtlCol="0" anchor="t"/>
          <a:lstStyle/>
          <a:p>
            <a:pPr indent="0" marL="0">
              <a:buNone/>
            </a:pPr>
            <a:r>
              <a:rPr lang="en-US" sz="1300" dirty="0">
                <a:solidFill>
                  <a:schemeClr val="accent6"/>
                </a:solidFill>
              </a:rPr>
              <a:t>질문 + 생년월일 (예: 95년 3월 15일)</a:t>
            </a:r>
            <a:endParaRPr lang="en-US" sz="1300" dirty="0"/>
          </a:p>
        </p:txBody>
      </p:sp>
      <p:sp>
        <p:nvSpPr>
          <p:cNvPr id="8" name="Shape 6"/>
          <p:cNvSpPr/>
          <p:nvPr/>
        </p:nvSpPr>
        <p:spPr>
          <a:xfrm>
            <a:off x="2979344" y="2555748"/>
            <a:ext cx="365760" cy="237744"/>
          </a:xfrm>
          <a:prstGeom prst="rightArrow">
            <a:avLst/>
          </a:prstGeom>
          <a:solidFill>
            <a:schemeClr val="accent6"/>
          </a:solidFill>
          <a:ln w="12700">
            <a:solidFill>
              <a:schemeClr val="accent6"/>
            </a:solidFill>
            <a:prstDash val="solid"/>
          </a:ln>
        </p:spPr>
      </p:sp>
      <p:sp>
        <p:nvSpPr>
          <p:cNvPr id="9" name="Shape 7"/>
          <p:cNvSpPr/>
          <p:nvPr/>
        </p:nvSpPr>
        <p:spPr>
          <a:xfrm>
            <a:off x="3482264" y="2011680"/>
            <a:ext cx="2293544" cy="1325880"/>
          </a:xfrm>
          <a:prstGeom prst="roundRect">
            <a:avLst>
              <a:gd name="adj" fmla="val 6897"/>
            </a:avLst>
          </a:prstGeom>
          <a:solidFill>
            <a:schemeClr val="accent4"/>
          </a:solidFill>
          <a:ln w="19050">
            <a:solidFill>
              <a:schemeClr val="accent2"/>
            </a:solidFill>
            <a:prstDash val="solid"/>
          </a:ln>
        </p:spPr>
      </p:sp>
      <p:sp>
        <p:nvSpPr>
          <p:cNvPr id="10" name="Text 8"/>
          <p:cNvSpPr txBox="1"/>
          <p:nvPr/>
        </p:nvSpPr>
        <p:spPr>
          <a:xfrm>
            <a:off x="3665144" y="2176272"/>
            <a:ext cx="1927784" cy="365760"/>
          </a:xfrm>
          <a:prstGeom prst="rect">
            <a:avLst/>
          </a:prstGeom>
          <a:noFill/>
          <a:ln/>
        </p:spPr>
        <p:txBody>
          <a:bodyPr wrap="square" lIns="0" tIns="0" rIns="0" bIns="0" rtlCol="0" anchor="t"/>
          <a:lstStyle/>
          <a:p>
            <a:pPr indent="0" marL="0">
              <a:buNone/>
            </a:pPr>
            <a:r>
              <a:rPr lang="en-US" sz="1600" b="1" dirty="0">
                <a:solidFill>
                  <a:schemeClr val="tx2"/>
                </a:solidFill>
              </a:rPr>
              <a:t>② workflow.py</a:t>
            </a:r>
            <a:endParaRPr lang="en-US" sz="1600" dirty="0"/>
          </a:p>
        </p:txBody>
      </p:sp>
      <p:sp>
        <p:nvSpPr>
          <p:cNvPr id="11" name="Text 9"/>
          <p:cNvSpPr txBox="1"/>
          <p:nvPr/>
        </p:nvSpPr>
        <p:spPr>
          <a:xfrm>
            <a:off x="3665144" y="2578608"/>
            <a:ext cx="1927784" cy="640080"/>
          </a:xfrm>
          <a:prstGeom prst="rect">
            <a:avLst/>
          </a:prstGeom>
          <a:noFill/>
          <a:ln/>
        </p:spPr>
        <p:txBody>
          <a:bodyPr wrap="square" lIns="0" tIns="0" rIns="0" bIns="0" rtlCol="0" anchor="t"/>
          <a:lstStyle/>
          <a:p>
            <a:pPr indent="0" marL="0">
              <a:buNone/>
            </a:pPr>
            <a:r>
              <a:rPr lang="en-US" sz="1300" dirty="0">
                <a:solidFill>
                  <a:schemeClr val="tx1"/>
                </a:solidFill>
              </a:rPr>
              <a:t>날짜를 검증하고 리듬 수치는 직접 계산</a:t>
            </a:r>
            <a:endParaRPr lang="en-US" sz="1300" dirty="0"/>
          </a:p>
        </p:txBody>
      </p:sp>
      <p:sp>
        <p:nvSpPr>
          <p:cNvPr id="12" name="Shape 10"/>
          <p:cNvSpPr/>
          <p:nvPr/>
        </p:nvSpPr>
        <p:spPr>
          <a:xfrm>
            <a:off x="5912968" y="2555748"/>
            <a:ext cx="365760" cy="237744"/>
          </a:xfrm>
          <a:prstGeom prst="rightArrow">
            <a:avLst/>
          </a:prstGeom>
          <a:solidFill>
            <a:schemeClr val="accent6"/>
          </a:solidFill>
          <a:ln w="12700">
            <a:solidFill>
              <a:schemeClr val="accent6"/>
            </a:solidFill>
            <a:prstDash val="solid"/>
          </a:ln>
        </p:spPr>
      </p:sp>
      <p:sp>
        <p:nvSpPr>
          <p:cNvPr id="13" name="Shape 11"/>
          <p:cNvSpPr/>
          <p:nvPr/>
        </p:nvSpPr>
        <p:spPr>
          <a:xfrm>
            <a:off x="6415888" y="2011680"/>
            <a:ext cx="2293544" cy="1325880"/>
          </a:xfrm>
          <a:prstGeom prst="roundRect">
            <a:avLst>
              <a:gd name="adj" fmla="val 6897"/>
            </a:avLst>
          </a:prstGeom>
          <a:solidFill>
            <a:schemeClr val="accent5"/>
          </a:solidFill>
          <a:ln w="19050">
            <a:solidFill>
              <a:schemeClr val="accent3"/>
            </a:solidFill>
            <a:prstDash val="solid"/>
          </a:ln>
        </p:spPr>
      </p:sp>
      <p:sp>
        <p:nvSpPr>
          <p:cNvPr id="14" name="Text 12"/>
          <p:cNvSpPr txBox="1"/>
          <p:nvPr/>
        </p:nvSpPr>
        <p:spPr>
          <a:xfrm>
            <a:off x="6598768" y="2176272"/>
            <a:ext cx="1927784" cy="365760"/>
          </a:xfrm>
          <a:prstGeom prst="rect">
            <a:avLst/>
          </a:prstGeom>
          <a:noFill/>
          <a:ln/>
        </p:spPr>
        <p:txBody>
          <a:bodyPr wrap="square" lIns="0" tIns="0" rIns="0" bIns="0" rtlCol="0" anchor="t"/>
          <a:lstStyle/>
          <a:p>
            <a:pPr indent="0" marL="0">
              <a:buNone/>
            </a:pPr>
            <a:r>
              <a:rPr lang="en-US" sz="1600" b="1" dirty="0">
                <a:solidFill>
                  <a:schemeClr val="tx2"/>
                </a:solidFill>
              </a:rPr>
              <a:t>③ 사내 LLM</a:t>
            </a:r>
            <a:endParaRPr lang="en-US" sz="1600" dirty="0"/>
          </a:p>
        </p:txBody>
      </p:sp>
      <p:sp>
        <p:nvSpPr>
          <p:cNvPr id="15" name="Text 13"/>
          <p:cNvSpPr txBox="1"/>
          <p:nvPr/>
        </p:nvSpPr>
        <p:spPr>
          <a:xfrm>
            <a:off x="6598768" y="2578608"/>
            <a:ext cx="1927784" cy="640080"/>
          </a:xfrm>
          <a:prstGeom prst="rect">
            <a:avLst/>
          </a:prstGeom>
          <a:noFill/>
          <a:ln/>
        </p:spPr>
        <p:txBody>
          <a:bodyPr wrap="square" lIns="0" tIns="0" rIns="0" bIns="0" rtlCol="0" anchor="t"/>
          <a:lstStyle/>
          <a:p>
            <a:pPr indent="0" marL="0">
              <a:buNone/>
            </a:pPr>
            <a:r>
              <a:rPr lang="en-US" sz="1300" dirty="0">
                <a:solidFill>
                  <a:schemeClr val="tx1"/>
                </a:solidFill>
              </a:rPr>
              <a:t>지시문 + 계산 결과를 받아 해설 작성</a:t>
            </a:r>
            <a:endParaRPr lang="en-US" sz="1300" dirty="0"/>
          </a:p>
        </p:txBody>
      </p:sp>
      <p:sp>
        <p:nvSpPr>
          <p:cNvPr id="16" name="Shape 14"/>
          <p:cNvSpPr/>
          <p:nvPr/>
        </p:nvSpPr>
        <p:spPr>
          <a:xfrm>
            <a:off x="8846591" y="2555748"/>
            <a:ext cx="365760" cy="237744"/>
          </a:xfrm>
          <a:prstGeom prst="rightArrow">
            <a:avLst/>
          </a:prstGeom>
          <a:solidFill>
            <a:schemeClr val="accent6"/>
          </a:solidFill>
          <a:ln w="12700">
            <a:solidFill>
              <a:schemeClr val="accent6"/>
            </a:solidFill>
            <a:prstDash val="solid"/>
          </a:ln>
        </p:spPr>
      </p:sp>
      <p:sp>
        <p:nvSpPr>
          <p:cNvPr id="17" name="Shape 15"/>
          <p:cNvSpPr/>
          <p:nvPr/>
        </p:nvSpPr>
        <p:spPr>
          <a:xfrm>
            <a:off x="9349511" y="2011680"/>
            <a:ext cx="2293544" cy="1325880"/>
          </a:xfrm>
          <a:prstGeom prst="roundRect">
            <a:avLst>
              <a:gd name="adj" fmla="val 6897"/>
            </a:avLst>
          </a:prstGeom>
          <a:solidFill>
            <a:srgbClr val="FDFCF9"/>
          </a:solidFill>
          <a:ln w="12700">
            <a:solidFill>
              <a:srgbClr val="DDD8CC"/>
            </a:solidFill>
            <a:prstDash val="solid"/>
          </a:ln>
        </p:spPr>
      </p:sp>
      <p:sp>
        <p:nvSpPr>
          <p:cNvPr id="18" name="Text 16"/>
          <p:cNvSpPr txBox="1"/>
          <p:nvPr/>
        </p:nvSpPr>
        <p:spPr>
          <a:xfrm>
            <a:off x="9532391" y="2176272"/>
            <a:ext cx="1927784" cy="365760"/>
          </a:xfrm>
          <a:prstGeom prst="rect">
            <a:avLst/>
          </a:prstGeom>
          <a:noFill/>
          <a:ln/>
        </p:spPr>
        <p:txBody>
          <a:bodyPr wrap="square" lIns="0" tIns="0" rIns="0" bIns="0" rtlCol="0" anchor="t"/>
          <a:lstStyle/>
          <a:p>
            <a:pPr indent="0" marL="0">
              <a:buNone/>
            </a:pPr>
            <a:r>
              <a:rPr lang="en-US" sz="1600" b="1" dirty="0">
                <a:solidFill>
                  <a:schemeClr val="tx2"/>
                </a:solidFill>
              </a:rPr>
              <a:t>④ 답변</a:t>
            </a:r>
            <a:endParaRPr lang="en-US" sz="1600" dirty="0"/>
          </a:p>
        </p:txBody>
      </p:sp>
      <p:sp>
        <p:nvSpPr>
          <p:cNvPr id="19" name="Text 17"/>
          <p:cNvSpPr txBox="1"/>
          <p:nvPr/>
        </p:nvSpPr>
        <p:spPr>
          <a:xfrm>
            <a:off x="9532391" y="2578608"/>
            <a:ext cx="1927784" cy="640080"/>
          </a:xfrm>
          <a:prstGeom prst="rect">
            <a:avLst/>
          </a:prstGeom>
          <a:noFill/>
          <a:ln/>
        </p:spPr>
        <p:txBody>
          <a:bodyPr wrap="square" lIns="0" tIns="0" rIns="0" bIns="0" rtlCol="0" anchor="t"/>
          <a:lstStyle/>
          <a:p>
            <a:pPr indent="0" marL="0">
              <a:buNone/>
            </a:pPr>
            <a:r>
              <a:rPr lang="en-US" sz="1300" dirty="0">
                <a:solidFill>
                  <a:schemeClr val="accent6"/>
                </a:solidFill>
              </a:rPr>
              <a:t>리듬 해설 · 궁합 · 운세 · 조언 · 운동</a:t>
            </a:r>
            <a:endParaRPr lang="en-US" sz="1300" dirty="0"/>
          </a:p>
        </p:txBody>
      </p:sp>
      <p:sp>
        <p:nvSpPr>
          <p:cNvPr id="20" name="Text 18"/>
          <p:cNvSpPr txBox="1"/>
          <p:nvPr/>
        </p:nvSpPr>
        <p:spPr>
          <a:xfrm>
            <a:off x="548640" y="3657600"/>
            <a:ext cx="11094415" cy="320040"/>
          </a:xfrm>
          <a:prstGeom prst="rect">
            <a:avLst/>
          </a:prstGeom>
          <a:noFill/>
          <a:ln/>
        </p:spPr>
        <p:txBody>
          <a:bodyPr wrap="square" lIns="0" tIns="0" rIns="0" bIns="0" rtlCol="0" anchor="t"/>
          <a:lstStyle/>
          <a:p>
            <a:pPr indent="0" marL="0">
              <a:buNone/>
            </a:pPr>
            <a:r>
              <a:rPr lang="en-US" sz="1600" b="1" dirty="0">
                <a:solidFill>
                  <a:schemeClr val="accent6"/>
                </a:solidFill>
              </a:rPr>
              <a:t>workflow.py 가 가져다 쓰는 것</a:t>
            </a:r>
            <a:endParaRPr lang="en-US" sz="1600" dirty="0"/>
          </a:p>
        </p:txBody>
      </p:sp>
      <p:sp>
        <p:nvSpPr>
          <p:cNvPr id="21" name="Shape 19"/>
          <p:cNvSpPr/>
          <p:nvPr/>
        </p:nvSpPr>
        <p:spPr>
          <a:xfrm>
            <a:off x="548640" y="4069080"/>
            <a:ext cx="3515258" cy="1097280"/>
          </a:xfrm>
          <a:prstGeom prst="roundRect">
            <a:avLst>
              <a:gd name="adj" fmla="val 8333"/>
            </a:avLst>
          </a:prstGeom>
          <a:solidFill>
            <a:srgbClr val="FDFCF9"/>
          </a:solidFill>
          <a:ln w="12700">
            <a:solidFill>
              <a:srgbClr val="DDD8CC"/>
            </a:solidFill>
            <a:prstDash val="solid"/>
          </a:ln>
        </p:spPr>
      </p:sp>
      <p:sp>
        <p:nvSpPr>
          <p:cNvPr id="22" name="Text 20"/>
          <p:cNvSpPr txBox="1"/>
          <p:nvPr/>
        </p:nvSpPr>
        <p:spPr>
          <a:xfrm>
            <a:off x="777240" y="4224528"/>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prompts.py</a:t>
            </a:r>
            <a:endParaRPr lang="en-US" sz="1600" dirty="0"/>
          </a:p>
        </p:txBody>
      </p:sp>
      <p:sp>
        <p:nvSpPr>
          <p:cNvPr id="23" name="Text 21"/>
          <p:cNvSpPr txBox="1"/>
          <p:nvPr/>
        </p:nvSpPr>
        <p:spPr>
          <a:xfrm>
            <a:off x="777240" y="4617720"/>
            <a:ext cx="3058058" cy="457200"/>
          </a:xfrm>
          <a:prstGeom prst="rect">
            <a:avLst/>
          </a:prstGeom>
          <a:noFill/>
          <a:ln/>
        </p:spPr>
        <p:txBody>
          <a:bodyPr wrap="square" lIns="0" tIns="0" rIns="0" bIns="0" rtlCol="0" anchor="t"/>
          <a:lstStyle/>
          <a:p>
            <a:pPr indent="0" marL="0">
              <a:buNone/>
            </a:pPr>
            <a:r>
              <a:rPr lang="en-US" sz="1300" dirty="0">
                <a:solidFill>
                  <a:schemeClr val="accent6"/>
                </a:solidFill>
              </a:rPr>
              <a:t>LLM 에게 줄 지시문 (LLM 노드마다 하나)</a:t>
            </a:r>
            <a:endParaRPr lang="en-US" sz="1300" dirty="0"/>
          </a:p>
        </p:txBody>
      </p:sp>
      <p:sp>
        <p:nvSpPr>
          <p:cNvPr id="24" name="Shape 22"/>
          <p:cNvSpPr/>
          <p:nvPr/>
        </p:nvSpPr>
        <p:spPr>
          <a:xfrm>
            <a:off x="4338218" y="4069080"/>
            <a:ext cx="3515258" cy="1097280"/>
          </a:xfrm>
          <a:prstGeom prst="roundRect">
            <a:avLst>
              <a:gd name="adj" fmla="val 8333"/>
            </a:avLst>
          </a:prstGeom>
          <a:solidFill>
            <a:srgbClr val="FDFCF9"/>
          </a:solidFill>
          <a:ln w="12700">
            <a:solidFill>
              <a:srgbClr val="DDD8CC"/>
            </a:solidFill>
            <a:prstDash val="solid"/>
          </a:ln>
        </p:spPr>
      </p:sp>
      <p:sp>
        <p:nvSpPr>
          <p:cNvPr id="25" name="Text 23"/>
          <p:cNvSpPr txBox="1"/>
          <p:nvPr/>
        </p:nvSpPr>
        <p:spPr>
          <a:xfrm>
            <a:off x="4566818" y="4224528"/>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app/ (공용)</a:t>
            </a:r>
            <a:endParaRPr lang="en-US" sz="1600" dirty="0"/>
          </a:p>
        </p:txBody>
      </p:sp>
      <p:sp>
        <p:nvSpPr>
          <p:cNvPr id="26" name="Text 24"/>
          <p:cNvSpPr txBox="1"/>
          <p:nvPr/>
        </p:nvSpPr>
        <p:spPr>
          <a:xfrm>
            <a:off x="4566818" y="4617720"/>
            <a:ext cx="3058058" cy="457200"/>
          </a:xfrm>
          <a:prstGeom prst="rect">
            <a:avLst/>
          </a:prstGeom>
          <a:noFill/>
          <a:ln/>
        </p:spPr>
        <p:txBody>
          <a:bodyPr wrap="square" lIns="0" tIns="0" rIns="0" bIns="0" rtlCol="0" anchor="t"/>
          <a:lstStyle/>
          <a:p>
            <a:pPr indent="0" marL="0">
              <a:buNone/>
            </a:pPr>
            <a:r>
              <a:rPr lang="en-US" sz="1300" dirty="0">
                <a:solidFill>
                  <a:schemeClr val="accent6"/>
                </a:solidFill>
              </a:rPr>
              <a:t>State 기본형과 사내 LLM 연결 함수 get_llm()</a:t>
            </a:r>
            <a:endParaRPr lang="en-US" sz="1300" dirty="0"/>
          </a:p>
        </p:txBody>
      </p:sp>
      <p:sp>
        <p:nvSpPr>
          <p:cNvPr id="27" name="Shape 25"/>
          <p:cNvSpPr/>
          <p:nvPr/>
        </p:nvSpPr>
        <p:spPr>
          <a:xfrm>
            <a:off x="8127797" y="4069080"/>
            <a:ext cx="3515258" cy="1097280"/>
          </a:xfrm>
          <a:prstGeom prst="roundRect">
            <a:avLst>
              <a:gd name="adj" fmla="val 8333"/>
            </a:avLst>
          </a:prstGeom>
          <a:solidFill>
            <a:srgbClr val="FDFCF9"/>
          </a:solidFill>
          <a:ln w="12700">
            <a:solidFill>
              <a:srgbClr val="DDD8CC"/>
            </a:solidFill>
            <a:prstDash val="solid"/>
          </a:ln>
        </p:spPr>
      </p:sp>
      <p:sp>
        <p:nvSpPr>
          <p:cNvPr id="28" name="Text 26"/>
          <p:cNvSpPr txBox="1"/>
          <p:nvPr/>
        </p:nvSpPr>
        <p:spPr>
          <a:xfrm>
            <a:off x="8356397" y="4224528"/>
            <a:ext cx="3058058" cy="365760"/>
          </a:xfrm>
          <a:prstGeom prst="rect">
            <a:avLst/>
          </a:prstGeom>
          <a:noFill/>
          <a:ln/>
        </p:spPr>
        <p:txBody>
          <a:bodyPr wrap="square" lIns="0" tIns="0" rIns="0" bIns="0" rtlCol="0" anchor="t"/>
          <a:lstStyle/>
          <a:p>
            <a:pPr indent="0" marL="0">
              <a:buNone/>
            </a:pPr>
            <a:r>
              <a:rPr lang="en-US" sz="1600" b="1" dirty="0">
                <a:solidFill>
                  <a:schemeClr val="accent1"/>
                </a:solidFill>
              </a:rPr>
              <a:t>math · datetime</a:t>
            </a:r>
            <a:endParaRPr lang="en-US" sz="1600" dirty="0"/>
          </a:p>
        </p:txBody>
      </p:sp>
      <p:sp>
        <p:nvSpPr>
          <p:cNvPr id="29" name="Text 27"/>
          <p:cNvSpPr txBox="1"/>
          <p:nvPr/>
        </p:nvSpPr>
        <p:spPr>
          <a:xfrm>
            <a:off x="8356397" y="4617720"/>
            <a:ext cx="3058058" cy="457200"/>
          </a:xfrm>
          <a:prstGeom prst="rect">
            <a:avLst/>
          </a:prstGeom>
          <a:noFill/>
          <a:ln/>
        </p:spPr>
        <p:txBody>
          <a:bodyPr wrap="square" lIns="0" tIns="0" rIns="0" bIns="0" rtlCol="0" anchor="t"/>
          <a:lstStyle/>
          <a:p>
            <a:pPr indent="0" marL="0">
              <a:buNone/>
            </a:pPr>
            <a:r>
              <a:rPr lang="en-US" sz="1300" dirty="0">
                <a:solidFill>
                  <a:schemeClr val="accent6"/>
                </a:solidFill>
              </a:rPr>
              <a:t>사인 곡선 계산과 날짜 계산 (파이썬 기본)</a:t>
            </a:r>
            <a:endParaRPr lang="en-US" sz="13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코드는 6개 구역으로 나뉩니다</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884548"/>
                <a:gridCol w="8209867"/>
              </a:tblGrid>
              <a:tr h="384048">
                <a:tc>
                  <a:txBody>
                    <a:bodyPr/>
                    <a:lstStyle/>
                    <a:p>
                      <a:pPr indent="0" marL="0">
                        <a:buNone/>
                      </a:pPr>
                      <a:r>
                        <a:rPr lang="en-US" sz="1400" b="1" dirty="0">
                          <a:solidFill>
                            <a:schemeClr val="bg2"/>
                          </a:solidFill>
                        </a:rPr>
                        <a:t>구역</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내용</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① 설정값 · State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TEAM_INFO, CYCLES(23·28·33일), TASK_NODES(기능 → 노드), BioState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② 바이오리듬 계산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날짜 검증, 리듬 수치·위험일, 7일 흐름, 궁합 점수, 별점 → build_report()</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r>
              <a:tr h="384048">
                <a:tc>
                  <a:txBody>
                    <a:bodyPr/>
                    <a:lstStyle/>
                    <a:p>
                      <a:pPr indent="0" marL="0">
                        <a:buNone/>
                      </a:pPr>
                      <a:r>
                        <a:rPr lang="en-US" sz="1400" dirty="0">
                          <a:solidFill>
                            <a:schemeClr val="tx1"/>
                          </a:solidFill>
                        </a:rPr>
                        <a:t>③ LLM 호출 도우미</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_ask(): LLM 한 번 호출 · _expert(): 해설 노드 5개 공통 호출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r>
              <a:tr h="384048">
                <a:tc>
                  <a:txBody>
                    <a:bodyPr/>
                    <a:lstStyle/>
                    <a:p>
                      <a:pPr indent="0" marL="0">
                        <a:buNone/>
                      </a:pPr>
                      <a:r>
                        <a:rPr lang="en-US" sz="1400" dirty="0">
                          <a:solidFill>
                            <a:schemeClr val="tx1"/>
                          </a:solidFill>
                        </a:rPr>
                        <a:t>④ 노드 9개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의도 분석, 되묻기, 이어지는 질문, 계산, 해설 5개 (다음 장)</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⑤ 그래프 조립</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build_graph(): 노드와 엣지 연결 (조건 분기 2곳)</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⑥ 터미널 실행</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python workflow.py "질문" 으로 화면 없이 바로 실행</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bl>
          </a:graphicData>
        </a:graphic>
      </p:graphicFrame>
      <p:sp>
        <p:nvSpPr>
          <p:cNvPr id="5" name="Text 2"/>
          <p:cNvSpPr txBox="1"/>
          <p:nvPr/>
        </p:nvSpPr>
        <p:spPr>
          <a:xfrm>
            <a:off x="548640" y="484632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파란 줄(②)은 정확히 계산하는 파이썬 코드, 주황 줄(③)은 LLM 에게 해석을 맡기는 통로입니다.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그래프 구조</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노드 9개, 갈림길은 두 곳</a:t>
            </a:r>
            <a:endParaRPr lang="en-US" sz="3000" dirty="0"/>
          </a:p>
        </p:txBody>
      </p:sp>
      <p:sp>
        <p:nvSpPr>
          <p:cNvPr id="4" name="Shape 2"/>
          <p:cNvSpPr/>
          <p:nvPr/>
        </p:nvSpPr>
        <p:spPr>
          <a:xfrm>
            <a:off x="812800" y="1879600"/>
            <a:ext cx="1828800" cy="310896"/>
          </a:xfrm>
          <a:prstGeom prst="roundRect">
            <a:avLst>
              <a:gd name="adj" fmla="val 50000"/>
            </a:avLst>
          </a:prstGeom>
          <a:solidFill>
            <a:schemeClr val="accent4"/>
          </a:solidFill>
          <a:ln w="19050">
            <a:solidFill>
              <a:schemeClr val="accent2"/>
            </a:solidFill>
            <a:prstDash val="solid"/>
          </a:ln>
        </p:spPr>
      </p:sp>
      <p:sp>
        <p:nvSpPr>
          <p:cNvPr id="5" name="Text 3"/>
          <p:cNvSpPr txBox="1"/>
          <p:nvPr/>
        </p:nvSpPr>
        <p:spPr>
          <a:xfrm>
            <a:off x="812800" y="1879600"/>
            <a:ext cx="1828800" cy="310896"/>
          </a:xfrm>
          <a:prstGeom prst="rect">
            <a:avLst/>
          </a:prstGeom>
          <a:noFill/>
          <a:ln/>
        </p:spPr>
        <p:txBody>
          <a:bodyPr wrap="square" lIns="0" tIns="0" rIns="0" bIns="0" rtlCol="0" anchor="ctr"/>
          <a:lstStyle/>
          <a:p>
            <a:pPr algn="ctr" indent="0" marL="0">
              <a:buNone/>
            </a:pPr>
            <a:r>
              <a:rPr lang="en-US" sz="1200" dirty="0">
                <a:solidFill>
                  <a:schemeClr val="tx1"/>
                </a:solidFill>
              </a:rPr>
              <a:t>파이썬 (LLM 없음)</a:t>
            </a:r>
            <a:endParaRPr lang="en-US" sz="1200" dirty="0"/>
          </a:p>
        </p:txBody>
      </p:sp>
      <p:sp>
        <p:nvSpPr>
          <p:cNvPr id="6" name="Shape 4"/>
          <p:cNvSpPr/>
          <p:nvPr/>
        </p:nvSpPr>
        <p:spPr>
          <a:xfrm>
            <a:off x="812800" y="2263648"/>
            <a:ext cx="1828800" cy="310896"/>
          </a:xfrm>
          <a:prstGeom prst="roundRect">
            <a:avLst>
              <a:gd name="adj" fmla="val 50000"/>
            </a:avLst>
          </a:prstGeom>
          <a:solidFill>
            <a:schemeClr val="accent5"/>
          </a:solidFill>
          <a:ln w="19050">
            <a:solidFill>
              <a:schemeClr val="accent3"/>
            </a:solidFill>
            <a:prstDash val="solid"/>
          </a:ln>
        </p:spPr>
      </p:sp>
      <p:sp>
        <p:nvSpPr>
          <p:cNvPr id="7" name="Text 5"/>
          <p:cNvSpPr txBox="1"/>
          <p:nvPr/>
        </p:nvSpPr>
        <p:spPr>
          <a:xfrm>
            <a:off x="812800" y="2263648"/>
            <a:ext cx="1828800" cy="310896"/>
          </a:xfrm>
          <a:prstGeom prst="rect">
            <a:avLst/>
          </a:prstGeom>
          <a:noFill/>
          <a:ln/>
        </p:spPr>
        <p:txBody>
          <a:bodyPr wrap="square" lIns="0" tIns="0" rIns="0" bIns="0" rtlCol="0" anchor="ctr"/>
          <a:lstStyle/>
          <a:p>
            <a:pPr algn="ctr" indent="0" marL="0">
              <a:buNone/>
            </a:pPr>
            <a:r>
              <a:rPr lang="en-US" sz="1200" dirty="0">
                <a:solidFill>
                  <a:schemeClr val="tx1"/>
                </a:solidFill>
              </a:rPr>
              <a:t>LLM 호출</a:t>
            </a:r>
            <a:endParaRPr lang="en-US" sz="1200" dirty="0"/>
          </a:p>
        </p:txBody>
      </p:sp>
      <p:sp>
        <p:nvSpPr>
          <p:cNvPr id="8" name="Text 6"/>
          <p:cNvSpPr txBox="1"/>
          <p:nvPr/>
        </p:nvSpPr>
        <p:spPr>
          <a:xfrm>
            <a:off x="812800" y="3619500"/>
            <a:ext cx="2286000" cy="731520"/>
          </a:xfrm>
          <a:prstGeom prst="rect">
            <a:avLst/>
          </a:prstGeom>
          <a:noFill/>
          <a:ln/>
        </p:spPr>
        <p:txBody>
          <a:bodyPr wrap="square" lIns="0" tIns="0" rIns="0" bIns="0" rtlCol="0" anchor="t"/>
          <a:lstStyle/>
          <a:p>
            <a:pPr indent="0" marL="0">
              <a:buNone/>
            </a:pPr>
            <a:r>
              <a:rPr lang="en-US" sz="1200" dirty="0">
                <a:solidFill>
                  <a:schemeClr val="accent6"/>
                </a:solidFill>
              </a:rPr>
              <a:t>갈림길 ① route_after_intent(): 이어지는 질문인지, 생년월일이 있는지 확인</a:t>
            </a:r>
            <a:endParaRPr lang="en-US" sz="1200" dirty="0"/>
          </a:p>
        </p:txBody>
      </p:sp>
      <p:sp>
        <p:nvSpPr>
          <p:cNvPr id="9" name="Text 7"/>
          <p:cNvSpPr txBox="1"/>
          <p:nvPr/>
        </p:nvSpPr>
        <p:spPr>
          <a:xfrm>
            <a:off x="8826500" y="3517900"/>
            <a:ext cx="2552700" cy="731520"/>
          </a:xfrm>
          <a:prstGeom prst="rect">
            <a:avLst/>
          </a:prstGeom>
          <a:noFill/>
          <a:ln/>
        </p:spPr>
        <p:txBody>
          <a:bodyPr wrap="square" lIns="0" tIns="0" rIns="0" bIns="0" rtlCol="0" anchor="t"/>
          <a:lstStyle/>
          <a:p>
            <a:pPr indent="0" marL="0">
              <a:buNone/>
            </a:pPr>
            <a:r>
              <a:rPr lang="en-US" sz="1200" dirty="0">
                <a:solidFill>
                  <a:schemeClr val="accent6"/>
                </a:solidFill>
              </a:rPr>
              <a:t>갈림길 ② route_after_calc(): task 값으로 다섯 중 하나를 고름</a:t>
            </a:r>
            <a:endParaRPr lang="en-US" sz="1200" dirty="0"/>
          </a:p>
        </p:txBody>
      </p:sp>
      <p:sp>
        <p:nvSpPr>
          <p:cNvPr id="10" name="Shape 8"/>
          <p:cNvSpPr/>
          <p:nvPr/>
        </p:nvSpPr>
        <p:spPr>
          <a:xfrm>
            <a:off x="2717800" y="3092450"/>
            <a:ext cx="355600" cy="0"/>
          </a:xfrm>
          <a:prstGeom prst="line">
            <a:avLst/>
          </a:prstGeom>
          <a:noFill/>
          <a:ln w="25400">
            <a:solidFill>
              <a:schemeClr val="accent6"/>
            </a:solidFill>
            <a:prstDash val="solid"/>
          </a:ln>
        </p:spPr>
      </p:sp>
      <p:sp>
        <p:nvSpPr>
          <p:cNvPr id="11" name="Shape 9"/>
          <p:cNvSpPr/>
          <p:nvPr/>
        </p:nvSpPr>
        <p:spPr>
          <a:xfrm>
            <a:off x="3073400" y="2381250"/>
            <a:ext cx="0" cy="711200"/>
          </a:xfrm>
          <a:prstGeom prst="line">
            <a:avLst/>
          </a:prstGeom>
          <a:noFill/>
          <a:ln w="25400">
            <a:solidFill>
              <a:schemeClr val="accent6"/>
            </a:solidFill>
            <a:prstDash val="solid"/>
          </a:ln>
        </p:spPr>
      </p:sp>
      <p:sp>
        <p:nvSpPr>
          <p:cNvPr id="12" name="Shape 10"/>
          <p:cNvSpPr/>
          <p:nvPr/>
        </p:nvSpPr>
        <p:spPr>
          <a:xfrm>
            <a:off x="3073400" y="2381250"/>
            <a:ext cx="355600" cy="0"/>
          </a:xfrm>
          <a:prstGeom prst="line">
            <a:avLst/>
          </a:prstGeom>
          <a:noFill/>
          <a:ln w="25400">
            <a:solidFill>
              <a:schemeClr val="accent6"/>
            </a:solidFill>
            <a:prstDash val="solid"/>
            <a:tailEnd type="triangle"/>
          </a:ln>
        </p:spPr>
      </p:sp>
      <p:sp>
        <p:nvSpPr>
          <p:cNvPr id="13" name="Shape 11"/>
          <p:cNvSpPr/>
          <p:nvPr/>
        </p:nvSpPr>
        <p:spPr>
          <a:xfrm>
            <a:off x="2717800" y="3092450"/>
            <a:ext cx="711200" cy="0"/>
          </a:xfrm>
          <a:prstGeom prst="line">
            <a:avLst/>
          </a:prstGeom>
          <a:noFill/>
          <a:ln w="25400">
            <a:solidFill>
              <a:schemeClr val="accent6"/>
            </a:solidFill>
            <a:prstDash val="solid"/>
            <a:tailEnd type="triangle"/>
          </a:ln>
        </p:spPr>
      </p:sp>
      <p:sp>
        <p:nvSpPr>
          <p:cNvPr id="14" name="Shape 12"/>
          <p:cNvSpPr/>
          <p:nvPr/>
        </p:nvSpPr>
        <p:spPr>
          <a:xfrm>
            <a:off x="2717800" y="3092450"/>
            <a:ext cx="355600" cy="0"/>
          </a:xfrm>
          <a:prstGeom prst="line">
            <a:avLst/>
          </a:prstGeom>
          <a:noFill/>
          <a:ln w="25400">
            <a:solidFill>
              <a:schemeClr val="accent6"/>
            </a:solidFill>
            <a:prstDash val="solid"/>
          </a:ln>
        </p:spPr>
      </p:sp>
      <p:sp>
        <p:nvSpPr>
          <p:cNvPr id="15" name="Shape 13"/>
          <p:cNvSpPr/>
          <p:nvPr/>
        </p:nvSpPr>
        <p:spPr>
          <a:xfrm>
            <a:off x="3073400" y="3092450"/>
            <a:ext cx="0" cy="711200"/>
          </a:xfrm>
          <a:prstGeom prst="line">
            <a:avLst/>
          </a:prstGeom>
          <a:noFill/>
          <a:ln w="25400">
            <a:solidFill>
              <a:schemeClr val="accent6"/>
            </a:solidFill>
            <a:prstDash val="solid"/>
          </a:ln>
        </p:spPr>
      </p:sp>
      <p:sp>
        <p:nvSpPr>
          <p:cNvPr id="16" name="Shape 14"/>
          <p:cNvSpPr/>
          <p:nvPr/>
        </p:nvSpPr>
        <p:spPr>
          <a:xfrm>
            <a:off x="3073400" y="3803650"/>
            <a:ext cx="355600" cy="0"/>
          </a:xfrm>
          <a:prstGeom prst="line">
            <a:avLst/>
          </a:prstGeom>
          <a:noFill/>
          <a:ln w="25400">
            <a:solidFill>
              <a:schemeClr val="accent6"/>
            </a:solidFill>
            <a:prstDash val="solid"/>
            <a:tailEnd type="triangle"/>
          </a:ln>
        </p:spPr>
      </p:sp>
      <p:sp>
        <p:nvSpPr>
          <p:cNvPr id="17" name="Shape 15"/>
          <p:cNvSpPr/>
          <p:nvPr/>
        </p:nvSpPr>
        <p:spPr>
          <a:xfrm>
            <a:off x="5461000" y="3803650"/>
            <a:ext cx="444500" cy="0"/>
          </a:xfrm>
          <a:prstGeom prst="line">
            <a:avLst/>
          </a:prstGeom>
          <a:noFill/>
          <a:ln w="25400">
            <a:solidFill>
              <a:schemeClr val="accent6"/>
            </a:solidFill>
            <a:prstDash val="solid"/>
          </a:ln>
        </p:spPr>
      </p:sp>
      <p:sp>
        <p:nvSpPr>
          <p:cNvPr id="18" name="Shape 16"/>
          <p:cNvSpPr/>
          <p:nvPr/>
        </p:nvSpPr>
        <p:spPr>
          <a:xfrm>
            <a:off x="5905500" y="2381250"/>
            <a:ext cx="0" cy="1422400"/>
          </a:xfrm>
          <a:prstGeom prst="line">
            <a:avLst/>
          </a:prstGeom>
          <a:noFill/>
          <a:ln w="25400">
            <a:solidFill>
              <a:schemeClr val="accent6"/>
            </a:solidFill>
            <a:prstDash val="solid"/>
          </a:ln>
        </p:spPr>
      </p:sp>
      <p:sp>
        <p:nvSpPr>
          <p:cNvPr id="19" name="Shape 17"/>
          <p:cNvSpPr/>
          <p:nvPr/>
        </p:nvSpPr>
        <p:spPr>
          <a:xfrm>
            <a:off x="5905500" y="2381250"/>
            <a:ext cx="444500" cy="0"/>
          </a:xfrm>
          <a:prstGeom prst="line">
            <a:avLst/>
          </a:prstGeom>
          <a:noFill/>
          <a:ln w="25400">
            <a:solidFill>
              <a:schemeClr val="accent6"/>
            </a:solidFill>
            <a:prstDash val="solid"/>
            <a:tailEnd type="triangle"/>
          </a:ln>
        </p:spPr>
      </p:sp>
      <p:sp>
        <p:nvSpPr>
          <p:cNvPr id="20" name="Shape 18"/>
          <p:cNvSpPr/>
          <p:nvPr/>
        </p:nvSpPr>
        <p:spPr>
          <a:xfrm>
            <a:off x="5461000" y="3803650"/>
            <a:ext cx="444500" cy="0"/>
          </a:xfrm>
          <a:prstGeom prst="line">
            <a:avLst/>
          </a:prstGeom>
          <a:noFill/>
          <a:ln w="25400">
            <a:solidFill>
              <a:schemeClr val="accent6"/>
            </a:solidFill>
            <a:prstDash val="solid"/>
          </a:ln>
        </p:spPr>
      </p:sp>
      <p:sp>
        <p:nvSpPr>
          <p:cNvPr id="21" name="Shape 19"/>
          <p:cNvSpPr/>
          <p:nvPr/>
        </p:nvSpPr>
        <p:spPr>
          <a:xfrm>
            <a:off x="5905500" y="3092450"/>
            <a:ext cx="0" cy="711200"/>
          </a:xfrm>
          <a:prstGeom prst="line">
            <a:avLst/>
          </a:prstGeom>
          <a:noFill/>
          <a:ln w="25400">
            <a:solidFill>
              <a:schemeClr val="accent6"/>
            </a:solidFill>
            <a:prstDash val="solid"/>
          </a:ln>
        </p:spPr>
      </p:sp>
      <p:sp>
        <p:nvSpPr>
          <p:cNvPr id="22" name="Shape 20"/>
          <p:cNvSpPr/>
          <p:nvPr/>
        </p:nvSpPr>
        <p:spPr>
          <a:xfrm>
            <a:off x="5905500" y="3092450"/>
            <a:ext cx="444500" cy="0"/>
          </a:xfrm>
          <a:prstGeom prst="line">
            <a:avLst/>
          </a:prstGeom>
          <a:noFill/>
          <a:ln w="25400">
            <a:solidFill>
              <a:schemeClr val="accent6"/>
            </a:solidFill>
            <a:prstDash val="solid"/>
            <a:tailEnd type="triangle"/>
          </a:ln>
        </p:spPr>
      </p:sp>
      <p:sp>
        <p:nvSpPr>
          <p:cNvPr id="23" name="Shape 21"/>
          <p:cNvSpPr/>
          <p:nvPr/>
        </p:nvSpPr>
        <p:spPr>
          <a:xfrm>
            <a:off x="5461000" y="3803650"/>
            <a:ext cx="889000" cy="0"/>
          </a:xfrm>
          <a:prstGeom prst="line">
            <a:avLst/>
          </a:prstGeom>
          <a:noFill/>
          <a:ln w="25400">
            <a:solidFill>
              <a:schemeClr val="accent6"/>
            </a:solidFill>
            <a:prstDash val="solid"/>
            <a:tailEnd type="triangle"/>
          </a:ln>
        </p:spPr>
      </p:sp>
      <p:sp>
        <p:nvSpPr>
          <p:cNvPr id="24" name="Shape 22"/>
          <p:cNvSpPr/>
          <p:nvPr/>
        </p:nvSpPr>
        <p:spPr>
          <a:xfrm>
            <a:off x="5461000" y="3803650"/>
            <a:ext cx="444500" cy="0"/>
          </a:xfrm>
          <a:prstGeom prst="line">
            <a:avLst/>
          </a:prstGeom>
          <a:noFill/>
          <a:ln w="25400">
            <a:solidFill>
              <a:schemeClr val="accent6"/>
            </a:solidFill>
            <a:prstDash val="solid"/>
          </a:ln>
        </p:spPr>
      </p:sp>
      <p:sp>
        <p:nvSpPr>
          <p:cNvPr id="25" name="Shape 23"/>
          <p:cNvSpPr/>
          <p:nvPr/>
        </p:nvSpPr>
        <p:spPr>
          <a:xfrm>
            <a:off x="5905500" y="3803650"/>
            <a:ext cx="0" cy="711200"/>
          </a:xfrm>
          <a:prstGeom prst="line">
            <a:avLst/>
          </a:prstGeom>
          <a:noFill/>
          <a:ln w="25400">
            <a:solidFill>
              <a:schemeClr val="accent6"/>
            </a:solidFill>
            <a:prstDash val="solid"/>
          </a:ln>
        </p:spPr>
      </p:sp>
      <p:sp>
        <p:nvSpPr>
          <p:cNvPr id="26" name="Shape 24"/>
          <p:cNvSpPr/>
          <p:nvPr/>
        </p:nvSpPr>
        <p:spPr>
          <a:xfrm>
            <a:off x="5905500" y="4514850"/>
            <a:ext cx="444500" cy="0"/>
          </a:xfrm>
          <a:prstGeom prst="line">
            <a:avLst/>
          </a:prstGeom>
          <a:noFill/>
          <a:ln w="25400">
            <a:solidFill>
              <a:schemeClr val="accent6"/>
            </a:solidFill>
            <a:prstDash val="solid"/>
            <a:tailEnd type="triangle"/>
          </a:ln>
        </p:spPr>
      </p:sp>
      <p:sp>
        <p:nvSpPr>
          <p:cNvPr id="27" name="Shape 25"/>
          <p:cNvSpPr/>
          <p:nvPr/>
        </p:nvSpPr>
        <p:spPr>
          <a:xfrm>
            <a:off x="5461000" y="3803650"/>
            <a:ext cx="444500" cy="0"/>
          </a:xfrm>
          <a:prstGeom prst="line">
            <a:avLst/>
          </a:prstGeom>
          <a:noFill/>
          <a:ln w="25400">
            <a:solidFill>
              <a:schemeClr val="accent6"/>
            </a:solidFill>
            <a:prstDash val="solid"/>
          </a:ln>
        </p:spPr>
      </p:sp>
      <p:sp>
        <p:nvSpPr>
          <p:cNvPr id="28" name="Shape 26"/>
          <p:cNvSpPr/>
          <p:nvPr/>
        </p:nvSpPr>
        <p:spPr>
          <a:xfrm>
            <a:off x="5905500" y="3803650"/>
            <a:ext cx="0" cy="1422400"/>
          </a:xfrm>
          <a:prstGeom prst="line">
            <a:avLst/>
          </a:prstGeom>
          <a:noFill/>
          <a:ln w="25400">
            <a:solidFill>
              <a:schemeClr val="accent6"/>
            </a:solidFill>
            <a:prstDash val="solid"/>
          </a:ln>
        </p:spPr>
      </p:sp>
      <p:sp>
        <p:nvSpPr>
          <p:cNvPr id="29" name="Shape 27"/>
          <p:cNvSpPr/>
          <p:nvPr/>
        </p:nvSpPr>
        <p:spPr>
          <a:xfrm>
            <a:off x="5905500" y="5226050"/>
            <a:ext cx="444500" cy="0"/>
          </a:xfrm>
          <a:prstGeom prst="line">
            <a:avLst/>
          </a:prstGeom>
          <a:noFill/>
          <a:ln w="25400">
            <a:solidFill>
              <a:schemeClr val="accent6"/>
            </a:solidFill>
            <a:prstDash val="solid"/>
            <a:tailEnd type="triangle"/>
          </a:ln>
        </p:spPr>
      </p:sp>
      <p:sp>
        <p:nvSpPr>
          <p:cNvPr id="30" name="Shape 28"/>
          <p:cNvSpPr/>
          <p:nvPr/>
        </p:nvSpPr>
        <p:spPr>
          <a:xfrm>
            <a:off x="812800" y="2806700"/>
            <a:ext cx="1905000" cy="571500"/>
          </a:xfrm>
          <a:prstGeom prst="roundRect">
            <a:avLst>
              <a:gd name="adj" fmla="val 12800"/>
            </a:avLst>
          </a:prstGeom>
          <a:solidFill>
            <a:schemeClr val="accent5"/>
          </a:solidFill>
          <a:ln w="19050">
            <a:solidFill>
              <a:schemeClr val="accent3"/>
            </a:solidFill>
            <a:prstDash val="solid"/>
          </a:ln>
        </p:spPr>
      </p:sp>
      <p:sp>
        <p:nvSpPr>
          <p:cNvPr id="31" name="Text 29"/>
          <p:cNvSpPr txBox="1"/>
          <p:nvPr/>
        </p:nvSpPr>
        <p:spPr>
          <a:xfrm>
            <a:off x="949960" y="2806700"/>
            <a:ext cx="16306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analyze_intent</a:t>
            </a:r>
            <a:endParaRPr lang="en-US" sz="1400" dirty="0"/>
          </a:p>
          <a:p>
            <a:pPr indent="0" marL="0">
              <a:buNone/>
            </a:pPr>
            <a:r>
              <a:rPr lang="en-US" sz="1200" dirty="0">
                <a:solidFill>
                  <a:schemeClr val="accent6"/>
                </a:solidFill>
              </a:rPr>
              <a:t>요청 분석</a:t>
            </a:r>
            <a:endParaRPr lang="en-US" sz="1400" dirty="0"/>
          </a:p>
        </p:txBody>
      </p:sp>
      <p:sp>
        <p:nvSpPr>
          <p:cNvPr id="32" name="Shape 30"/>
          <p:cNvSpPr/>
          <p:nvPr/>
        </p:nvSpPr>
        <p:spPr>
          <a:xfrm>
            <a:off x="3429000" y="2095500"/>
            <a:ext cx="2032000" cy="571500"/>
          </a:xfrm>
          <a:prstGeom prst="roundRect">
            <a:avLst>
              <a:gd name="adj" fmla="val 12800"/>
            </a:avLst>
          </a:prstGeom>
          <a:solidFill>
            <a:schemeClr val="accent5"/>
          </a:solidFill>
          <a:ln w="19050">
            <a:solidFill>
              <a:schemeClr val="accent3"/>
            </a:solidFill>
            <a:prstDash val="solid"/>
          </a:ln>
        </p:spPr>
      </p:sp>
      <p:sp>
        <p:nvSpPr>
          <p:cNvPr id="33" name="Text 31"/>
          <p:cNvSpPr txBox="1"/>
          <p:nvPr/>
        </p:nvSpPr>
        <p:spPr>
          <a:xfrm>
            <a:off x="3566160" y="2095500"/>
            <a:ext cx="17576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answer_follow_up</a:t>
            </a:r>
            <a:endParaRPr lang="en-US" sz="1400" dirty="0"/>
          </a:p>
          <a:p>
            <a:pPr indent="0" marL="0">
              <a:buNone/>
            </a:pPr>
            <a:r>
              <a:rPr lang="en-US" sz="1200" dirty="0">
                <a:solidFill>
                  <a:schemeClr val="accent6"/>
                </a:solidFill>
              </a:rPr>
              <a:t>이어지는 질문</a:t>
            </a:r>
            <a:endParaRPr lang="en-US" sz="1400" dirty="0"/>
          </a:p>
        </p:txBody>
      </p:sp>
      <p:sp>
        <p:nvSpPr>
          <p:cNvPr id="34" name="Shape 32"/>
          <p:cNvSpPr/>
          <p:nvPr/>
        </p:nvSpPr>
        <p:spPr>
          <a:xfrm>
            <a:off x="3429000" y="2806700"/>
            <a:ext cx="2032000" cy="571500"/>
          </a:xfrm>
          <a:prstGeom prst="roundRect">
            <a:avLst>
              <a:gd name="adj" fmla="val 12800"/>
            </a:avLst>
          </a:prstGeom>
          <a:solidFill>
            <a:schemeClr val="accent5"/>
          </a:solidFill>
          <a:ln w="19050">
            <a:solidFill>
              <a:schemeClr val="accent3"/>
            </a:solidFill>
            <a:prstDash val="solid"/>
          </a:ln>
        </p:spPr>
      </p:sp>
      <p:sp>
        <p:nvSpPr>
          <p:cNvPr id="35" name="Text 33"/>
          <p:cNvSpPr txBox="1"/>
          <p:nvPr/>
        </p:nvSpPr>
        <p:spPr>
          <a:xfrm>
            <a:off x="3566160" y="2806700"/>
            <a:ext cx="17576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ask_clarify</a:t>
            </a:r>
            <a:endParaRPr lang="en-US" sz="1400" dirty="0"/>
          </a:p>
          <a:p>
            <a:pPr indent="0" marL="0">
              <a:buNone/>
            </a:pPr>
            <a:r>
              <a:rPr lang="en-US" sz="1200" dirty="0">
                <a:solidFill>
                  <a:schemeClr val="accent6"/>
                </a:solidFill>
              </a:rPr>
              <a:t>생년월일 되묻기</a:t>
            </a:r>
            <a:endParaRPr lang="en-US" sz="1400" dirty="0"/>
          </a:p>
        </p:txBody>
      </p:sp>
      <p:sp>
        <p:nvSpPr>
          <p:cNvPr id="36" name="Shape 34"/>
          <p:cNvSpPr/>
          <p:nvPr/>
        </p:nvSpPr>
        <p:spPr>
          <a:xfrm>
            <a:off x="3429000" y="3517900"/>
            <a:ext cx="2032000" cy="571500"/>
          </a:xfrm>
          <a:prstGeom prst="roundRect">
            <a:avLst>
              <a:gd name="adj" fmla="val 12800"/>
            </a:avLst>
          </a:prstGeom>
          <a:solidFill>
            <a:schemeClr val="accent4"/>
          </a:solidFill>
          <a:ln w="19050">
            <a:solidFill>
              <a:schemeClr val="accent2"/>
            </a:solidFill>
            <a:prstDash val="solid"/>
          </a:ln>
        </p:spPr>
      </p:sp>
      <p:sp>
        <p:nvSpPr>
          <p:cNvPr id="37" name="Text 35"/>
          <p:cNvSpPr txBox="1"/>
          <p:nvPr/>
        </p:nvSpPr>
        <p:spPr>
          <a:xfrm>
            <a:off x="3566160" y="3517900"/>
            <a:ext cx="17576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calc_biorhythm</a:t>
            </a:r>
            <a:endParaRPr lang="en-US" sz="1400" dirty="0"/>
          </a:p>
          <a:p>
            <a:pPr indent="0" marL="0">
              <a:buNone/>
            </a:pPr>
            <a:r>
              <a:rPr lang="en-US" sz="1200" dirty="0">
                <a:solidFill>
                  <a:schemeClr val="accent6"/>
                </a:solidFill>
              </a:rPr>
              <a:t>리듬 계산</a:t>
            </a:r>
            <a:endParaRPr lang="en-US" sz="1400" dirty="0"/>
          </a:p>
        </p:txBody>
      </p:sp>
      <p:sp>
        <p:nvSpPr>
          <p:cNvPr id="38" name="Shape 36"/>
          <p:cNvSpPr/>
          <p:nvPr/>
        </p:nvSpPr>
        <p:spPr>
          <a:xfrm>
            <a:off x="6350000" y="2095500"/>
            <a:ext cx="2095500" cy="571500"/>
          </a:xfrm>
          <a:prstGeom prst="roundRect">
            <a:avLst>
              <a:gd name="adj" fmla="val 12800"/>
            </a:avLst>
          </a:prstGeom>
          <a:solidFill>
            <a:schemeClr val="accent5"/>
          </a:solidFill>
          <a:ln w="19050">
            <a:solidFill>
              <a:schemeClr val="accent3"/>
            </a:solidFill>
            <a:prstDash val="solid"/>
          </a:ln>
        </p:spPr>
      </p:sp>
      <p:sp>
        <p:nvSpPr>
          <p:cNvPr id="39" name="Text 37"/>
          <p:cNvSpPr txBox="1"/>
          <p:nvPr/>
        </p:nvSpPr>
        <p:spPr>
          <a:xfrm>
            <a:off x="6487160" y="2095500"/>
            <a:ext cx="18211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explain_biorhythm</a:t>
            </a:r>
            <a:endParaRPr lang="en-US" sz="1400" dirty="0"/>
          </a:p>
          <a:p>
            <a:pPr indent="0" marL="0">
              <a:buNone/>
            </a:pPr>
            <a:r>
              <a:rPr lang="en-US" sz="1200" dirty="0">
                <a:solidFill>
                  <a:schemeClr val="accent6"/>
                </a:solidFill>
              </a:rPr>
              <a:t>리듬 해설</a:t>
            </a:r>
            <a:endParaRPr lang="en-US" sz="1400" dirty="0"/>
          </a:p>
        </p:txBody>
      </p:sp>
      <p:sp>
        <p:nvSpPr>
          <p:cNvPr id="40" name="Shape 38"/>
          <p:cNvSpPr/>
          <p:nvPr/>
        </p:nvSpPr>
        <p:spPr>
          <a:xfrm>
            <a:off x="6350000" y="2806700"/>
            <a:ext cx="2095500" cy="571500"/>
          </a:xfrm>
          <a:prstGeom prst="roundRect">
            <a:avLst>
              <a:gd name="adj" fmla="val 12800"/>
            </a:avLst>
          </a:prstGeom>
          <a:solidFill>
            <a:schemeClr val="accent5"/>
          </a:solidFill>
          <a:ln w="19050">
            <a:solidFill>
              <a:schemeClr val="accent3"/>
            </a:solidFill>
            <a:prstDash val="solid"/>
          </a:ln>
        </p:spPr>
      </p:sp>
      <p:sp>
        <p:nvSpPr>
          <p:cNvPr id="41" name="Text 39"/>
          <p:cNvSpPr txBox="1"/>
          <p:nvPr/>
        </p:nvSpPr>
        <p:spPr>
          <a:xfrm>
            <a:off x="6487160" y="2806700"/>
            <a:ext cx="18211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compatibility</a:t>
            </a:r>
            <a:endParaRPr lang="en-US" sz="1400" dirty="0"/>
          </a:p>
          <a:p>
            <a:pPr indent="0" marL="0">
              <a:buNone/>
            </a:pPr>
            <a:r>
              <a:rPr lang="en-US" sz="1200" dirty="0">
                <a:solidFill>
                  <a:schemeClr val="accent6"/>
                </a:solidFill>
              </a:rPr>
              <a:t>궁합</a:t>
            </a:r>
            <a:endParaRPr lang="en-US" sz="1400" dirty="0"/>
          </a:p>
        </p:txBody>
      </p:sp>
      <p:sp>
        <p:nvSpPr>
          <p:cNvPr id="42" name="Shape 40"/>
          <p:cNvSpPr/>
          <p:nvPr/>
        </p:nvSpPr>
        <p:spPr>
          <a:xfrm>
            <a:off x="6350000" y="3517900"/>
            <a:ext cx="2095500" cy="571500"/>
          </a:xfrm>
          <a:prstGeom prst="roundRect">
            <a:avLst>
              <a:gd name="adj" fmla="val 12800"/>
            </a:avLst>
          </a:prstGeom>
          <a:solidFill>
            <a:schemeClr val="accent5"/>
          </a:solidFill>
          <a:ln w="19050">
            <a:solidFill>
              <a:schemeClr val="accent3"/>
            </a:solidFill>
            <a:prstDash val="solid"/>
          </a:ln>
        </p:spPr>
      </p:sp>
      <p:sp>
        <p:nvSpPr>
          <p:cNvPr id="43" name="Text 41"/>
          <p:cNvSpPr txBox="1"/>
          <p:nvPr/>
        </p:nvSpPr>
        <p:spPr>
          <a:xfrm>
            <a:off x="6487160" y="3517900"/>
            <a:ext cx="18211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fortune</a:t>
            </a:r>
            <a:endParaRPr lang="en-US" sz="1400" dirty="0"/>
          </a:p>
          <a:p>
            <a:pPr indent="0" marL="0">
              <a:buNone/>
            </a:pPr>
            <a:r>
              <a:rPr lang="en-US" sz="1200" dirty="0">
                <a:solidFill>
                  <a:schemeClr val="accent6"/>
                </a:solidFill>
              </a:rPr>
              <a:t>오늘의 운세</a:t>
            </a:r>
            <a:endParaRPr lang="en-US" sz="1400" dirty="0"/>
          </a:p>
        </p:txBody>
      </p:sp>
      <p:sp>
        <p:nvSpPr>
          <p:cNvPr id="44" name="Shape 42"/>
          <p:cNvSpPr/>
          <p:nvPr/>
        </p:nvSpPr>
        <p:spPr>
          <a:xfrm>
            <a:off x="6350000" y="4229100"/>
            <a:ext cx="2095500" cy="571500"/>
          </a:xfrm>
          <a:prstGeom prst="roundRect">
            <a:avLst>
              <a:gd name="adj" fmla="val 12800"/>
            </a:avLst>
          </a:prstGeom>
          <a:solidFill>
            <a:schemeClr val="accent5"/>
          </a:solidFill>
          <a:ln w="19050">
            <a:solidFill>
              <a:schemeClr val="accent3"/>
            </a:solidFill>
            <a:prstDash val="solid"/>
          </a:ln>
        </p:spPr>
      </p:sp>
      <p:sp>
        <p:nvSpPr>
          <p:cNvPr id="45" name="Text 43"/>
          <p:cNvSpPr txBox="1"/>
          <p:nvPr/>
        </p:nvSpPr>
        <p:spPr>
          <a:xfrm>
            <a:off x="6487160" y="4229100"/>
            <a:ext cx="18211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advice</a:t>
            </a:r>
            <a:endParaRPr lang="en-US" sz="1400" dirty="0"/>
          </a:p>
          <a:p>
            <a:pPr indent="0" marL="0">
              <a:buNone/>
            </a:pPr>
            <a:r>
              <a:rPr lang="en-US" sz="1200" dirty="0">
                <a:solidFill>
                  <a:schemeClr val="accent6"/>
                </a:solidFill>
              </a:rPr>
              <a:t>오늘의 조언</a:t>
            </a:r>
            <a:endParaRPr lang="en-US" sz="1400" dirty="0"/>
          </a:p>
        </p:txBody>
      </p:sp>
      <p:sp>
        <p:nvSpPr>
          <p:cNvPr id="46" name="Shape 44"/>
          <p:cNvSpPr/>
          <p:nvPr/>
        </p:nvSpPr>
        <p:spPr>
          <a:xfrm>
            <a:off x="6350000" y="4940300"/>
            <a:ext cx="2095500" cy="571500"/>
          </a:xfrm>
          <a:prstGeom prst="roundRect">
            <a:avLst>
              <a:gd name="adj" fmla="val 12800"/>
            </a:avLst>
          </a:prstGeom>
          <a:solidFill>
            <a:schemeClr val="accent5"/>
          </a:solidFill>
          <a:ln w="19050">
            <a:solidFill>
              <a:schemeClr val="accent3"/>
            </a:solidFill>
            <a:prstDash val="solid"/>
          </a:ln>
        </p:spPr>
      </p:sp>
      <p:sp>
        <p:nvSpPr>
          <p:cNvPr id="47" name="Text 45"/>
          <p:cNvSpPr txBox="1"/>
          <p:nvPr/>
        </p:nvSpPr>
        <p:spPr>
          <a:xfrm>
            <a:off x="6487160" y="4940300"/>
            <a:ext cx="1821180" cy="571500"/>
          </a:xfrm>
          <a:prstGeom prst="rect">
            <a:avLst/>
          </a:prstGeom>
          <a:noFill/>
          <a:ln/>
        </p:spPr>
        <p:txBody>
          <a:bodyPr wrap="square" lIns="0" tIns="0" rIns="0" bIns="0" rtlCol="0" anchor="ctr"/>
          <a:lstStyle/>
          <a:p>
            <a:pPr indent="0" marL="0">
              <a:buNone/>
            </a:pPr>
            <a:r>
              <a:rPr lang="en-US" sz="1300" b="1" dirty="0">
                <a:solidFill>
                  <a:schemeClr val="tx2"/>
                </a:solidFill>
                <a:latin typeface="Consolas" pitchFamily="34" charset="0"/>
                <a:ea typeface="Consolas" pitchFamily="34" charset="-122"/>
                <a:cs typeface="Consolas" pitchFamily="34" charset="-120"/>
              </a:rPr>
              <a:t>exercise</a:t>
            </a:r>
            <a:endParaRPr lang="en-US" sz="1400" dirty="0"/>
          </a:p>
          <a:p>
            <a:pPr indent="0" marL="0">
              <a:buNone/>
            </a:pPr>
            <a:r>
              <a:rPr lang="en-US" sz="1200" dirty="0">
                <a:solidFill>
                  <a:schemeClr val="accent6"/>
                </a:solidFill>
              </a:rPr>
              <a:t>운동 추천</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노드</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노드마다 하는 일</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884548"/>
                <a:gridCol w="1331330"/>
                <a:gridCol w="6878537"/>
              </a:tblGrid>
              <a:tr h="365760">
                <a:tc>
                  <a:txBody>
                    <a:bodyPr/>
                    <a:lstStyle/>
                    <a:p>
                      <a:pPr indent="0" marL="0">
                        <a:buNone/>
                      </a:pPr>
                      <a:r>
                        <a:rPr lang="en-US" sz="1400" b="1" dirty="0">
                          <a:solidFill>
                            <a:schemeClr val="bg2"/>
                          </a:solidFill>
                        </a:rPr>
                        <a:t>노드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종류</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하는 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65760">
                <a:tc>
                  <a:txBody>
                    <a:bodyPr/>
                    <a:lstStyle/>
                    <a:p>
                      <a:pPr indent="0" marL="0">
                        <a:buNone/>
                      </a:pPr>
                      <a:r>
                        <a:rPr lang="en-US" sz="1400" dirty="0">
                          <a:solidFill>
                            <a:schemeClr val="tx1"/>
                          </a:solidFill>
                        </a:rPr>
                        <a:t>analyze_intent</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원하는 기능, 생년월일, 기준 날짜("내일"도) 추출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65760">
                <a:tc>
                  <a:txBody>
                    <a:bodyPr/>
                    <a:lstStyle/>
                    <a:p>
                      <a:pPr indent="0" marL="0">
                        <a:buNone/>
                      </a:pPr>
                      <a:r>
                        <a:rPr lang="en-US" sz="1400" dirty="0">
                          <a:solidFill>
                            <a:schemeClr val="tx1"/>
                          </a:solidFill>
                        </a:rPr>
                        <a:t>ask_clarify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빠진 생년월일을 입력 예시와 함께 되묻기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65760">
                <a:tc>
                  <a:txBody>
                    <a:bodyPr/>
                    <a:lstStyle/>
                    <a:p>
                      <a:pPr indent="0" marL="0">
                        <a:buNone/>
                      </a:pPr>
                      <a:r>
                        <a:rPr lang="en-US" sz="1400" dirty="0">
                          <a:solidFill>
                            <a:schemeClr val="tx1"/>
                          </a:solidFill>
                        </a:rPr>
                        <a:t>answer_follow_up</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"위험일이 뭐야?" 같은 이어지는 질문에 답변</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65760">
                <a:tc>
                  <a:txBody>
                    <a:bodyPr/>
                    <a:lstStyle/>
                    <a:p>
                      <a:pPr indent="0" marL="0">
                        <a:buNone/>
                      </a:pPr>
                      <a:r>
                        <a:rPr lang="en-US" sz="1400" dirty="0">
                          <a:solidFill>
                            <a:schemeClr val="tx1"/>
                          </a:solidFill>
                        </a:rPr>
                        <a:t>calc_biorhythm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b="1" dirty="0">
                          <a:solidFill>
                            <a:schemeClr val="accent2"/>
                          </a:solidFill>
                        </a:rPr>
                        <a:t>파이썬</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리듬 수치, 위험일, 7일 흐름, 궁합 점수 계산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4"/>
                    </a:solidFill>
                  </a:tcPr>
                </a:tc>
              </a:tr>
              <a:tr h="365760">
                <a:tc>
                  <a:txBody>
                    <a:bodyPr/>
                    <a:lstStyle/>
                    <a:p>
                      <a:pPr indent="0" marL="0">
                        <a:buNone/>
                      </a:pPr>
                      <a:r>
                        <a:rPr lang="en-US" sz="1400" dirty="0">
                          <a:solidFill>
                            <a:schemeClr val="tx1"/>
                          </a:solidFill>
                        </a:rPr>
                        <a:t>explain_biorhythm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세 리듬 해설 + 7일 중 좋은 날 / 주의할 날</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65760">
                <a:tc>
                  <a:txBody>
                    <a:bodyPr/>
                    <a:lstStyle/>
                    <a:p>
                      <a:pPr indent="0" marL="0">
                        <a:buNone/>
                      </a:pPr>
                      <a:r>
                        <a:rPr lang="en-US" sz="1400" dirty="0">
                          <a:solidFill>
                            <a:schemeClr val="tx1"/>
                          </a:solidFill>
                        </a:rPr>
                        <a:t>compatibility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궁합 점수 해설, 낮은 항목은 보완법으로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65760">
                <a:tc>
                  <a:txBody>
                    <a:bodyPr/>
                    <a:lstStyle/>
                    <a:p>
                      <a:pPr indent="0" marL="0">
                        <a:buNone/>
                      </a:pPr>
                      <a:r>
                        <a:rPr lang="en-US" sz="1400" dirty="0">
                          <a:solidFill>
                            <a:schemeClr val="tx1"/>
                          </a:solidFill>
                        </a:rPr>
                        <a:t>fortune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별점, 일·연애·건강운, 행운 포인트</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65760">
                <a:tc>
                  <a:txBody>
                    <a:bodyPr/>
                    <a:lstStyle/>
                    <a:p>
                      <a:pPr indent="0" marL="0">
                        <a:buNone/>
                      </a:pPr>
                      <a:r>
                        <a:rPr lang="en-US" sz="1400" dirty="0">
                          <a:solidFill>
                            <a:schemeClr val="tx1"/>
                          </a:solidFill>
                        </a:rPr>
                        <a:t>advice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업무·대인관계·셀프케어 행동 조언</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65760">
                <a:tc>
                  <a:txBody>
                    <a:bodyPr/>
                    <a:lstStyle/>
                    <a:p>
                      <a:pPr indent="0" marL="0">
                        <a:buNone/>
                      </a:pPr>
                      <a:r>
                        <a:rPr lang="en-US" sz="1400" dirty="0">
                          <a:solidFill>
                            <a:schemeClr val="tx1"/>
                          </a:solidFill>
                        </a:rPr>
                        <a:t>exercise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b="1" dirty="0">
                          <a:solidFill>
                            <a:schemeClr val="accent3"/>
                          </a:solidFill>
                        </a:rPr>
                        <a:t>LLM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신체 리듬 기준 운동 강도와 종목 추천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bl>
          </a:graphicData>
        </a:graphic>
      </p:graphicFrame>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BioState</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State 는 노드들의 공유 메모장</a:t>
            </a:r>
            <a:endParaRPr lang="en-US" sz="3000" dirty="0"/>
          </a:p>
        </p:txBody>
      </p:sp>
      <p:sp>
        <p:nvSpPr>
          <p:cNvPr id="4" name="Text 2"/>
          <p:cNvSpPr txBox="1"/>
          <p:nvPr/>
        </p:nvSpPr>
        <p:spPr>
          <a:xfrm>
            <a:off x="548640" y="1554480"/>
            <a:ext cx="11094415" cy="365760"/>
          </a:xfrm>
          <a:prstGeom prst="rect">
            <a:avLst/>
          </a:prstGeom>
          <a:noFill/>
          <a:ln/>
        </p:spPr>
        <p:txBody>
          <a:bodyPr wrap="square" lIns="0" tIns="0" rIns="0" bIns="0" rtlCol="0" anchor="t"/>
          <a:lstStyle/>
          <a:p>
            <a:pPr indent="0" marL="0">
              <a:buNone/>
            </a:pPr>
            <a:r>
              <a:rPr lang="en-US" sz="1500" dirty="0">
                <a:solidFill>
                  <a:schemeClr val="accent6"/>
                </a:solidFill>
              </a:rPr>
              <a:t>각 노드는 필요한 칸을 읽고, 자기가 맡은 칸만 채워서 다음 노드에 넘깁니다.</a:t>
            </a:r>
            <a:endParaRPr lang="en-US" sz="1500" dirty="0"/>
          </a:p>
        </p:txBody>
      </p:sp>
      <p:sp>
        <p:nvSpPr>
          <p:cNvPr id="5" name="Shape 3"/>
          <p:cNvSpPr/>
          <p:nvPr/>
        </p:nvSpPr>
        <p:spPr>
          <a:xfrm>
            <a:off x="548640" y="2103120"/>
            <a:ext cx="5410048" cy="1874520"/>
          </a:xfrm>
          <a:prstGeom prst="roundRect">
            <a:avLst>
              <a:gd name="adj" fmla="val 4878"/>
            </a:avLst>
          </a:prstGeom>
          <a:solidFill>
            <a:srgbClr val="ECE9E1"/>
          </a:solidFill>
          <a:ln w="12700">
            <a:solidFill>
              <a:srgbClr val="DDD8CC"/>
            </a:solidFill>
            <a:prstDash val="solid"/>
          </a:ln>
        </p:spPr>
      </p:sp>
      <p:sp>
        <p:nvSpPr>
          <p:cNvPr id="6" name="Text 4"/>
          <p:cNvSpPr txBox="1"/>
          <p:nvPr/>
        </p:nvSpPr>
        <p:spPr>
          <a:xfrm>
            <a:off x="822960" y="2304288"/>
            <a:ext cx="4861408" cy="365760"/>
          </a:xfrm>
          <a:prstGeom prst="rect">
            <a:avLst/>
          </a:prstGeom>
          <a:noFill/>
          <a:ln/>
        </p:spPr>
        <p:txBody>
          <a:bodyPr wrap="square" lIns="0" tIns="0" rIns="0" bIns="0" rtlCol="0" anchor="t"/>
          <a:lstStyle/>
          <a:p>
            <a:pPr indent="0" marL="0">
              <a:buNone/>
            </a:pPr>
            <a:r>
              <a:rPr lang="en-US" sz="1700" b="1" dirty="0">
                <a:solidFill>
                  <a:schemeClr val="tx2"/>
                </a:solidFill>
              </a:rPr>
              <a:t>공용 제공 (app/)</a:t>
            </a:r>
            <a:endParaRPr lang="en-US" sz="1700" dirty="0"/>
          </a:p>
        </p:txBody>
      </p:sp>
      <p:sp>
        <p:nvSpPr>
          <p:cNvPr id="7" name="Text 5"/>
          <p:cNvSpPr txBox="1"/>
          <p:nvPr/>
        </p:nvSpPr>
        <p:spPr>
          <a:xfrm>
            <a:off x="822960" y="2788920"/>
            <a:ext cx="4861408" cy="10515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user_input</a:t>
            </a:r>
            <a:pPr indent="0" marL="0">
              <a:spcAft>
                <a:spcPts val="600"/>
              </a:spcAft>
              <a:buNone/>
            </a:pPr>
            <a:r>
              <a:rPr lang="en-US" sz="1400" dirty="0">
                <a:solidFill>
                  <a:schemeClr val="tx1"/>
                </a:solidFill>
              </a:rPr>
              <a:t> · 이번 질문</a:t>
            </a:r>
            <a:endParaRPr lang="en-US" sz="1400" dirty="0"/>
          </a:p>
          <a:p>
            <a:pPr indent="0" marL="0">
              <a:spcAft>
                <a:spcPts val="600"/>
              </a:spcAft>
              <a:buNone/>
            </a:pPr>
            <a:r>
              <a:rPr lang="en-US" sz="1400" b="1" dirty="0">
                <a:solidFill>
                  <a:schemeClr val="tx1"/>
                </a:solidFill>
              </a:rPr>
              <a:t>messages</a:t>
            </a:r>
            <a:pPr indent="0" marL="0">
              <a:spcAft>
                <a:spcPts val="600"/>
              </a:spcAft>
              <a:buNone/>
            </a:pPr>
            <a:r>
              <a:rPr lang="en-US" sz="1400" dirty="0">
                <a:solidFill>
                  <a:schemeClr val="tx1"/>
                </a:solidFill>
              </a:rPr>
              <a:t> · 이전 대화 (생년월일을 다시 찾는 곳)</a:t>
            </a:r>
            <a:endParaRPr lang="en-US" sz="1400" dirty="0"/>
          </a:p>
          <a:p>
            <a:pPr indent="0" marL="0">
              <a:spcAft>
                <a:spcPts val="600"/>
              </a:spcAft>
              <a:buNone/>
            </a:pPr>
            <a:r>
              <a:rPr lang="en-US" sz="1400" b="1" dirty="0">
                <a:solidFill>
                  <a:schemeClr val="tx1"/>
                </a:solidFill>
              </a:rPr>
              <a:t>answer</a:t>
            </a:r>
            <a:pPr indent="0" marL="0">
              <a:spcAft>
                <a:spcPts val="600"/>
              </a:spcAft>
              <a:buNone/>
            </a:pPr>
            <a:r>
              <a:rPr lang="en-US" sz="1400" dirty="0">
                <a:solidFill>
                  <a:schemeClr val="tx1"/>
                </a:solidFill>
              </a:rPr>
              <a:t> · 최종 답변</a:t>
            </a:r>
            <a:endParaRPr lang="en-US" sz="1400" dirty="0"/>
          </a:p>
        </p:txBody>
      </p:sp>
      <p:sp>
        <p:nvSpPr>
          <p:cNvPr id="8" name="Shape 6"/>
          <p:cNvSpPr/>
          <p:nvPr/>
        </p:nvSpPr>
        <p:spPr>
          <a:xfrm>
            <a:off x="6233008" y="2103120"/>
            <a:ext cx="5410048" cy="1874520"/>
          </a:xfrm>
          <a:prstGeom prst="roundRect">
            <a:avLst>
              <a:gd name="adj" fmla="val 4878"/>
            </a:avLst>
          </a:prstGeom>
          <a:solidFill>
            <a:schemeClr val="accent5"/>
          </a:solidFill>
          <a:ln w="19050">
            <a:solidFill>
              <a:schemeClr val="accent3"/>
            </a:solidFill>
            <a:prstDash val="solid"/>
          </a:ln>
        </p:spPr>
      </p:sp>
      <p:sp>
        <p:nvSpPr>
          <p:cNvPr id="9" name="Text 7"/>
          <p:cNvSpPr txBox="1"/>
          <p:nvPr/>
        </p:nvSpPr>
        <p:spPr>
          <a:xfrm>
            <a:off x="6507328" y="2304288"/>
            <a:ext cx="4861408" cy="365760"/>
          </a:xfrm>
          <a:prstGeom prst="rect">
            <a:avLst/>
          </a:prstGeom>
          <a:noFill/>
          <a:ln/>
        </p:spPr>
        <p:txBody>
          <a:bodyPr wrap="square" lIns="0" tIns="0" rIns="0" bIns="0" rtlCol="0" anchor="t"/>
          <a:lstStyle/>
          <a:p>
            <a:pPr indent="0" marL="0">
              <a:buNone/>
            </a:pPr>
            <a:r>
              <a:rPr lang="en-US" sz="1700" b="1" dirty="0">
                <a:solidFill>
                  <a:schemeClr val="tx2"/>
                </a:solidFill>
              </a:rPr>
              <a:t>analyze_intent 가 채움</a:t>
            </a:r>
            <a:endParaRPr lang="en-US" sz="1700" dirty="0"/>
          </a:p>
        </p:txBody>
      </p:sp>
      <p:sp>
        <p:nvSpPr>
          <p:cNvPr id="10" name="Text 8"/>
          <p:cNvSpPr txBox="1"/>
          <p:nvPr/>
        </p:nvSpPr>
        <p:spPr>
          <a:xfrm>
            <a:off x="6507328" y="2788920"/>
            <a:ext cx="4861408" cy="10515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intent, task</a:t>
            </a:r>
            <a:pPr indent="0" marL="0">
              <a:spcAft>
                <a:spcPts val="600"/>
              </a:spcAft>
              <a:buNone/>
            </a:pPr>
            <a:r>
              <a:rPr lang="en-US" sz="1400" dirty="0">
                <a:solidFill>
                  <a:schemeClr val="tx1"/>
                </a:solidFill>
              </a:rPr>
              <a:t> · 새 요청/이어지는 질문, 원하는 기능</a:t>
            </a:r>
            <a:endParaRPr lang="en-US" sz="1400" dirty="0"/>
          </a:p>
          <a:p>
            <a:pPr indent="0" marL="0">
              <a:spcAft>
                <a:spcPts val="600"/>
              </a:spcAft>
              <a:buNone/>
            </a:pPr>
            <a:r>
              <a:rPr lang="en-US" sz="1400" b="1" dirty="0">
                <a:solidFill>
                  <a:schemeClr val="tx1"/>
                </a:solidFill>
              </a:rPr>
              <a:t>birth_date, partner_birth_date</a:t>
            </a:r>
            <a:pPr indent="0" marL="0">
              <a:spcAft>
                <a:spcPts val="600"/>
              </a:spcAft>
              <a:buNone/>
            </a:pPr>
            <a:r>
              <a:rPr lang="en-US" sz="1400" dirty="0">
                <a:solidFill>
                  <a:schemeClr val="tx1"/>
                </a:solidFill>
              </a:rPr>
              <a:t> · 본인/상대 생일</a:t>
            </a:r>
            <a:endParaRPr lang="en-US" sz="1400" dirty="0"/>
          </a:p>
          <a:p>
            <a:pPr indent="0" marL="0">
              <a:spcAft>
                <a:spcPts val="600"/>
              </a:spcAft>
              <a:buNone/>
            </a:pPr>
            <a:r>
              <a:rPr lang="en-US" sz="1400" b="1" dirty="0">
                <a:solidFill>
                  <a:schemeClr val="tx1"/>
                </a:solidFill>
              </a:rPr>
              <a:t>target_date, missing</a:t>
            </a:r>
            <a:pPr indent="0" marL="0">
              <a:spcAft>
                <a:spcPts val="600"/>
              </a:spcAft>
              <a:buNone/>
            </a:pPr>
            <a:r>
              <a:rPr lang="en-US" sz="1400" dirty="0">
                <a:solidFill>
                  <a:schemeClr val="tx1"/>
                </a:solidFill>
              </a:rPr>
              <a:t> · 기준 날짜, 빠진 정보</a:t>
            </a:r>
            <a:endParaRPr lang="en-US" sz="1400" dirty="0"/>
          </a:p>
        </p:txBody>
      </p:sp>
      <p:sp>
        <p:nvSpPr>
          <p:cNvPr id="11" name="Shape 9"/>
          <p:cNvSpPr/>
          <p:nvPr/>
        </p:nvSpPr>
        <p:spPr>
          <a:xfrm>
            <a:off x="548640" y="4206240"/>
            <a:ext cx="5410048" cy="1874520"/>
          </a:xfrm>
          <a:prstGeom prst="roundRect">
            <a:avLst>
              <a:gd name="adj" fmla="val 4878"/>
            </a:avLst>
          </a:prstGeom>
          <a:solidFill>
            <a:schemeClr val="accent4"/>
          </a:solidFill>
          <a:ln w="19050">
            <a:solidFill>
              <a:schemeClr val="accent2"/>
            </a:solidFill>
            <a:prstDash val="solid"/>
          </a:ln>
        </p:spPr>
      </p:sp>
      <p:sp>
        <p:nvSpPr>
          <p:cNvPr id="12" name="Text 10"/>
          <p:cNvSpPr txBox="1"/>
          <p:nvPr/>
        </p:nvSpPr>
        <p:spPr>
          <a:xfrm>
            <a:off x="822960" y="4407408"/>
            <a:ext cx="4861408" cy="365760"/>
          </a:xfrm>
          <a:prstGeom prst="rect">
            <a:avLst/>
          </a:prstGeom>
          <a:noFill/>
          <a:ln/>
        </p:spPr>
        <p:txBody>
          <a:bodyPr wrap="square" lIns="0" tIns="0" rIns="0" bIns="0" rtlCol="0" anchor="t"/>
          <a:lstStyle/>
          <a:p>
            <a:pPr indent="0" marL="0">
              <a:buNone/>
            </a:pPr>
            <a:r>
              <a:rPr lang="en-US" sz="1700" b="1" dirty="0">
                <a:solidFill>
                  <a:schemeClr val="tx2"/>
                </a:solidFill>
              </a:rPr>
              <a:t>calc_biorhythm 가 채움</a:t>
            </a:r>
            <a:endParaRPr lang="en-US" sz="1700" dirty="0"/>
          </a:p>
        </p:txBody>
      </p:sp>
      <p:sp>
        <p:nvSpPr>
          <p:cNvPr id="13" name="Text 11"/>
          <p:cNvSpPr txBox="1"/>
          <p:nvPr/>
        </p:nvSpPr>
        <p:spPr>
          <a:xfrm>
            <a:off x="822960" y="4892040"/>
            <a:ext cx="4861408" cy="105156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bio_report</a:t>
            </a:r>
            <a:pPr indent="0" marL="0">
              <a:spcAft>
                <a:spcPts val="600"/>
              </a:spcAft>
              <a:buNone/>
            </a:pPr>
            <a:r>
              <a:rPr lang="en-US" sz="1400" dirty="0">
                <a:solidFill>
                  <a:schemeClr val="tx1"/>
                </a:solidFill>
              </a:rPr>
              <a:t> · 계산 결과를 정리한 텍스트</a:t>
            </a:r>
            <a:endParaRPr lang="en-US" sz="1400" dirty="0"/>
          </a:p>
          <a:p>
            <a:pPr indent="0" marL="0">
              <a:spcAft>
                <a:spcPts val="600"/>
              </a:spcAft>
              <a:buNone/>
            </a:pPr>
            <a:r>
              <a:rPr lang="en-US" sz="1400" dirty="0">
                <a:solidFill>
                  <a:schemeClr val="tx1"/>
                </a:solidFill>
              </a:rPr>
              <a:t>해설 노드 5개가 모두 이 칸 하나만 읽습니다.</a:t>
            </a:r>
            <a:endParaRPr lang="en-US" sz="1400" dirty="0"/>
          </a:p>
        </p:txBody>
      </p:sp>
      <p:sp>
        <p:nvSpPr>
          <p:cNvPr id="14" name="Shape 12"/>
          <p:cNvSpPr/>
          <p:nvPr/>
        </p:nvSpPr>
        <p:spPr>
          <a:xfrm>
            <a:off x="6233008" y="4206240"/>
            <a:ext cx="5410048" cy="1874520"/>
          </a:xfrm>
          <a:prstGeom prst="roundRect">
            <a:avLst>
              <a:gd name="adj" fmla="val 4878"/>
            </a:avLst>
          </a:prstGeom>
          <a:solidFill>
            <a:srgbClr val="FDFCF9"/>
          </a:solidFill>
          <a:ln w="12700">
            <a:solidFill>
              <a:srgbClr val="DDD8CC"/>
            </a:solidFill>
            <a:prstDash val="solid"/>
          </a:ln>
        </p:spPr>
      </p:sp>
      <p:sp>
        <p:nvSpPr>
          <p:cNvPr id="15" name="Text 13"/>
          <p:cNvSpPr txBox="1"/>
          <p:nvPr/>
        </p:nvSpPr>
        <p:spPr>
          <a:xfrm>
            <a:off x="6507328" y="4407408"/>
            <a:ext cx="4861408" cy="365760"/>
          </a:xfrm>
          <a:prstGeom prst="rect">
            <a:avLst/>
          </a:prstGeom>
          <a:noFill/>
          <a:ln/>
        </p:spPr>
        <p:txBody>
          <a:bodyPr wrap="square" lIns="0" tIns="0" rIns="0" bIns="0" rtlCol="0" anchor="t"/>
          <a:lstStyle/>
          <a:p>
            <a:pPr indent="0" marL="0">
              <a:buNone/>
            </a:pPr>
            <a:r>
              <a:rPr lang="en-US" sz="1700" b="1" dirty="0">
                <a:solidFill>
                  <a:schemeClr val="tx2"/>
                </a:solidFill>
              </a:rPr>
              <a:t>왜 계산 결과를 글로 넘기나</a:t>
            </a:r>
            <a:endParaRPr lang="en-US" sz="1700" dirty="0"/>
          </a:p>
        </p:txBody>
      </p:sp>
      <p:sp>
        <p:nvSpPr>
          <p:cNvPr id="16" name="Text 14"/>
          <p:cNvSpPr txBox="1"/>
          <p:nvPr/>
        </p:nvSpPr>
        <p:spPr>
          <a:xfrm>
            <a:off x="6507328" y="4892040"/>
            <a:ext cx="4861408" cy="105156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LLM 이 그대로 읽고 숫자를 바꾸지 않고 인용하도록, 사람이 읽는 형식으로 만들었습니다.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calc_biorhythm (LLM 없음)</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숫자는 공식으로, 해석은 LLM 으로</a:t>
            </a:r>
            <a:endParaRPr lang="en-US" sz="3000" dirty="0"/>
          </a:p>
        </p:txBody>
      </p:sp>
      <p:sp>
        <p:nvSpPr>
          <p:cNvPr id="4" name="Shape 2"/>
          <p:cNvSpPr/>
          <p:nvPr/>
        </p:nvSpPr>
        <p:spPr>
          <a:xfrm>
            <a:off x="548640" y="1691640"/>
            <a:ext cx="2072640" cy="1463040"/>
          </a:xfrm>
          <a:prstGeom prst="roundRect">
            <a:avLst>
              <a:gd name="adj" fmla="val 6250"/>
            </a:avLst>
          </a:prstGeom>
          <a:solidFill>
            <a:srgbClr val="FDFCF9"/>
          </a:solidFill>
          <a:ln w="12700">
            <a:solidFill>
              <a:srgbClr val="DDD8CC"/>
            </a:solidFill>
            <a:prstDash val="solid"/>
          </a:ln>
        </p:spPr>
      </p:sp>
      <p:sp>
        <p:nvSpPr>
          <p:cNvPr id="5" name="Text 3"/>
          <p:cNvSpPr txBox="1"/>
          <p:nvPr/>
        </p:nvSpPr>
        <p:spPr>
          <a:xfrm>
            <a:off x="731520" y="1801368"/>
            <a:ext cx="1706880" cy="594360"/>
          </a:xfrm>
          <a:prstGeom prst="rect">
            <a:avLst/>
          </a:prstGeom>
          <a:noFill/>
          <a:ln/>
        </p:spPr>
        <p:txBody>
          <a:bodyPr wrap="square" lIns="0" tIns="0" rIns="0" bIns="0" rtlCol="0" anchor="t"/>
          <a:lstStyle/>
          <a:p>
            <a:pPr indent="0" marL="0">
              <a:buNone/>
            </a:pPr>
            <a:r>
              <a:rPr lang="en-US" sz="3400" b="1" dirty="0">
                <a:solidFill>
                  <a:schemeClr val="tx2"/>
                </a:solidFill>
              </a:rPr>
              <a:t>23일</a:t>
            </a:r>
            <a:endParaRPr lang="en-US" sz="3400" dirty="0"/>
          </a:p>
        </p:txBody>
      </p:sp>
      <p:sp>
        <p:nvSpPr>
          <p:cNvPr id="6" name="Text 4"/>
          <p:cNvSpPr txBox="1"/>
          <p:nvPr/>
        </p:nvSpPr>
        <p:spPr>
          <a:xfrm>
            <a:off x="731520" y="2423160"/>
            <a:ext cx="1706880" cy="320040"/>
          </a:xfrm>
          <a:prstGeom prst="rect">
            <a:avLst/>
          </a:prstGeom>
          <a:noFill/>
          <a:ln/>
        </p:spPr>
        <p:txBody>
          <a:bodyPr wrap="square" lIns="0" tIns="0" rIns="0" bIns="0" rtlCol="0" anchor="t"/>
          <a:lstStyle/>
          <a:p>
            <a:pPr indent="0" marL="0">
              <a:buNone/>
            </a:pPr>
            <a:r>
              <a:rPr lang="en-US" sz="1600" b="1" dirty="0">
                <a:solidFill>
                  <a:schemeClr val="accent1"/>
                </a:solidFill>
              </a:rPr>
              <a:t>신체</a:t>
            </a:r>
            <a:endParaRPr lang="en-US" sz="1600" dirty="0"/>
          </a:p>
        </p:txBody>
      </p:sp>
      <p:sp>
        <p:nvSpPr>
          <p:cNvPr id="7" name="Text 5"/>
          <p:cNvSpPr txBox="1"/>
          <p:nvPr/>
        </p:nvSpPr>
        <p:spPr>
          <a:xfrm>
            <a:off x="731520" y="2743200"/>
            <a:ext cx="1706880" cy="320040"/>
          </a:xfrm>
          <a:prstGeom prst="rect">
            <a:avLst/>
          </a:prstGeom>
          <a:noFill/>
          <a:ln/>
        </p:spPr>
        <p:txBody>
          <a:bodyPr wrap="square" lIns="0" tIns="0" rIns="0" bIns="0" rtlCol="0" anchor="t"/>
          <a:lstStyle/>
          <a:p>
            <a:pPr indent="0" marL="0">
              <a:buNone/>
            </a:pPr>
            <a:r>
              <a:rPr lang="en-US" sz="1200" dirty="0">
                <a:solidFill>
                  <a:schemeClr val="accent6"/>
                </a:solidFill>
              </a:rPr>
              <a:t>체력·활동성·면역</a:t>
            </a:r>
            <a:endParaRPr lang="en-US" sz="1200" dirty="0"/>
          </a:p>
        </p:txBody>
      </p:sp>
      <p:sp>
        <p:nvSpPr>
          <p:cNvPr id="8" name="Shape 6"/>
          <p:cNvSpPr/>
          <p:nvPr/>
        </p:nvSpPr>
        <p:spPr>
          <a:xfrm>
            <a:off x="2804160" y="1691640"/>
            <a:ext cx="2072640" cy="1463040"/>
          </a:xfrm>
          <a:prstGeom prst="roundRect">
            <a:avLst>
              <a:gd name="adj" fmla="val 6250"/>
            </a:avLst>
          </a:prstGeom>
          <a:solidFill>
            <a:srgbClr val="FDFCF9"/>
          </a:solidFill>
          <a:ln w="12700">
            <a:solidFill>
              <a:srgbClr val="DDD8CC"/>
            </a:solidFill>
            <a:prstDash val="solid"/>
          </a:ln>
        </p:spPr>
      </p:sp>
      <p:sp>
        <p:nvSpPr>
          <p:cNvPr id="9" name="Text 7"/>
          <p:cNvSpPr txBox="1"/>
          <p:nvPr/>
        </p:nvSpPr>
        <p:spPr>
          <a:xfrm>
            <a:off x="2987040" y="1801368"/>
            <a:ext cx="1706880" cy="594360"/>
          </a:xfrm>
          <a:prstGeom prst="rect">
            <a:avLst/>
          </a:prstGeom>
          <a:noFill/>
          <a:ln/>
        </p:spPr>
        <p:txBody>
          <a:bodyPr wrap="square" lIns="0" tIns="0" rIns="0" bIns="0" rtlCol="0" anchor="t"/>
          <a:lstStyle/>
          <a:p>
            <a:pPr indent="0" marL="0">
              <a:buNone/>
            </a:pPr>
            <a:r>
              <a:rPr lang="en-US" sz="3400" b="1" dirty="0">
                <a:solidFill>
                  <a:schemeClr val="tx2"/>
                </a:solidFill>
              </a:rPr>
              <a:t>28일</a:t>
            </a:r>
            <a:endParaRPr lang="en-US" sz="3400" dirty="0"/>
          </a:p>
        </p:txBody>
      </p:sp>
      <p:sp>
        <p:nvSpPr>
          <p:cNvPr id="10" name="Text 8"/>
          <p:cNvSpPr txBox="1"/>
          <p:nvPr/>
        </p:nvSpPr>
        <p:spPr>
          <a:xfrm>
            <a:off x="2987040" y="2423160"/>
            <a:ext cx="1706880" cy="320040"/>
          </a:xfrm>
          <a:prstGeom prst="rect">
            <a:avLst/>
          </a:prstGeom>
          <a:noFill/>
          <a:ln/>
        </p:spPr>
        <p:txBody>
          <a:bodyPr wrap="square" lIns="0" tIns="0" rIns="0" bIns="0" rtlCol="0" anchor="t"/>
          <a:lstStyle/>
          <a:p>
            <a:pPr indent="0" marL="0">
              <a:buNone/>
            </a:pPr>
            <a:r>
              <a:rPr lang="en-US" sz="1600" b="1" dirty="0">
                <a:solidFill>
                  <a:schemeClr val="accent1"/>
                </a:solidFill>
              </a:rPr>
              <a:t>감성</a:t>
            </a:r>
            <a:endParaRPr lang="en-US" sz="1600" dirty="0"/>
          </a:p>
        </p:txBody>
      </p:sp>
      <p:sp>
        <p:nvSpPr>
          <p:cNvPr id="11" name="Text 9"/>
          <p:cNvSpPr txBox="1"/>
          <p:nvPr/>
        </p:nvSpPr>
        <p:spPr>
          <a:xfrm>
            <a:off x="2987040" y="2743200"/>
            <a:ext cx="1706880" cy="320040"/>
          </a:xfrm>
          <a:prstGeom prst="rect">
            <a:avLst/>
          </a:prstGeom>
          <a:noFill/>
          <a:ln/>
        </p:spPr>
        <p:txBody>
          <a:bodyPr wrap="square" lIns="0" tIns="0" rIns="0" bIns="0" rtlCol="0" anchor="t"/>
          <a:lstStyle/>
          <a:p>
            <a:pPr indent="0" marL="0">
              <a:buNone/>
            </a:pPr>
            <a:r>
              <a:rPr lang="en-US" sz="1200" dirty="0">
                <a:solidFill>
                  <a:schemeClr val="accent6"/>
                </a:solidFill>
              </a:rPr>
              <a:t>기분·대인관계</a:t>
            </a:r>
            <a:endParaRPr lang="en-US" sz="1200" dirty="0"/>
          </a:p>
        </p:txBody>
      </p:sp>
      <p:sp>
        <p:nvSpPr>
          <p:cNvPr id="12" name="Shape 10"/>
          <p:cNvSpPr/>
          <p:nvPr/>
        </p:nvSpPr>
        <p:spPr>
          <a:xfrm>
            <a:off x="5059680" y="1691640"/>
            <a:ext cx="2072640" cy="1463040"/>
          </a:xfrm>
          <a:prstGeom prst="roundRect">
            <a:avLst>
              <a:gd name="adj" fmla="val 6250"/>
            </a:avLst>
          </a:prstGeom>
          <a:solidFill>
            <a:srgbClr val="FDFCF9"/>
          </a:solidFill>
          <a:ln w="12700">
            <a:solidFill>
              <a:srgbClr val="DDD8CC"/>
            </a:solidFill>
            <a:prstDash val="solid"/>
          </a:ln>
        </p:spPr>
      </p:sp>
      <p:sp>
        <p:nvSpPr>
          <p:cNvPr id="13" name="Text 11"/>
          <p:cNvSpPr txBox="1"/>
          <p:nvPr/>
        </p:nvSpPr>
        <p:spPr>
          <a:xfrm>
            <a:off x="5242560" y="1801368"/>
            <a:ext cx="1706880" cy="594360"/>
          </a:xfrm>
          <a:prstGeom prst="rect">
            <a:avLst/>
          </a:prstGeom>
          <a:noFill/>
          <a:ln/>
        </p:spPr>
        <p:txBody>
          <a:bodyPr wrap="square" lIns="0" tIns="0" rIns="0" bIns="0" rtlCol="0" anchor="t"/>
          <a:lstStyle/>
          <a:p>
            <a:pPr indent="0" marL="0">
              <a:buNone/>
            </a:pPr>
            <a:r>
              <a:rPr lang="en-US" sz="3400" b="1" dirty="0">
                <a:solidFill>
                  <a:schemeClr val="tx2"/>
                </a:solidFill>
              </a:rPr>
              <a:t>33일</a:t>
            </a:r>
            <a:endParaRPr lang="en-US" sz="3400" dirty="0"/>
          </a:p>
        </p:txBody>
      </p:sp>
      <p:sp>
        <p:nvSpPr>
          <p:cNvPr id="14" name="Text 12"/>
          <p:cNvSpPr txBox="1"/>
          <p:nvPr/>
        </p:nvSpPr>
        <p:spPr>
          <a:xfrm>
            <a:off x="5242560" y="2423160"/>
            <a:ext cx="1706880" cy="320040"/>
          </a:xfrm>
          <a:prstGeom prst="rect">
            <a:avLst/>
          </a:prstGeom>
          <a:noFill/>
          <a:ln/>
        </p:spPr>
        <p:txBody>
          <a:bodyPr wrap="square" lIns="0" tIns="0" rIns="0" bIns="0" rtlCol="0" anchor="t"/>
          <a:lstStyle/>
          <a:p>
            <a:pPr indent="0" marL="0">
              <a:buNone/>
            </a:pPr>
            <a:r>
              <a:rPr lang="en-US" sz="1600" b="1" dirty="0">
                <a:solidFill>
                  <a:schemeClr val="accent1"/>
                </a:solidFill>
              </a:rPr>
              <a:t>지성</a:t>
            </a:r>
            <a:endParaRPr lang="en-US" sz="1600" dirty="0"/>
          </a:p>
        </p:txBody>
      </p:sp>
      <p:sp>
        <p:nvSpPr>
          <p:cNvPr id="15" name="Text 13"/>
          <p:cNvSpPr txBox="1"/>
          <p:nvPr/>
        </p:nvSpPr>
        <p:spPr>
          <a:xfrm>
            <a:off x="5242560" y="2743200"/>
            <a:ext cx="1706880" cy="320040"/>
          </a:xfrm>
          <a:prstGeom prst="rect">
            <a:avLst/>
          </a:prstGeom>
          <a:noFill/>
          <a:ln/>
        </p:spPr>
        <p:txBody>
          <a:bodyPr wrap="square" lIns="0" tIns="0" rIns="0" bIns="0" rtlCol="0" anchor="t"/>
          <a:lstStyle/>
          <a:p>
            <a:pPr indent="0" marL="0">
              <a:buNone/>
            </a:pPr>
            <a:r>
              <a:rPr lang="en-US" sz="1200" dirty="0">
                <a:solidFill>
                  <a:schemeClr val="accent6"/>
                </a:solidFill>
              </a:rPr>
              <a:t>집중력·판단력</a:t>
            </a:r>
            <a:endParaRPr lang="en-US" sz="1200" dirty="0"/>
          </a:p>
        </p:txBody>
      </p:sp>
      <p:sp>
        <p:nvSpPr>
          <p:cNvPr id="16" name="Text 14"/>
          <p:cNvSpPr txBox="1"/>
          <p:nvPr/>
        </p:nvSpPr>
        <p:spPr>
          <a:xfrm>
            <a:off x="548640" y="3429000"/>
            <a:ext cx="6583680" cy="411480"/>
          </a:xfrm>
          <a:prstGeom prst="rect">
            <a:avLst/>
          </a:prstGeom>
          <a:noFill/>
          <a:ln/>
        </p:spPr>
        <p:txBody>
          <a:bodyPr wrap="square" lIns="0" tIns="0" rIns="0" bIns="0" rtlCol="0" anchor="t"/>
          <a:lstStyle/>
          <a:p>
            <a:pPr indent="0" marL="0">
              <a:buNone/>
            </a:pPr>
            <a:r>
              <a:rPr lang="en-US" sz="1400" b="1" dirty="0">
                <a:solidFill>
                  <a:schemeClr val="tx1"/>
                </a:solidFill>
              </a:rPr>
              <a:t>리듬 값</a:t>
            </a:r>
            <a:pPr indent="0" marL="0">
              <a:buNone/>
            </a:pPr>
            <a:r>
              <a:rPr lang="en-US" sz="1400" dirty="0">
                <a:solidFill>
                  <a:schemeClr val="tx1"/>
                </a:solidFill>
              </a:rPr>
              <a:t> = sin(2π × 살아온 날 ÷ 주기) × 100 → -100 ~ +100</a:t>
            </a:r>
            <a:endParaRPr lang="en-US" sz="1400" dirty="0"/>
          </a:p>
        </p:txBody>
      </p:sp>
      <p:sp>
        <p:nvSpPr>
          <p:cNvPr id="17" name="Text 15"/>
          <p:cNvSpPr txBox="1"/>
          <p:nvPr/>
        </p:nvSpPr>
        <p:spPr>
          <a:xfrm>
            <a:off x="548640" y="3931920"/>
            <a:ext cx="6583680" cy="411480"/>
          </a:xfrm>
          <a:prstGeom prst="rect">
            <a:avLst/>
          </a:prstGeom>
          <a:noFill/>
          <a:ln/>
        </p:spPr>
        <p:txBody>
          <a:bodyPr wrap="square" lIns="0" tIns="0" rIns="0" bIns="0" rtlCol="0" anchor="t"/>
          <a:lstStyle/>
          <a:p>
            <a:pPr indent="0" marL="0">
              <a:buNone/>
            </a:pPr>
            <a:r>
              <a:rPr lang="en-US" sz="1400" b="1" dirty="0">
                <a:solidFill>
                  <a:schemeClr val="tx1"/>
                </a:solidFill>
              </a:rPr>
              <a:t>위험일</a:t>
            </a:r>
            <a:pPr indent="0" marL="0">
              <a:buNone/>
            </a:pPr>
            <a:r>
              <a:rPr lang="en-US" sz="1400" dirty="0">
                <a:solidFill>
                  <a:schemeClr val="tx1"/>
                </a:solidFill>
              </a:rPr>
              <a:t> = 그날 값이 0 을 지나가는 날 (리듬 전환점)</a:t>
            </a:r>
            <a:endParaRPr lang="en-US" sz="1400" dirty="0"/>
          </a:p>
        </p:txBody>
      </p:sp>
      <p:sp>
        <p:nvSpPr>
          <p:cNvPr id="18" name="Text 16"/>
          <p:cNvSpPr txBox="1"/>
          <p:nvPr/>
        </p:nvSpPr>
        <p:spPr>
          <a:xfrm>
            <a:off x="548640" y="4434840"/>
            <a:ext cx="6583680" cy="411480"/>
          </a:xfrm>
          <a:prstGeom prst="rect">
            <a:avLst/>
          </a:prstGeom>
          <a:noFill/>
          <a:ln/>
        </p:spPr>
        <p:txBody>
          <a:bodyPr wrap="square" lIns="0" tIns="0" rIns="0" bIns="0" rtlCol="0" anchor="t"/>
          <a:lstStyle/>
          <a:p>
            <a:pPr indent="0" marL="0">
              <a:buNone/>
            </a:pPr>
            <a:r>
              <a:rPr lang="en-US" sz="1400" b="1" dirty="0">
                <a:solidFill>
                  <a:schemeClr val="tx1"/>
                </a:solidFill>
              </a:rPr>
              <a:t>종합 지수</a:t>
            </a:r>
            <a:pPr indent="0" marL="0">
              <a:buNone/>
            </a:pPr>
            <a:r>
              <a:rPr lang="en-US" sz="1400" dirty="0">
                <a:solidFill>
                  <a:schemeClr val="tx1"/>
                </a:solidFill>
              </a:rPr>
              <a:t> = 세 리듬의 평균 → 별점 1~5개</a:t>
            </a:r>
            <a:endParaRPr lang="en-US" sz="1400" dirty="0"/>
          </a:p>
        </p:txBody>
      </p:sp>
      <p:sp>
        <p:nvSpPr>
          <p:cNvPr id="19" name="Text 17"/>
          <p:cNvSpPr txBox="1"/>
          <p:nvPr/>
        </p:nvSpPr>
        <p:spPr>
          <a:xfrm>
            <a:off x="548640" y="4937760"/>
            <a:ext cx="6583680" cy="411480"/>
          </a:xfrm>
          <a:prstGeom prst="rect">
            <a:avLst/>
          </a:prstGeom>
          <a:noFill/>
          <a:ln/>
        </p:spPr>
        <p:txBody>
          <a:bodyPr wrap="square" lIns="0" tIns="0" rIns="0" bIns="0" rtlCol="0" anchor="t"/>
          <a:lstStyle/>
          <a:p>
            <a:pPr indent="0" marL="0">
              <a:buNone/>
            </a:pPr>
            <a:r>
              <a:rPr lang="en-US" sz="1400" b="1" dirty="0">
                <a:solidFill>
                  <a:schemeClr val="tx1"/>
                </a:solidFill>
              </a:rPr>
              <a:t>궁합</a:t>
            </a:r>
            <a:pPr indent="0" marL="0">
              <a:buNone/>
            </a:pPr>
            <a:r>
              <a:rPr lang="en-US" sz="1400" dirty="0">
                <a:solidFill>
                  <a:schemeClr val="tx1"/>
                </a:solidFill>
              </a:rPr>
              <a:t> = (1 + cos(2π × 생일 차이 ÷ 주기)) ÷ 2 × 100</a:t>
            </a:r>
            <a:endParaRPr lang="en-US" sz="1400" dirty="0"/>
          </a:p>
        </p:txBody>
      </p:sp>
      <p:sp>
        <p:nvSpPr>
          <p:cNvPr id="20" name="Shape 18"/>
          <p:cNvSpPr/>
          <p:nvPr/>
        </p:nvSpPr>
        <p:spPr>
          <a:xfrm>
            <a:off x="7406640" y="1691640"/>
            <a:ext cx="4236415" cy="3886200"/>
          </a:xfrm>
          <a:prstGeom prst="roundRect">
            <a:avLst>
              <a:gd name="adj" fmla="val 2353"/>
            </a:avLst>
          </a:prstGeom>
          <a:solidFill>
            <a:schemeClr val="tx2"/>
          </a:solidFill>
          <a:ln w="12700">
            <a:solidFill>
              <a:schemeClr val="tx2"/>
            </a:solidFill>
            <a:prstDash val="solid"/>
          </a:ln>
        </p:spPr>
      </p:sp>
      <p:sp>
        <p:nvSpPr>
          <p:cNvPr id="21" name="Text 19"/>
          <p:cNvSpPr txBox="1"/>
          <p:nvPr/>
        </p:nvSpPr>
        <p:spPr>
          <a:xfrm>
            <a:off x="7680960" y="1892808"/>
            <a:ext cx="3687775" cy="365760"/>
          </a:xfrm>
          <a:prstGeom prst="rect">
            <a:avLst/>
          </a:prstGeom>
          <a:noFill/>
          <a:ln/>
        </p:spPr>
        <p:txBody>
          <a:bodyPr wrap="square" lIns="0" tIns="0" rIns="0" bIns="0" rtlCol="0" anchor="t"/>
          <a:lstStyle/>
          <a:p>
            <a:pPr indent="0" marL="0">
              <a:buNone/>
            </a:pPr>
            <a:r>
              <a:rPr lang="en-US" sz="1600" b="1" dirty="0">
                <a:solidFill>
                  <a:schemeClr val="bg2"/>
                </a:solidFill>
              </a:rPr>
              <a:t>bio_report 예시</a:t>
            </a:r>
            <a:endParaRPr lang="en-US" sz="1600" dirty="0"/>
          </a:p>
        </p:txBody>
      </p:sp>
      <p:sp>
        <p:nvSpPr>
          <p:cNvPr id="22" name="Text 20"/>
          <p:cNvSpPr txBox="1"/>
          <p:nvPr/>
        </p:nvSpPr>
        <p:spPr>
          <a:xfrm>
            <a:off x="7680960" y="2286000"/>
            <a:ext cx="3687775" cy="320040"/>
          </a:xfrm>
          <a:prstGeom prst="rect">
            <a:avLst/>
          </a:prstGeom>
          <a:noFill/>
          <a:ln/>
        </p:spPr>
        <p:txBody>
          <a:bodyPr wrap="square" lIns="0" tIns="0" rIns="0" bIns="0" rtlCol="0" anchor="t"/>
          <a:lstStyle/>
          <a:p>
            <a:pPr indent="0" marL="0">
              <a:buNone/>
            </a:pPr>
            <a:r>
              <a:rPr lang="en-US" sz="1200" dirty="0">
                <a:solidFill>
                  <a:srgbClr val="9FC2B9"/>
                </a:solidFill>
              </a:rPr>
              <a:t>1995-03-15생 · 기준일 2026-10-01</a:t>
            </a:r>
            <a:endParaRPr lang="en-US" sz="1200" dirty="0"/>
          </a:p>
        </p:txBody>
      </p:sp>
      <p:sp>
        <p:nvSpPr>
          <p:cNvPr id="23" name="Text 21"/>
          <p:cNvSpPr txBox="1"/>
          <p:nvPr/>
        </p:nvSpPr>
        <p:spPr>
          <a:xfrm>
            <a:off x="7680960" y="2743200"/>
            <a:ext cx="3687775" cy="2651760"/>
          </a:xfrm>
          <a:prstGeom prst="rect">
            <a:avLst/>
          </a:prstGeom>
          <a:noFill/>
          <a:ln/>
        </p:spPr>
        <p:txBody>
          <a:bodyPr wrap="square" lIns="0" tIns="0" rIns="0" bIns="0" rtlCol="0" anchor="t"/>
          <a:lstStyle/>
          <a:p>
            <a:pPr indent="0" marL="0">
              <a:spcAft>
                <a:spcPts val="800"/>
              </a:spcAft>
              <a:buNone/>
            </a:pPr>
            <a:r>
              <a:rPr lang="en-US" sz="1300" dirty="0">
                <a:solidFill>
                  <a:srgbClr val="E6EFEC"/>
                </a:solidFill>
              </a:rPr>
              <a:t>[본인] 태어난 지 11,523일째</a:t>
            </a:r>
            <a:endParaRPr lang="en-US" sz="1300" dirty="0"/>
          </a:p>
          <a:p>
            <a:pPr indent="0" marL="0">
              <a:spcAft>
                <a:spcPts val="800"/>
              </a:spcAft>
              <a:buNone/>
            </a:pPr>
            <a:r>
              <a:rPr lang="en-US" sz="1300" dirty="0">
                <a:solidFill>
                  <a:srgbClr val="E6EFEC"/>
                </a:solidFill>
              </a:rPr>
              <a:t>신체(23일): +0 · 중간 · 내일 상승 [위험일]</a:t>
            </a:r>
            <a:endParaRPr lang="en-US" sz="1300" dirty="0"/>
          </a:p>
          <a:p>
            <a:pPr indent="0" marL="0">
              <a:spcAft>
                <a:spcPts val="800"/>
              </a:spcAft>
              <a:buNone/>
            </a:pPr>
            <a:r>
              <a:rPr lang="en-US" sz="1300" dirty="0">
                <a:solidFill>
                  <a:srgbClr val="E6EFEC"/>
                </a:solidFill>
              </a:rPr>
              <a:t>감성(28일): -22 · 보통 이하 · 내일 하강</a:t>
            </a:r>
            <a:endParaRPr lang="en-US" sz="1300" dirty="0"/>
          </a:p>
          <a:p>
            <a:pPr indent="0" marL="0">
              <a:spcAft>
                <a:spcPts val="800"/>
              </a:spcAft>
              <a:buNone/>
            </a:pPr>
            <a:r>
              <a:rPr lang="en-US" sz="1300" dirty="0">
                <a:solidFill>
                  <a:srgbClr val="E6EFEC"/>
                </a:solidFill>
              </a:rPr>
              <a:t>지성(33일): +91 · 높음 · 내일 상승</a:t>
            </a:r>
            <a:endParaRPr lang="en-US" sz="1300" dirty="0"/>
          </a:p>
          <a:p>
            <a:pPr indent="0" marL="0">
              <a:spcAft>
                <a:spcPts val="800"/>
              </a:spcAft>
              <a:buNone/>
            </a:pPr>
            <a:r>
              <a:rPr lang="en-US" sz="1300" dirty="0">
                <a:solidFill>
                  <a:srgbClr val="E6EFEC"/>
                </a:solidFill>
              </a:rPr>
              <a:t>종합 지수: +23 · 별점 ★★★★☆</a:t>
            </a:r>
            <a:endParaRPr lang="en-US" sz="1300" dirty="0"/>
          </a:p>
          <a:p>
            <a:pPr indent="0" marL="0">
              <a:spcAft>
                <a:spcPts val="800"/>
              </a:spcAft>
              <a:buNone/>
            </a:pPr>
            <a:r>
              <a:rPr lang="en-US" sz="1300" dirty="0">
                <a:solidFill>
                  <a:srgbClr val="9FC2B9"/>
                </a:solidFill>
              </a:rPr>
              <a:t>+ 향후 7일 흐름, 가장 좋은 날 / 주의할 날</a:t>
            </a:r>
            <a:endParaRPr lang="en-US" sz="13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workflow.py · 설정값</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코드를 몰라도 값만 바꾸면 되는 곳</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6436"/>
                <a:gridCol w="1996995"/>
                <a:gridCol w="5990984"/>
              </a:tblGrid>
              <a:tr h="384048">
                <a:tc>
                  <a:txBody>
                    <a:bodyPr/>
                    <a:lstStyle/>
                    <a:p>
                      <a:pPr indent="0" marL="0">
                        <a:buNone/>
                      </a:pPr>
                      <a:r>
                        <a:rPr lang="en-US" sz="1400" b="1" dirty="0">
                          <a:solidFill>
                            <a:schemeClr val="bg2"/>
                          </a:solidFill>
                        </a:rPr>
                        <a:t>이름</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기본값</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언제 바꾸나</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TEAM_INFO</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화면에 보이는 조 이름·설명·예시 질문</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CYCLES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23·28·33일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리듬 종류를 추가하거나 바꿀 때</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TASK_NODES, TASK_LABELS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기능 5개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기능을 추가할 때 (노드와 함께)</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FORECAST_DAYS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7일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앞으로 며칠 흐름을 보여줄지</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HISTORY_TURNS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6개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이전 대화를 몇 개까지 LLM 에 보낼지</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temperature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0.0 ~ 0.8</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답변 다양성. 의도 분석 0.0, 해설 0.4, 운세 0.8</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r>
            </a:tbl>
          </a:graphicData>
        </a:graphic>
      </p:graphicFrame>
      <p:sp>
        <p:nvSpPr>
          <p:cNvPr id="5" name="Text 2"/>
          <p:cNvSpPr txBox="1"/>
          <p:nvPr/>
        </p:nvSpPr>
        <p:spPr>
          <a:xfrm>
            <a:off x="548640" y="484632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temperature 는 각 노드 함수 안에 있습니다. 운세가 매번 비슷하면 올리고, 해설이 들쭉날쭉하면 내립니다.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prompts.py</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LLM 에게 주는 지시문 9개</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328325"/>
                <a:gridCol w="2440771"/>
                <a:gridCol w="5325319"/>
              </a:tblGrid>
              <a:tr h="365760">
                <a:tc>
                  <a:txBody>
                    <a:bodyPr/>
                    <a:lstStyle/>
                    <a:p>
                      <a:pPr indent="0" marL="0">
                        <a:buNone/>
                      </a:pPr>
                      <a:r>
                        <a:rPr lang="en-US" sz="1300" b="1" dirty="0">
                          <a:solidFill>
                            <a:schemeClr val="bg2"/>
                          </a:solidFill>
                        </a:rPr>
                        <a:t>변수</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쓰는 노드</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핵심 지시</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tx1"/>
                          </a:solidFill>
                        </a:rPr>
                        <a:t>COMMON_RULES</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해설 노드 5개 공통</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c>
                  <a:txBody>
                    <a:bodyPr/>
                    <a:lstStyle/>
                    <a:p>
                      <a:pPr indent="0" marL="0">
                        <a:buNone/>
                      </a:pPr>
                      <a:r>
                        <a:rPr lang="en-US" sz="1300" dirty="0">
                          <a:solidFill>
                            <a:schemeClr val="tx1"/>
                          </a:solidFill>
                        </a:rPr>
                        <a:t>수치는 계산 결과만 인용, 위험일로 겁주지 않기, 재미용 지표</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accent5"/>
                    </a:solidFill>
                  </a:tcPr>
                </a:tc>
              </a:tr>
              <a:tr h="365760">
                <a:tc>
                  <a:txBody>
                    <a:bodyPr/>
                    <a:lstStyle/>
                    <a:p>
                      <a:pPr indent="0" marL="0">
                        <a:buNone/>
                      </a:pPr>
                      <a:r>
                        <a:rPr lang="en-US" sz="1300" dirty="0">
                          <a:solidFill>
                            <a:schemeClr val="tx1"/>
                          </a:solidFill>
                        </a:rPr>
                        <a:t>ANALYZE_INTENT_SYSTEM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analyze_intent</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JSON 으로만: 의도, 기능, 생년월일, 기준 날짜</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65760">
                <a:tc>
                  <a:txBody>
                    <a:bodyPr/>
                    <a:lstStyle/>
                    <a:p>
                      <a:pPr indent="0" marL="0">
                        <a:buNone/>
                      </a:pPr>
                      <a:r>
                        <a:rPr lang="en-US" sz="1300" dirty="0">
                          <a:solidFill>
                            <a:schemeClr val="tx1"/>
                          </a:solidFill>
                        </a:rPr>
                        <a:t>ASK_CLARIFY_SYSTEM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ask_clarify</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최대 2가지만, 입력 예시와 함께 되묻기</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65760">
                <a:tc>
                  <a:txBody>
                    <a:bodyPr/>
                    <a:lstStyle/>
                    <a:p>
                      <a:pPr indent="0" marL="0">
                        <a:buNone/>
                      </a:pPr>
                      <a:r>
                        <a:rPr lang="en-US" sz="1300" dirty="0">
                          <a:solidFill>
                            <a:schemeClr val="tx1"/>
                          </a:solidFill>
                        </a:rPr>
                        <a:t>EXPLAIN_SYSTEM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explain_biorhythm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한 줄 요약 → 세 리듬 → 7일 중 좋은/주의 날</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65760">
                <a:tc>
                  <a:txBody>
                    <a:bodyPr/>
                    <a:lstStyle/>
                    <a:p>
                      <a:pPr indent="0" marL="0">
                        <a:buNone/>
                      </a:pPr>
                      <a:r>
                        <a:rPr lang="en-US" sz="1300" dirty="0">
                          <a:solidFill>
                            <a:schemeClr val="tx1"/>
                          </a:solidFill>
                        </a:rPr>
                        <a:t>COMPATIBILITY_SYSTEM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compatibility</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고정 궁합과 오늘 리듬 구분, 부정적 단정 금지</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65760">
                <a:tc>
                  <a:txBody>
                    <a:bodyPr/>
                    <a:lstStyle/>
                    <a:p>
                      <a:pPr indent="0" marL="0">
                        <a:buNone/>
                      </a:pPr>
                      <a:r>
                        <a:rPr lang="en-US" sz="1300" dirty="0">
                          <a:solidFill>
                            <a:schemeClr val="tx1"/>
                          </a:solidFill>
                        </a:rPr>
                        <a:t>FORTUNE_SYSTEM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fortune</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별점 그대로, 리듬별 운세, 행운 포인트</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65760">
                <a:tc>
                  <a:txBody>
                    <a:bodyPr/>
                    <a:lstStyle/>
                    <a:p>
                      <a:pPr indent="0" marL="0">
                        <a:buNone/>
                      </a:pPr>
                      <a:r>
                        <a:rPr lang="en-US" sz="1300" dirty="0">
                          <a:solidFill>
                            <a:schemeClr val="tx1"/>
                          </a:solidFill>
                        </a:rPr>
                        <a:t>ADVICE_SYSTEM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advice</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바로 실천할 행동 3가지 + 조심할 것</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65760">
                <a:tc>
                  <a:txBody>
                    <a:bodyPr/>
                    <a:lstStyle/>
                    <a:p>
                      <a:pPr indent="0" marL="0">
                        <a:buNone/>
                      </a:pPr>
                      <a:r>
                        <a:rPr lang="en-US" sz="1300" dirty="0">
                          <a:solidFill>
                            <a:schemeClr val="tx1"/>
                          </a:solidFill>
                        </a:rPr>
                        <a:t>EXERCISE_SYSTEM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exercise</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신체 수치 구간별 강도 기준, 통증 시 전문가 상담</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r h="365760">
                <a:tc>
                  <a:txBody>
                    <a:bodyPr/>
                    <a:lstStyle/>
                    <a:p>
                      <a:pPr indent="0" marL="0">
                        <a:buNone/>
                      </a:pPr>
                      <a:r>
                        <a:rPr lang="en-US" sz="1300" dirty="0">
                          <a:solidFill>
                            <a:schemeClr val="tx1"/>
                          </a:solidFill>
                        </a:rPr>
                        <a:t>FOLLOW_UP_SYSTEM</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answer_follow_up</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c>
                  <a:txBody>
                    <a:bodyPr/>
                    <a:lstStyle/>
                    <a:p>
                      <a:pPr indent="0" marL="0">
                        <a:buNone/>
                      </a:pPr>
                      <a:r>
                        <a:rPr lang="en-US" sz="1300" dirty="0">
                          <a:solidFill>
                            <a:schemeClr val="tx1"/>
                          </a:solidFill>
                        </a:rPr>
                        <a:t>생년월일 다시 묻지 않기, 5문장 이내</a:t>
                      </a:r>
                      <a:endParaRPr lang="en-US" sz="13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6F5F1"/>
                    </a:solidFill>
                  </a:tcPr>
                </a:tc>
              </a:tr>
            </a:tbl>
          </a:graphicData>
        </a:graphic>
      </p:graphicFrame>
      <p:sp>
        <p:nvSpPr>
          <p:cNvPr id="5" name="Text 2"/>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답변이 이상하면 여기 문구만 고칩니다. 고치면 README 2장의 최종 프롬프트도 같이 바꿉니다.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나머지 파일</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requirements.txt · README.md · screenshots/</a:t>
            </a:r>
            <a:endParaRPr lang="en-US" sz="3000" dirty="0"/>
          </a:p>
        </p:txBody>
      </p:sp>
      <p:sp>
        <p:nvSpPr>
          <p:cNvPr id="4" name="Shape 2"/>
          <p:cNvSpPr/>
          <p:nvPr/>
        </p:nvSpPr>
        <p:spPr>
          <a:xfrm>
            <a:off x="548640" y="1691640"/>
            <a:ext cx="3515258" cy="4023360"/>
          </a:xfrm>
          <a:prstGeom prst="roundRect">
            <a:avLst>
              <a:gd name="adj" fmla="val 2601"/>
            </a:avLst>
          </a:prstGeom>
          <a:solidFill>
            <a:srgbClr val="FDFCF9"/>
          </a:solidFill>
          <a:ln w="12700">
            <a:solidFill>
              <a:srgbClr val="DDD8CC"/>
            </a:solidFill>
            <a:prstDash val="solid"/>
          </a:ln>
        </p:spPr>
      </p:sp>
      <p:sp>
        <p:nvSpPr>
          <p:cNvPr id="5" name="Text 3"/>
          <p:cNvSpPr txBox="1"/>
          <p:nvPr/>
        </p:nvSpPr>
        <p:spPr>
          <a:xfrm>
            <a:off x="822960" y="1920240"/>
            <a:ext cx="2966618" cy="411480"/>
          </a:xfrm>
          <a:prstGeom prst="rect">
            <a:avLst/>
          </a:prstGeom>
          <a:noFill/>
          <a:ln/>
        </p:spPr>
        <p:txBody>
          <a:bodyPr wrap="square" lIns="0" tIns="0" rIns="0" bIns="0" rtlCol="0" anchor="t"/>
          <a:lstStyle/>
          <a:p>
            <a:pPr indent="0" marL="0">
              <a:buNone/>
            </a:pPr>
            <a:r>
              <a:rPr lang="en-US" sz="1800" b="1" dirty="0">
                <a:solidFill>
                  <a:schemeClr val="tx2"/>
                </a:solidFill>
              </a:rPr>
              <a:t>requirements.txt</a:t>
            </a:r>
            <a:endParaRPr lang="en-US" sz="1800" dirty="0"/>
          </a:p>
        </p:txBody>
      </p:sp>
      <p:sp>
        <p:nvSpPr>
          <p:cNvPr id="6" name="Text 4"/>
          <p:cNvSpPr txBox="1"/>
          <p:nvPr/>
        </p:nvSpPr>
        <p:spPr>
          <a:xfrm>
            <a:off x="822960" y="2377440"/>
            <a:ext cx="2966618" cy="320040"/>
          </a:xfrm>
          <a:prstGeom prst="rect">
            <a:avLst/>
          </a:prstGeom>
          <a:noFill/>
          <a:ln/>
        </p:spPr>
        <p:txBody>
          <a:bodyPr wrap="square" lIns="0" tIns="0" rIns="0" bIns="0" rtlCol="0" anchor="t"/>
          <a:lstStyle/>
          <a:p>
            <a:pPr indent="0" marL="0">
              <a:buNone/>
            </a:pPr>
            <a:r>
              <a:rPr lang="en-US" sz="1300" b="1" dirty="0">
                <a:solidFill>
                  <a:schemeClr val="accent1"/>
                </a:solidFill>
              </a:rPr>
              <a:t>설치할 파이썬 패키지 목록</a:t>
            </a:r>
            <a:endParaRPr lang="en-US" sz="1300" dirty="0"/>
          </a:p>
        </p:txBody>
      </p:sp>
      <p:sp>
        <p:nvSpPr>
          <p:cNvPr id="7" name="Text 5"/>
          <p:cNvSpPr txBox="1"/>
          <p:nvPr/>
        </p:nvSpPr>
        <p:spPr>
          <a:xfrm>
            <a:off x="822960" y="2834640"/>
            <a:ext cx="2966618"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위쪽: 공용 패키지 9개 (수정 금지)</a:t>
            </a:r>
            <a:endParaRPr lang="en-US" sz="1400" dirty="0"/>
          </a:p>
          <a:p>
            <a:pPr marL="342900" indent="-342900">
              <a:spcAft>
                <a:spcPts val="600"/>
              </a:spcAft>
              <a:buSzPct val="100000"/>
              <a:buChar char="•"/>
            </a:pPr>
            <a:r>
              <a:rPr lang="en-US" sz="1300" dirty="0">
                <a:solidFill>
                  <a:schemeClr val="tx1"/>
                </a:solidFill>
              </a:rPr>
              <a:t>아래쪽: 조별 추가 구역</a:t>
            </a:r>
            <a:endParaRPr lang="en-US" sz="1400" dirty="0"/>
          </a:p>
          <a:p>
            <a:pPr marL="342900" indent="-342900">
              <a:spcAft>
                <a:spcPts val="600"/>
              </a:spcAft>
              <a:buSzPct val="100000"/>
              <a:buChar char="•"/>
            </a:pPr>
            <a:r>
              <a:rPr lang="en-US" sz="1300" dirty="0">
                <a:solidFill>
                  <a:schemeClr val="tx1"/>
                </a:solidFill>
              </a:rPr>
              <a:t>우리 조는 추가 없음</a:t>
            </a:r>
            <a:endParaRPr lang="en-US" sz="1400" dirty="0"/>
          </a:p>
          <a:p>
            <a:pPr marL="342900" indent="-342900">
              <a:spcAft>
                <a:spcPts val="600"/>
              </a:spcAft>
              <a:buSzPct val="100000"/>
              <a:buChar char="•"/>
            </a:pPr>
            <a:r>
              <a:rPr lang="en-US" sz="1300" dirty="0">
                <a:solidFill>
                  <a:schemeClr val="tx1"/>
                </a:solidFill>
              </a:rPr>
              <a:t>계산은 math, datetime 같은 기본 라이브러리만 사용</a:t>
            </a:r>
            <a:endParaRPr lang="en-US" sz="1400" dirty="0"/>
          </a:p>
        </p:txBody>
      </p:sp>
      <p:sp>
        <p:nvSpPr>
          <p:cNvPr id="8" name="Shape 6"/>
          <p:cNvSpPr/>
          <p:nvPr/>
        </p:nvSpPr>
        <p:spPr>
          <a:xfrm>
            <a:off x="4338218" y="1691640"/>
            <a:ext cx="3515258" cy="4023360"/>
          </a:xfrm>
          <a:prstGeom prst="roundRect">
            <a:avLst>
              <a:gd name="adj" fmla="val 2601"/>
            </a:avLst>
          </a:prstGeom>
          <a:solidFill>
            <a:srgbClr val="FDFCF9"/>
          </a:solidFill>
          <a:ln w="12700">
            <a:solidFill>
              <a:srgbClr val="DDD8CC"/>
            </a:solidFill>
            <a:prstDash val="solid"/>
          </a:ln>
        </p:spPr>
      </p:sp>
      <p:sp>
        <p:nvSpPr>
          <p:cNvPr id="9" name="Text 7"/>
          <p:cNvSpPr txBox="1"/>
          <p:nvPr/>
        </p:nvSpPr>
        <p:spPr>
          <a:xfrm>
            <a:off x="4612538" y="1920240"/>
            <a:ext cx="2966618" cy="411480"/>
          </a:xfrm>
          <a:prstGeom prst="rect">
            <a:avLst/>
          </a:prstGeom>
          <a:noFill/>
          <a:ln/>
        </p:spPr>
        <p:txBody>
          <a:bodyPr wrap="square" lIns="0" tIns="0" rIns="0" bIns="0" rtlCol="0" anchor="t"/>
          <a:lstStyle/>
          <a:p>
            <a:pPr indent="0" marL="0">
              <a:buNone/>
            </a:pPr>
            <a:r>
              <a:rPr lang="en-US" sz="1800" b="1" dirty="0">
                <a:solidFill>
                  <a:schemeClr val="tx2"/>
                </a:solidFill>
              </a:rPr>
              <a:t>README.md</a:t>
            </a:r>
            <a:endParaRPr lang="en-US" sz="1800" dirty="0"/>
          </a:p>
        </p:txBody>
      </p:sp>
      <p:sp>
        <p:nvSpPr>
          <p:cNvPr id="10" name="Text 8"/>
          <p:cNvSpPr txBox="1"/>
          <p:nvPr/>
        </p:nvSpPr>
        <p:spPr>
          <a:xfrm>
            <a:off x="4612538" y="2377440"/>
            <a:ext cx="2966618" cy="320040"/>
          </a:xfrm>
          <a:prstGeom prst="rect">
            <a:avLst/>
          </a:prstGeom>
          <a:noFill/>
          <a:ln/>
        </p:spPr>
        <p:txBody>
          <a:bodyPr wrap="square" lIns="0" tIns="0" rIns="0" bIns="0" rtlCol="0" anchor="t"/>
          <a:lstStyle/>
          <a:p>
            <a:pPr indent="0" marL="0">
              <a:buNone/>
            </a:pPr>
            <a:r>
              <a:rPr lang="en-US" sz="1300" b="1" dirty="0">
                <a:solidFill>
                  <a:schemeClr val="accent1"/>
                </a:solidFill>
              </a:rPr>
              <a:t>평가받는 제출 문서</a:t>
            </a:r>
            <a:endParaRPr lang="en-US" sz="1300" dirty="0"/>
          </a:p>
        </p:txBody>
      </p:sp>
      <p:sp>
        <p:nvSpPr>
          <p:cNvPr id="11" name="Text 9"/>
          <p:cNvSpPr txBox="1"/>
          <p:nvPr/>
        </p:nvSpPr>
        <p:spPr>
          <a:xfrm>
            <a:off x="4612538" y="2834640"/>
            <a:ext cx="2966618"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1장: State·노드·엣지·다이어그램·설계 이유</a:t>
            </a:r>
            <a:endParaRPr lang="en-US" sz="1400" dirty="0"/>
          </a:p>
          <a:p>
            <a:pPr marL="342900" indent="-342900">
              <a:spcAft>
                <a:spcPts val="600"/>
              </a:spcAft>
              <a:buSzPct val="100000"/>
              <a:buChar char="•"/>
            </a:pPr>
            <a:r>
              <a:rPr lang="en-US" sz="1300" dirty="0">
                <a:solidFill>
                  <a:schemeClr val="tx1"/>
                </a:solidFill>
              </a:rPr>
              <a:t>2장: 공통 규칙 + 노드 8개의 프롬프트, 개선 전→후</a:t>
            </a:r>
            <a:endParaRPr lang="en-US" sz="1400" dirty="0"/>
          </a:p>
          <a:p>
            <a:pPr marL="342900" indent="-342900">
              <a:spcAft>
                <a:spcPts val="600"/>
              </a:spcAft>
              <a:buSzPct val="100000"/>
              <a:buChar char="•"/>
            </a:pPr>
            <a:r>
              <a:rPr lang="en-US" sz="1300" dirty="0">
                <a:solidFill>
                  <a:schemeClr val="tx1"/>
                </a:solidFill>
              </a:rPr>
              <a:t>3장: 실행 캡처, 회고</a:t>
            </a:r>
            <a:endParaRPr lang="en-US" sz="1400" dirty="0"/>
          </a:p>
          <a:p>
            <a:pPr marL="342900" indent="-342900">
              <a:spcAft>
                <a:spcPts val="600"/>
              </a:spcAft>
              <a:buSzPct val="100000"/>
              <a:buChar char="•"/>
            </a:pPr>
            <a:r>
              <a:rPr lang="en-US" sz="1300" dirty="0">
                <a:solidFill>
                  <a:schemeClr val="tx1"/>
                </a:solidFill>
              </a:rPr>
              <a:t>회의 기록 2건</a:t>
            </a:r>
            <a:endParaRPr lang="en-US" sz="1400" dirty="0"/>
          </a:p>
        </p:txBody>
      </p:sp>
      <p:sp>
        <p:nvSpPr>
          <p:cNvPr id="12" name="Shape 10"/>
          <p:cNvSpPr/>
          <p:nvPr/>
        </p:nvSpPr>
        <p:spPr>
          <a:xfrm>
            <a:off x="8127797" y="1691640"/>
            <a:ext cx="3515258" cy="4023360"/>
          </a:xfrm>
          <a:prstGeom prst="roundRect">
            <a:avLst>
              <a:gd name="adj" fmla="val 2601"/>
            </a:avLst>
          </a:prstGeom>
          <a:solidFill>
            <a:srgbClr val="FDFCF9"/>
          </a:solidFill>
          <a:ln w="12700">
            <a:solidFill>
              <a:srgbClr val="DDD8CC"/>
            </a:solidFill>
            <a:prstDash val="solid"/>
          </a:ln>
        </p:spPr>
      </p:sp>
      <p:sp>
        <p:nvSpPr>
          <p:cNvPr id="13" name="Text 11"/>
          <p:cNvSpPr txBox="1"/>
          <p:nvPr/>
        </p:nvSpPr>
        <p:spPr>
          <a:xfrm>
            <a:off x="8402117" y="1920240"/>
            <a:ext cx="2966618" cy="411480"/>
          </a:xfrm>
          <a:prstGeom prst="rect">
            <a:avLst/>
          </a:prstGeom>
          <a:noFill/>
          <a:ln/>
        </p:spPr>
        <p:txBody>
          <a:bodyPr wrap="square" lIns="0" tIns="0" rIns="0" bIns="0" rtlCol="0" anchor="t"/>
          <a:lstStyle/>
          <a:p>
            <a:pPr indent="0" marL="0">
              <a:buNone/>
            </a:pPr>
            <a:r>
              <a:rPr lang="en-US" sz="1800" b="1" dirty="0">
                <a:solidFill>
                  <a:schemeClr val="tx2"/>
                </a:solidFill>
              </a:rPr>
              <a:t>screenshots/</a:t>
            </a:r>
            <a:endParaRPr lang="en-US" sz="1800" dirty="0"/>
          </a:p>
        </p:txBody>
      </p:sp>
      <p:sp>
        <p:nvSpPr>
          <p:cNvPr id="14" name="Text 12"/>
          <p:cNvSpPr txBox="1"/>
          <p:nvPr/>
        </p:nvSpPr>
        <p:spPr>
          <a:xfrm>
            <a:off x="8402117" y="2377440"/>
            <a:ext cx="2966618" cy="320040"/>
          </a:xfrm>
          <a:prstGeom prst="rect">
            <a:avLst/>
          </a:prstGeom>
          <a:noFill/>
          <a:ln/>
        </p:spPr>
        <p:txBody>
          <a:bodyPr wrap="square" lIns="0" tIns="0" rIns="0" bIns="0" rtlCol="0" anchor="t"/>
          <a:lstStyle/>
          <a:p>
            <a:pPr indent="0" marL="0">
              <a:buNone/>
            </a:pPr>
            <a:r>
              <a:rPr lang="en-US" sz="1300" b="1" dirty="0">
                <a:solidFill>
                  <a:schemeClr val="accent1"/>
                </a:solidFill>
              </a:rPr>
              <a:t>실행 캡처를 넣는 폴더</a:t>
            </a:r>
            <a:endParaRPr lang="en-US" sz="1300" dirty="0"/>
          </a:p>
        </p:txBody>
      </p:sp>
      <p:sp>
        <p:nvSpPr>
          <p:cNvPr id="15" name="Text 13"/>
          <p:cNvSpPr txBox="1"/>
          <p:nvPr/>
        </p:nvSpPr>
        <p:spPr>
          <a:xfrm>
            <a:off x="8402117" y="2834640"/>
            <a:ext cx="2966618"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case1~3.png 로 저장</a:t>
            </a:r>
            <a:endParaRPr lang="en-US" sz="1400" dirty="0"/>
          </a:p>
          <a:p>
            <a:pPr marL="342900" indent="-342900">
              <a:spcAft>
                <a:spcPts val="600"/>
              </a:spcAft>
              <a:buSzPct val="100000"/>
              <a:buChar char="•"/>
            </a:pPr>
            <a:r>
              <a:rPr lang="en-US" sz="1300" dirty="0">
                <a:solidFill>
                  <a:schemeClr val="tx1"/>
                </a:solidFill>
              </a:rPr>
              <a:t>답변과 실행 노드 배지가 함께 보이게</a:t>
            </a:r>
            <a:endParaRPr lang="en-US" sz="1400" dirty="0"/>
          </a:p>
          <a:p>
            <a:pPr marL="342900" indent="-342900">
              <a:spcAft>
                <a:spcPts val="600"/>
              </a:spcAft>
              <a:buSzPct val="100000"/>
              <a:buChar char="•"/>
            </a:pPr>
            <a:r>
              <a:rPr lang="en-US" sz="1300" dirty="0">
                <a:solidFill>
                  <a:schemeClr val="tx1"/>
                </a:solidFill>
              </a:rPr>
              <a:t>캡처 없이는 실행 확인으로 인정 안 됨</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rgbClr val="7FD1BE"/>
                </a:solidFill>
              </a:rPr>
              <a:t>시연 포인트</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bg2"/>
                </a:solidFill>
              </a:rPr>
              <a:t>질문별로 실행되는 노드</a:t>
            </a:r>
            <a:endParaRPr lang="en-US" sz="3000" dirty="0"/>
          </a:p>
        </p:txBody>
      </p:sp>
      <p:sp>
        <p:nvSpPr>
          <p:cNvPr id="4" name="Text 2"/>
          <p:cNvSpPr txBox="1"/>
          <p:nvPr/>
        </p:nvSpPr>
        <p:spPr>
          <a:xfrm>
            <a:off x="548640" y="1737360"/>
            <a:ext cx="7863840" cy="457200"/>
          </a:xfrm>
          <a:prstGeom prst="rect">
            <a:avLst/>
          </a:prstGeom>
          <a:noFill/>
          <a:ln/>
        </p:spPr>
        <p:txBody>
          <a:bodyPr wrap="square" lIns="0" tIns="0" rIns="0" bIns="0" rtlCol="0" anchor="ctr"/>
          <a:lstStyle/>
          <a:p>
            <a:pPr indent="0" marL="0">
              <a:buNone/>
            </a:pPr>
            <a:r>
              <a:rPr lang="en-US" sz="1500" dirty="0">
                <a:solidFill>
                  <a:schemeClr val="bg2"/>
                </a:solidFill>
              </a:rPr>
              <a:t>"1995년 3월 15일생인데 오늘 내 바이오리듬 어때?"</a:t>
            </a:r>
            <a:endParaRPr lang="en-US" sz="1500" dirty="0"/>
          </a:p>
        </p:txBody>
      </p:sp>
      <p:sp>
        <p:nvSpPr>
          <p:cNvPr id="5" name="Shape 3"/>
          <p:cNvSpPr/>
          <p:nvPr/>
        </p:nvSpPr>
        <p:spPr>
          <a:xfrm>
            <a:off x="8595360" y="1773936"/>
            <a:ext cx="3047695" cy="384048"/>
          </a:xfrm>
          <a:prstGeom prst="roundRect">
            <a:avLst>
              <a:gd name="adj" fmla="val 19048"/>
            </a:avLst>
          </a:prstGeom>
          <a:solidFill>
            <a:srgbClr val="7FD1BE"/>
          </a:solidFill>
          <a:ln w="12700">
            <a:solidFill>
              <a:srgbClr val="7FD1BE"/>
            </a:solidFill>
            <a:prstDash val="solid"/>
          </a:ln>
        </p:spPr>
      </p:sp>
      <p:sp>
        <p:nvSpPr>
          <p:cNvPr id="6" name="Text 4"/>
          <p:cNvSpPr txBox="1"/>
          <p:nvPr/>
        </p:nvSpPr>
        <p:spPr>
          <a:xfrm>
            <a:off x="8595360" y="1773936"/>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explain_biorhythm</a:t>
            </a:r>
            <a:endParaRPr lang="en-US" sz="1200" dirty="0"/>
          </a:p>
        </p:txBody>
      </p:sp>
      <p:sp>
        <p:nvSpPr>
          <p:cNvPr id="7" name="Text 5"/>
          <p:cNvSpPr txBox="1"/>
          <p:nvPr/>
        </p:nvSpPr>
        <p:spPr>
          <a:xfrm>
            <a:off x="548640" y="2450592"/>
            <a:ext cx="7863840" cy="457200"/>
          </a:xfrm>
          <a:prstGeom prst="rect">
            <a:avLst/>
          </a:prstGeom>
          <a:noFill/>
          <a:ln/>
        </p:spPr>
        <p:txBody>
          <a:bodyPr wrap="square" lIns="0" tIns="0" rIns="0" bIns="0" rtlCol="0" anchor="ctr"/>
          <a:lstStyle/>
          <a:p>
            <a:pPr indent="0" marL="0">
              <a:buNone/>
            </a:pPr>
            <a:r>
              <a:rPr lang="en-US" sz="1500" dirty="0">
                <a:solidFill>
                  <a:schemeClr val="bg2"/>
                </a:solidFill>
              </a:rPr>
              <a:t>"나는 1993-07-02, 여자친구는 1995-11-20인데 궁합 봐줘"</a:t>
            </a:r>
            <a:endParaRPr lang="en-US" sz="1500" dirty="0"/>
          </a:p>
        </p:txBody>
      </p:sp>
      <p:sp>
        <p:nvSpPr>
          <p:cNvPr id="8" name="Shape 6"/>
          <p:cNvSpPr/>
          <p:nvPr/>
        </p:nvSpPr>
        <p:spPr>
          <a:xfrm>
            <a:off x="8595360" y="2487168"/>
            <a:ext cx="3047695" cy="384048"/>
          </a:xfrm>
          <a:prstGeom prst="roundRect">
            <a:avLst>
              <a:gd name="adj" fmla="val 19048"/>
            </a:avLst>
          </a:prstGeom>
          <a:solidFill>
            <a:srgbClr val="7FD1BE"/>
          </a:solidFill>
          <a:ln w="12700">
            <a:solidFill>
              <a:srgbClr val="7FD1BE"/>
            </a:solidFill>
            <a:prstDash val="solid"/>
          </a:ln>
        </p:spPr>
      </p:sp>
      <p:sp>
        <p:nvSpPr>
          <p:cNvPr id="9" name="Text 7"/>
          <p:cNvSpPr txBox="1"/>
          <p:nvPr/>
        </p:nvSpPr>
        <p:spPr>
          <a:xfrm>
            <a:off x="8595360" y="2487168"/>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compatibility</a:t>
            </a:r>
            <a:endParaRPr lang="en-US" sz="1200" dirty="0"/>
          </a:p>
        </p:txBody>
      </p:sp>
      <p:sp>
        <p:nvSpPr>
          <p:cNvPr id="10" name="Text 8"/>
          <p:cNvSpPr txBox="1"/>
          <p:nvPr/>
        </p:nvSpPr>
        <p:spPr>
          <a:xfrm>
            <a:off x="548640" y="3163824"/>
            <a:ext cx="7863840" cy="457200"/>
          </a:xfrm>
          <a:prstGeom prst="rect">
            <a:avLst/>
          </a:prstGeom>
          <a:noFill/>
          <a:ln/>
        </p:spPr>
        <p:txBody>
          <a:bodyPr wrap="square" lIns="0" tIns="0" rIns="0" bIns="0" rtlCol="0" anchor="ctr"/>
          <a:lstStyle/>
          <a:p>
            <a:pPr indent="0" marL="0">
              <a:buNone/>
            </a:pPr>
            <a:r>
              <a:rPr lang="en-US" sz="1500" dirty="0">
                <a:solidFill>
                  <a:schemeClr val="bg2"/>
                </a:solidFill>
              </a:rPr>
              <a:t>"92년 5월 8일생이야. 퇴근하고 무슨 운동 하면 좋을까?"</a:t>
            </a:r>
            <a:endParaRPr lang="en-US" sz="1500" dirty="0"/>
          </a:p>
        </p:txBody>
      </p:sp>
      <p:sp>
        <p:nvSpPr>
          <p:cNvPr id="11" name="Shape 9"/>
          <p:cNvSpPr/>
          <p:nvPr/>
        </p:nvSpPr>
        <p:spPr>
          <a:xfrm>
            <a:off x="8595360" y="3200400"/>
            <a:ext cx="3047695" cy="384048"/>
          </a:xfrm>
          <a:prstGeom prst="roundRect">
            <a:avLst>
              <a:gd name="adj" fmla="val 19048"/>
            </a:avLst>
          </a:prstGeom>
          <a:solidFill>
            <a:srgbClr val="7FD1BE"/>
          </a:solidFill>
          <a:ln w="12700">
            <a:solidFill>
              <a:srgbClr val="7FD1BE"/>
            </a:solidFill>
            <a:prstDash val="solid"/>
          </a:ln>
        </p:spPr>
      </p:sp>
      <p:sp>
        <p:nvSpPr>
          <p:cNvPr id="12" name="Text 10"/>
          <p:cNvSpPr txBox="1"/>
          <p:nvPr/>
        </p:nvSpPr>
        <p:spPr>
          <a:xfrm>
            <a:off x="8595360" y="3200400"/>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exercise</a:t>
            </a:r>
            <a:endParaRPr lang="en-US" sz="1200" dirty="0"/>
          </a:p>
        </p:txBody>
      </p:sp>
      <p:sp>
        <p:nvSpPr>
          <p:cNvPr id="13" name="Text 11"/>
          <p:cNvSpPr txBox="1"/>
          <p:nvPr/>
        </p:nvSpPr>
        <p:spPr>
          <a:xfrm>
            <a:off x="548640" y="3877056"/>
            <a:ext cx="7863840" cy="457200"/>
          </a:xfrm>
          <a:prstGeom prst="rect">
            <a:avLst/>
          </a:prstGeom>
          <a:noFill/>
          <a:ln/>
        </p:spPr>
        <p:txBody>
          <a:bodyPr wrap="square" lIns="0" tIns="0" rIns="0" bIns="0" rtlCol="0" anchor="ctr"/>
          <a:lstStyle/>
          <a:p>
            <a:pPr indent="0" marL="0">
              <a:buNone/>
            </a:pPr>
            <a:r>
              <a:rPr lang="en-US" sz="1500" dirty="0">
                <a:solidFill>
                  <a:schemeClr val="bg2"/>
                </a:solidFill>
              </a:rPr>
              <a:t>"오늘 운세 알려줘" (생년월일 없이) → 다음 턴 "95년 3월 15일"</a:t>
            </a:r>
            <a:endParaRPr lang="en-US" sz="1500" dirty="0"/>
          </a:p>
        </p:txBody>
      </p:sp>
      <p:sp>
        <p:nvSpPr>
          <p:cNvPr id="14" name="Shape 12"/>
          <p:cNvSpPr/>
          <p:nvPr/>
        </p:nvSpPr>
        <p:spPr>
          <a:xfrm>
            <a:off x="8595360" y="3913632"/>
            <a:ext cx="3047695" cy="384048"/>
          </a:xfrm>
          <a:prstGeom prst="roundRect">
            <a:avLst>
              <a:gd name="adj" fmla="val 19048"/>
            </a:avLst>
          </a:prstGeom>
          <a:solidFill>
            <a:srgbClr val="F0A35E"/>
          </a:solidFill>
          <a:ln w="12700">
            <a:solidFill>
              <a:srgbClr val="F0A35E"/>
            </a:solidFill>
            <a:prstDash val="solid"/>
          </a:ln>
        </p:spPr>
      </p:sp>
      <p:sp>
        <p:nvSpPr>
          <p:cNvPr id="15" name="Text 13"/>
          <p:cNvSpPr txBox="1"/>
          <p:nvPr/>
        </p:nvSpPr>
        <p:spPr>
          <a:xfrm>
            <a:off x="8595360" y="3913632"/>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ask_clarify → fortune</a:t>
            </a:r>
            <a:endParaRPr lang="en-US" sz="1200" dirty="0"/>
          </a:p>
        </p:txBody>
      </p:sp>
      <p:sp>
        <p:nvSpPr>
          <p:cNvPr id="16" name="Text 14"/>
          <p:cNvSpPr txBox="1"/>
          <p:nvPr/>
        </p:nvSpPr>
        <p:spPr>
          <a:xfrm>
            <a:off x="548640" y="4590288"/>
            <a:ext cx="7863840" cy="457200"/>
          </a:xfrm>
          <a:prstGeom prst="rect">
            <a:avLst/>
          </a:prstGeom>
          <a:noFill/>
          <a:ln/>
        </p:spPr>
        <p:txBody>
          <a:bodyPr wrap="square" lIns="0" tIns="0" rIns="0" bIns="0" rtlCol="0" anchor="ctr"/>
          <a:lstStyle/>
          <a:p>
            <a:pPr indent="0" marL="0">
              <a:buNone/>
            </a:pPr>
            <a:r>
              <a:rPr lang="en-US" sz="1500" dirty="0">
                <a:solidFill>
                  <a:schemeClr val="bg2"/>
                </a:solidFill>
              </a:rPr>
              <a:t>이어서 "위험일이 뭐야?"</a:t>
            </a:r>
            <a:endParaRPr lang="en-US" sz="1500" dirty="0"/>
          </a:p>
        </p:txBody>
      </p:sp>
      <p:sp>
        <p:nvSpPr>
          <p:cNvPr id="17" name="Shape 15"/>
          <p:cNvSpPr/>
          <p:nvPr/>
        </p:nvSpPr>
        <p:spPr>
          <a:xfrm>
            <a:off x="8595360" y="4626864"/>
            <a:ext cx="3047695" cy="384048"/>
          </a:xfrm>
          <a:prstGeom prst="roundRect">
            <a:avLst>
              <a:gd name="adj" fmla="val 19048"/>
            </a:avLst>
          </a:prstGeom>
          <a:solidFill>
            <a:srgbClr val="F0A35E"/>
          </a:solidFill>
          <a:ln w="12700">
            <a:solidFill>
              <a:srgbClr val="F0A35E"/>
            </a:solidFill>
            <a:prstDash val="solid"/>
          </a:ln>
        </p:spPr>
      </p:sp>
      <p:sp>
        <p:nvSpPr>
          <p:cNvPr id="18" name="Text 16"/>
          <p:cNvSpPr txBox="1"/>
          <p:nvPr/>
        </p:nvSpPr>
        <p:spPr>
          <a:xfrm>
            <a:off x="8595360" y="4626864"/>
            <a:ext cx="3047695" cy="384048"/>
          </a:xfrm>
          <a:prstGeom prst="rect">
            <a:avLst/>
          </a:prstGeom>
          <a:noFill/>
          <a:ln/>
        </p:spPr>
        <p:txBody>
          <a:bodyPr wrap="square" lIns="0" tIns="0" rIns="0" bIns="0" rtlCol="0" anchor="ctr"/>
          <a:lstStyle/>
          <a:p>
            <a:pPr algn="ctr" indent="0" marL="0">
              <a:buNone/>
            </a:pPr>
            <a:r>
              <a:rPr lang="en-US" sz="1200" b="1" dirty="0">
                <a:solidFill>
                  <a:schemeClr val="tx2"/>
                </a:solidFill>
                <a:latin typeface="Consolas" pitchFamily="34" charset="0"/>
                <a:ea typeface="Consolas" pitchFamily="34" charset="-122"/>
                <a:cs typeface="Consolas" pitchFamily="34" charset="-120"/>
              </a:rPr>
              <a:t>answer_follow_up</a:t>
            </a:r>
            <a:endParaRPr lang="en-US" sz="1200" dirty="0"/>
          </a:p>
        </p:txBody>
      </p:sp>
      <p:sp>
        <p:nvSpPr>
          <p:cNvPr id="19" name="Text 17"/>
          <p:cNvSpPr txBox="1"/>
          <p:nvPr/>
        </p:nvSpPr>
        <p:spPr>
          <a:xfrm>
            <a:off x="548640" y="5577840"/>
            <a:ext cx="11094415" cy="365760"/>
          </a:xfrm>
          <a:prstGeom prst="rect">
            <a:avLst/>
          </a:prstGeom>
          <a:noFill/>
          <a:ln/>
        </p:spPr>
        <p:txBody>
          <a:bodyPr wrap="square" lIns="0" tIns="0" rIns="0" bIns="0" rtlCol="0" anchor="t"/>
          <a:lstStyle/>
          <a:p>
            <a:pPr indent="0" marL="0">
              <a:buNone/>
            </a:pPr>
            <a:r>
              <a:rPr lang="en-US" sz="1400" dirty="0">
                <a:solidFill>
                  <a:srgbClr val="C6D8D3"/>
                </a:solidFill>
              </a:rPr>
              <a:t>위 세 줄은 README 예시 질문(캡처 대상), 아래 두 줄은 멀티턴 흐름 확인용입니다.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B0A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수정 가이드</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이걸 바꾸려면 어디를 고치나</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772101"/>
                <a:gridCol w="2884548"/>
                <a:gridCol w="4437766"/>
              </a:tblGrid>
              <a:tr h="384048">
                <a:tc>
                  <a:txBody>
                    <a:bodyPr/>
                    <a:lstStyle/>
                    <a:p>
                      <a:pPr indent="0" marL="0">
                        <a:buNone/>
                      </a:pPr>
                      <a:r>
                        <a:rPr lang="en-US" sz="1400" b="1" dirty="0">
                          <a:solidFill>
                            <a:schemeClr val="bg2"/>
                          </a:solidFill>
                        </a:rPr>
                        <a:t>하고 싶은 것</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파일</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2"/>
                          </a:solidFill>
                        </a:rPr>
                        <a:t>위치</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해설 말투·형식 바꾸기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해당 노드의 *_SYSTEM</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모든 해설의 공통 규칙</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COMMON_RULES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운동 강도 기준 바꾸기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prompts.py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EXERCISE_SYSTEM 의 강도 기준</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별점·궁합 계산 기준</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workflow.py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_stars(), compatibility_scores()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흐름 보여줄 기간</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workflow.py</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c>
                  <a:txBody>
                    <a:bodyPr/>
                    <a:lstStyle/>
                    <a:p>
                      <a:pPr indent="0" marL="0">
                        <a:buNone/>
                      </a:pPr>
                      <a:r>
                        <a:rPr lang="en-US" sz="1400" dirty="0">
                          <a:solidFill>
                            <a:schemeClr val="tx1"/>
                          </a:solidFill>
                        </a:rPr>
                        <a:t>FORECAST_DAYS</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DFCF9"/>
                    </a:solidFill>
                  </a:tcPr>
                </a:tc>
              </a:tr>
              <a:tr h="384048">
                <a:tc>
                  <a:txBody>
                    <a:bodyPr/>
                    <a:lstStyle/>
                    <a:p>
                      <a:pPr indent="0" marL="0">
                        <a:buNone/>
                      </a:pPr>
                      <a:r>
                        <a:rPr lang="en-US" sz="1400" dirty="0">
                          <a:solidFill>
                            <a:schemeClr val="tx1"/>
                          </a:solidFill>
                        </a:rPr>
                        <a:t>예시 질문 바꾸기</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workflow.py + README</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TEAM_INFO, README 맨 위</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r>
              <a:tr h="384048">
                <a:tc>
                  <a:txBody>
                    <a:bodyPr/>
                    <a:lstStyle/>
                    <a:p>
                      <a:pPr indent="0" marL="0">
                        <a:buNone/>
                      </a:pPr>
                      <a:r>
                        <a:rPr lang="en-US" sz="1400" dirty="0">
                          <a:solidFill>
                            <a:schemeClr val="tx1"/>
                          </a:solidFill>
                        </a:rPr>
                        <a:t>새 기능 추가 (예: 수면 추천)</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세 파일 모두</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c>
                  <a:txBody>
                    <a:bodyPr/>
                    <a:lstStyle/>
                    <a:p>
                      <a:pPr indent="0" marL="0">
                        <a:buNone/>
                      </a:pPr>
                      <a:r>
                        <a:rPr lang="en-US" sz="1400" dirty="0">
                          <a:solidFill>
                            <a:schemeClr val="tx1"/>
                          </a:solidFill>
                        </a:rPr>
                        <a:t>TASK_NODES, 새 노드·지시문, README 1·2장</a:t>
                      </a:r>
                      <a:endParaRPr lang="en-US" sz="1400" dirty="0"/>
                    </a:p>
                  </a:txBody>
                  <a:tcPr marL="91440" marR="91440" marT="45720" marB="4572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CE9E1"/>
                    </a:solidFill>
                  </a:tcPr>
                </a:tc>
              </a:tr>
            </a:tbl>
          </a:graphicData>
        </a:graphic>
      </p:graphicFrame>
      <p:sp>
        <p:nvSpPr>
          <p:cNvPr id="5" name="Text 2"/>
          <p:cNvSpPr txBox="1"/>
          <p:nvPr/>
        </p:nvSpPr>
        <p:spPr>
          <a:xfrm>
            <a:off x="548640" y="5120640"/>
            <a:ext cx="11094415" cy="411480"/>
          </a:xfrm>
          <a:prstGeom prst="rect">
            <a:avLst/>
          </a:prstGeom>
          <a:noFill/>
          <a:ln/>
        </p:spPr>
        <p:txBody>
          <a:bodyPr wrap="square" lIns="0" tIns="0" rIns="0" bIns="0" rtlCol="0" anchor="t"/>
          <a:lstStyle/>
          <a:p>
            <a:pPr indent="0" marL="0">
              <a:buNone/>
            </a:pPr>
            <a:r>
              <a:rPr lang="en-US" sz="1400" dirty="0">
                <a:solidFill>
                  <a:schemeClr val="accent6"/>
                </a:solidFill>
              </a:rPr>
              <a:t>회색 줄은 여러 파일을 함께 고쳐야 합니다. README 의 설명과 실제 코드가 다르면 감점 요인입니다.</a:t>
            </a:r>
            <a:endParaRPr lang="en-US" sz="14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20040"/>
          </a:xfrm>
          <a:prstGeom prst="rect">
            <a:avLst/>
          </a:prstGeom>
          <a:noFill/>
          <a:ln/>
        </p:spPr>
        <p:txBody>
          <a:bodyPr wrap="square" lIns="0" tIns="0" rIns="0" bIns="0" rtlCol="0" anchor="t"/>
          <a:lstStyle/>
          <a:p>
            <a:pPr indent="0" marL="0">
              <a:buNone/>
            </a:pPr>
            <a:r>
              <a:rPr lang="en-US" sz="1300" b="1" dirty="0">
                <a:solidFill>
                  <a:schemeClr val="accent1"/>
                </a:solidFill>
              </a:rPr>
              <a:t>다음 단계</a:t>
            </a:r>
            <a:endParaRPr lang="en-US" sz="1300" dirty="0"/>
          </a:p>
        </p:txBody>
      </p:sp>
      <p:sp>
        <p:nvSpPr>
          <p:cNvPr id="3" name="Text 0"/>
          <p:cNvSpPr/>
          <p:nvPr>
            <p:ph idx="101" type="title" hasCustomPrompt="1"/>
          </p:nvPr>
        </p:nvSpPr>
        <p:spPr>
          <a:xfrm>
            <a:off x="548640" y="731520"/>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제출 전 남은 일</a:t>
            </a:r>
            <a:endParaRPr lang="en-US" sz="3000" dirty="0"/>
          </a:p>
        </p:txBody>
      </p:sp>
      <p:sp>
        <p:nvSpPr>
          <p:cNvPr id="4" name="Shape 2"/>
          <p:cNvSpPr/>
          <p:nvPr/>
        </p:nvSpPr>
        <p:spPr>
          <a:xfrm>
            <a:off x="548640" y="1810512"/>
            <a:ext cx="237744" cy="237744"/>
          </a:xfrm>
          <a:prstGeom prst="roundRect">
            <a:avLst>
              <a:gd name="adj" fmla="val 15385"/>
            </a:avLst>
          </a:prstGeom>
          <a:solidFill>
            <a:schemeClr val="bg1"/>
          </a:solidFill>
          <a:ln w="25400">
            <a:solidFill>
              <a:schemeClr val="tx2"/>
            </a:solidFill>
            <a:prstDash val="solid"/>
          </a:ln>
        </p:spPr>
      </p:sp>
      <p:sp>
        <p:nvSpPr>
          <p:cNvPr id="5" name="Text 3"/>
          <p:cNvSpPr txBox="1"/>
          <p:nvPr/>
        </p:nvSpPr>
        <p:spPr>
          <a:xfrm>
            <a:off x="1005840" y="1737360"/>
            <a:ext cx="8778240" cy="411480"/>
          </a:xfrm>
          <a:prstGeom prst="rect">
            <a:avLst/>
          </a:prstGeom>
          <a:noFill/>
          <a:ln/>
        </p:spPr>
        <p:txBody>
          <a:bodyPr wrap="square" lIns="0" tIns="0" rIns="0" bIns="0" rtlCol="0" anchor="ctr"/>
          <a:lstStyle/>
          <a:p>
            <a:pPr indent="0" marL="0">
              <a:buNone/>
            </a:pPr>
            <a:r>
              <a:rPr lang="en-US" sz="1500" dirty="0">
                <a:solidFill>
                  <a:schemeClr val="tx1"/>
                </a:solidFill>
              </a:rPr>
              <a:t>최종 제출 주제 결정 (바이오리듬 / MES 소스 리뷰)</a:t>
            </a:r>
            <a:endParaRPr lang="en-US" sz="1500" dirty="0"/>
          </a:p>
        </p:txBody>
      </p:sp>
      <p:sp>
        <p:nvSpPr>
          <p:cNvPr id="6" name="Shape 4"/>
          <p:cNvSpPr/>
          <p:nvPr/>
        </p:nvSpPr>
        <p:spPr>
          <a:xfrm>
            <a:off x="10058400" y="1764792"/>
            <a:ext cx="1584655" cy="347472"/>
          </a:xfrm>
          <a:prstGeom prst="roundRect">
            <a:avLst>
              <a:gd name="adj" fmla="val 50000"/>
            </a:avLst>
          </a:prstGeom>
          <a:solidFill>
            <a:schemeClr val="bg2"/>
          </a:solidFill>
          <a:ln w="12700">
            <a:solidFill>
              <a:srgbClr val="DDD8CC"/>
            </a:solidFill>
            <a:prstDash val="solid"/>
          </a:ln>
        </p:spPr>
      </p:sp>
      <p:sp>
        <p:nvSpPr>
          <p:cNvPr id="7" name="Text 5"/>
          <p:cNvSpPr txBox="1"/>
          <p:nvPr/>
        </p:nvSpPr>
        <p:spPr>
          <a:xfrm>
            <a:off x="10058400" y="17647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8" name="Shape 6"/>
          <p:cNvSpPr/>
          <p:nvPr/>
        </p:nvSpPr>
        <p:spPr>
          <a:xfrm>
            <a:off x="548640" y="2496312"/>
            <a:ext cx="237744" cy="237744"/>
          </a:xfrm>
          <a:prstGeom prst="roundRect">
            <a:avLst>
              <a:gd name="adj" fmla="val 15385"/>
            </a:avLst>
          </a:prstGeom>
          <a:solidFill>
            <a:schemeClr val="bg1"/>
          </a:solidFill>
          <a:ln w="25400">
            <a:solidFill>
              <a:schemeClr val="tx2"/>
            </a:solidFill>
            <a:prstDash val="solid"/>
          </a:ln>
        </p:spPr>
      </p:sp>
      <p:sp>
        <p:nvSpPr>
          <p:cNvPr id="9" name="Text 7"/>
          <p:cNvSpPr txBox="1"/>
          <p:nvPr/>
        </p:nvSpPr>
        <p:spPr>
          <a:xfrm>
            <a:off x="1005840" y="2423160"/>
            <a:ext cx="8778240" cy="411480"/>
          </a:xfrm>
          <a:prstGeom prst="rect">
            <a:avLst/>
          </a:prstGeom>
          <a:noFill/>
          <a:ln/>
        </p:spPr>
        <p:txBody>
          <a:bodyPr wrap="square" lIns="0" tIns="0" rIns="0" bIns="0" rtlCol="0" anchor="ctr"/>
          <a:lstStyle/>
          <a:p>
            <a:pPr indent="0" marL="0">
              <a:buNone/>
            </a:pPr>
            <a:r>
              <a:rPr lang="en-US" sz="1500" dirty="0">
                <a:solidFill>
                  <a:schemeClr val="tx1"/>
                </a:solidFill>
              </a:rPr>
              <a:t>사내 LLM 으로 예시 질문 3개 실행 → screenshots/case1~3.png 캡처 (노드 배지 보이게)</a:t>
            </a:r>
            <a:endParaRPr lang="en-US" sz="1500" dirty="0"/>
          </a:p>
        </p:txBody>
      </p:sp>
      <p:sp>
        <p:nvSpPr>
          <p:cNvPr id="10" name="Shape 8"/>
          <p:cNvSpPr/>
          <p:nvPr/>
        </p:nvSpPr>
        <p:spPr>
          <a:xfrm>
            <a:off x="10058400" y="2450592"/>
            <a:ext cx="1584655" cy="347472"/>
          </a:xfrm>
          <a:prstGeom prst="roundRect">
            <a:avLst>
              <a:gd name="adj" fmla="val 50000"/>
            </a:avLst>
          </a:prstGeom>
          <a:solidFill>
            <a:schemeClr val="bg2"/>
          </a:solidFill>
          <a:ln w="12700">
            <a:solidFill>
              <a:srgbClr val="DDD8CC"/>
            </a:solidFill>
            <a:prstDash val="solid"/>
          </a:ln>
        </p:spPr>
      </p:sp>
      <p:sp>
        <p:nvSpPr>
          <p:cNvPr id="11" name="Text 9"/>
          <p:cNvSpPr txBox="1"/>
          <p:nvPr/>
        </p:nvSpPr>
        <p:spPr>
          <a:xfrm>
            <a:off x="10058400" y="24505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12" name="Shape 10"/>
          <p:cNvSpPr/>
          <p:nvPr/>
        </p:nvSpPr>
        <p:spPr>
          <a:xfrm>
            <a:off x="548640" y="3182112"/>
            <a:ext cx="237744" cy="237744"/>
          </a:xfrm>
          <a:prstGeom prst="roundRect">
            <a:avLst>
              <a:gd name="adj" fmla="val 15385"/>
            </a:avLst>
          </a:prstGeom>
          <a:solidFill>
            <a:schemeClr val="bg1"/>
          </a:solidFill>
          <a:ln w="25400">
            <a:solidFill>
              <a:schemeClr val="tx2"/>
            </a:solidFill>
            <a:prstDash val="solid"/>
          </a:ln>
        </p:spPr>
      </p:sp>
      <p:sp>
        <p:nvSpPr>
          <p:cNvPr id="13" name="Text 11"/>
          <p:cNvSpPr txBox="1"/>
          <p:nvPr/>
        </p:nvSpPr>
        <p:spPr>
          <a:xfrm>
            <a:off x="1005840" y="3108960"/>
            <a:ext cx="8778240" cy="411480"/>
          </a:xfrm>
          <a:prstGeom prst="rect">
            <a:avLst/>
          </a:prstGeom>
          <a:noFill/>
          <a:ln/>
        </p:spPr>
        <p:txBody>
          <a:bodyPr wrap="square" lIns="0" tIns="0" rIns="0" bIns="0" rtlCol="0" anchor="ctr"/>
          <a:lstStyle/>
          <a:p>
            <a:pPr indent="0" marL="0">
              <a:buNone/>
            </a:pPr>
            <a:r>
              <a:rPr lang="en-US" sz="1500" dirty="0">
                <a:solidFill>
                  <a:schemeClr val="tx1"/>
                </a:solidFill>
              </a:rPr>
              <a:t>README 2장 '개선 전→후' 표를 실제 출력으로 교체 (지금은 예상 시나리오 초안)</a:t>
            </a:r>
            <a:endParaRPr lang="en-US" sz="1500" dirty="0"/>
          </a:p>
        </p:txBody>
      </p:sp>
      <p:sp>
        <p:nvSpPr>
          <p:cNvPr id="14" name="Shape 12"/>
          <p:cNvSpPr/>
          <p:nvPr/>
        </p:nvSpPr>
        <p:spPr>
          <a:xfrm>
            <a:off x="10058400" y="3136392"/>
            <a:ext cx="1584655" cy="347472"/>
          </a:xfrm>
          <a:prstGeom prst="roundRect">
            <a:avLst>
              <a:gd name="adj" fmla="val 50000"/>
            </a:avLst>
          </a:prstGeom>
          <a:solidFill>
            <a:schemeClr val="bg2"/>
          </a:solidFill>
          <a:ln w="12700">
            <a:solidFill>
              <a:srgbClr val="DDD8CC"/>
            </a:solidFill>
            <a:prstDash val="solid"/>
          </a:ln>
        </p:spPr>
      </p:sp>
      <p:sp>
        <p:nvSpPr>
          <p:cNvPr id="15" name="Text 13"/>
          <p:cNvSpPr txBox="1"/>
          <p:nvPr/>
        </p:nvSpPr>
        <p:spPr>
          <a:xfrm>
            <a:off x="10058400" y="31363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16" name="Shape 14"/>
          <p:cNvSpPr/>
          <p:nvPr/>
        </p:nvSpPr>
        <p:spPr>
          <a:xfrm>
            <a:off x="548640" y="3867912"/>
            <a:ext cx="237744" cy="237744"/>
          </a:xfrm>
          <a:prstGeom prst="roundRect">
            <a:avLst>
              <a:gd name="adj" fmla="val 15385"/>
            </a:avLst>
          </a:prstGeom>
          <a:solidFill>
            <a:schemeClr val="bg1"/>
          </a:solidFill>
          <a:ln w="25400">
            <a:solidFill>
              <a:schemeClr val="tx2"/>
            </a:solidFill>
            <a:prstDash val="solid"/>
          </a:ln>
        </p:spPr>
      </p:sp>
      <p:sp>
        <p:nvSpPr>
          <p:cNvPr id="17" name="Text 15"/>
          <p:cNvSpPr txBox="1"/>
          <p:nvPr/>
        </p:nvSpPr>
        <p:spPr>
          <a:xfrm>
            <a:off x="1005840" y="3794760"/>
            <a:ext cx="8778240" cy="411480"/>
          </a:xfrm>
          <a:prstGeom prst="rect">
            <a:avLst/>
          </a:prstGeom>
          <a:noFill/>
          <a:ln/>
        </p:spPr>
        <p:txBody>
          <a:bodyPr wrap="square" lIns="0" tIns="0" rIns="0" bIns="0" rtlCol="0" anchor="ctr"/>
          <a:lstStyle/>
          <a:p>
            <a:pPr indent="0" marL="0">
              <a:buNone/>
            </a:pPr>
            <a:r>
              <a:rPr lang="en-US" sz="1500" dirty="0">
                <a:solidFill>
                  <a:schemeClr val="tx1"/>
                </a:solidFill>
              </a:rPr>
              <a:t>README 3.1 실행 예시의 출력 요약 칸 채우기</a:t>
            </a:r>
            <a:endParaRPr lang="en-US" sz="1500" dirty="0"/>
          </a:p>
        </p:txBody>
      </p:sp>
      <p:sp>
        <p:nvSpPr>
          <p:cNvPr id="18" name="Shape 16"/>
          <p:cNvSpPr/>
          <p:nvPr/>
        </p:nvSpPr>
        <p:spPr>
          <a:xfrm>
            <a:off x="10058400" y="3822192"/>
            <a:ext cx="1584655" cy="347472"/>
          </a:xfrm>
          <a:prstGeom prst="roundRect">
            <a:avLst>
              <a:gd name="adj" fmla="val 50000"/>
            </a:avLst>
          </a:prstGeom>
          <a:solidFill>
            <a:schemeClr val="bg2"/>
          </a:solidFill>
          <a:ln w="12700">
            <a:solidFill>
              <a:srgbClr val="DDD8CC"/>
            </a:solidFill>
            <a:prstDash val="solid"/>
          </a:ln>
        </p:spPr>
      </p:sp>
      <p:sp>
        <p:nvSpPr>
          <p:cNvPr id="19" name="Text 17"/>
          <p:cNvSpPr txBox="1"/>
          <p:nvPr/>
        </p:nvSpPr>
        <p:spPr>
          <a:xfrm>
            <a:off x="10058400" y="38221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20" name="Shape 18"/>
          <p:cNvSpPr/>
          <p:nvPr/>
        </p:nvSpPr>
        <p:spPr>
          <a:xfrm>
            <a:off x="548640" y="4553712"/>
            <a:ext cx="237744" cy="237744"/>
          </a:xfrm>
          <a:prstGeom prst="roundRect">
            <a:avLst>
              <a:gd name="adj" fmla="val 15385"/>
            </a:avLst>
          </a:prstGeom>
          <a:solidFill>
            <a:schemeClr val="bg1"/>
          </a:solidFill>
          <a:ln w="25400">
            <a:solidFill>
              <a:schemeClr val="tx2"/>
            </a:solidFill>
            <a:prstDash val="solid"/>
          </a:ln>
        </p:spPr>
      </p:sp>
      <p:sp>
        <p:nvSpPr>
          <p:cNvPr id="21" name="Text 19"/>
          <p:cNvSpPr txBox="1"/>
          <p:nvPr/>
        </p:nvSpPr>
        <p:spPr>
          <a:xfrm>
            <a:off x="1005840" y="4480560"/>
            <a:ext cx="8778240" cy="411480"/>
          </a:xfrm>
          <a:prstGeom prst="rect">
            <a:avLst/>
          </a:prstGeom>
          <a:noFill/>
          <a:ln/>
        </p:spPr>
        <p:txBody>
          <a:bodyPr wrap="square" lIns="0" tIns="0" rIns="0" bIns="0" rtlCol="0" anchor="ctr"/>
          <a:lstStyle/>
          <a:p>
            <a:pPr indent="0" marL="0">
              <a:buNone/>
            </a:pPr>
            <a:r>
              <a:rPr lang="en-US" sz="1500" dirty="0">
                <a:solidFill>
                  <a:schemeClr val="tx1"/>
                </a:solidFill>
              </a:rPr>
              <a:t>여러 생년월일 표현 테스트 ("95년 3월 15일", "1995.3.15", 없는 날짜 2월 30일)</a:t>
            </a:r>
            <a:endParaRPr lang="en-US" sz="1500" dirty="0"/>
          </a:p>
        </p:txBody>
      </p:sp>
      <p:sp>
        <p:nvSpPr>
          <p:cNvPr id="22" name="Shape 20"/>
          <p:cNvSpPr/>
          <p:nvPr/>
        </p:nvSpPr>
        <p:spPr>
          <a:xfrm>
            <a:off x="10058400" y="4507992"/>
            <a:ext cx="1584655" cy="347472"/>
          </a:xfrm>
          <a:prstGeom prst="roundRect">
            <a:avLst>
              <a:gd name="adj" fmla="val 50000"/>
            </a:avLst>
          </a:prstGeom>
          <a:solidFill>
            <a:schemeClr val="bg2"/>
          </a:solidFill>
          <a:ln w="12700">
            <a:solidFill>
              <a:srgbClr val="DDD8CC"/>
            </a:solidFill>
            <a:prstDash val="solid"/>
          </a:ln>
        </p:spPr>
      </p:sp>
      <p:sp>
        <p:nvSpPr>
          <p:cNvPr id="23" name="Text 21"/>
          <p:cNvSpPr txBox="1"/>
          <p:nvPr/>
        </p:nvSpPr>
        <p:spPr>
          <a:xfrm>
            <a:off x="10058400" y="4507992"/>
            <a:ext cx="1584655" cy="347472"/>
          </a:xfrm>
          <a:prstGeom prst="rect">
            <a:avLst/>
          </a:prstGeom>
          <a:noFill/>
          <a:ln/>
        </p:spPr>
        <p:txBody>
          <a:bodyPr wrap="square" lIns="0" tIns="0" rIns="0" bIns="0" rtlCol="0" anchor="ctr"/>
          <a:lstStyle/>
          <a:p>
            <a:pPr algn="ctr" indent="0" marL="0">
              <a:buNone/>
            </a:pPr>
            <a:r>
              <a:rPr lang="en-US" sz="1200" dirty="0">
                <a:solidFill>
                  <a:schemeClr val="accent6"/>
                </a:solidFill>
              </a:rPr>
              <a:t>담당: ______</a:t>
            </a:r>
            <a:endParaRPr lang="en-US" sz="1200" dirty="0"/>
          </a:p>
        </p:txBody>
      </p:sp>
      <p:sp>
        <p:nvSpPr>
          <p:cNvPr id="25" name="Slide Number Placeholder 0"/>
          <p:cNvSpPr>
            <a:spLocks noGrp="1"/>
          </p:cNvSpPr>
          <p:nvPr>
            <p:ph type="sldNum" sz="quarter" idx="4294967295"/>
          </p:nvPr>
        </p:nvSpPr>
        <p:spPr>
          <a:xfrm>
            <a:off x="10728655" y="635508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380"/>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3조 바이오리듬">
  <a:themeElements>
    <a:clrScheme name="3조 바이오리듬">
      <a:dk1>
        <a:srgbClr val="1B2433"/>
      </a:dk1>
      <a:lt1>
        <a:srgbClr val="FFFFFF"/>
      </a:lt1>
      <a:dk2>
        <a:srgbClr val="12302B"/>
      </a:dk2>
      <a:lt2>
        <a:srgbClr val="F6F5F1"/>
      </a:lt2>
      <a:accent1>
        <a:srgbClr val="1F7A6B"/>
      </a:accent1>
      <a:accent2>
        <a:srgbClr val="2F6FB2"/>
      </a:accent2>
      <a:accent3>
        <a:srgbClr val="B5561A"/>
      </a:accent3>
      <a:accent4>
        <a:srgbClr val="E3EDF8"/>
      </a:accent4>
      <a:accent5>
        <a:srgbClr val="FBEBDD"/>
      </a:accent5>
      <a:accent6>
        <a:srgbClr val="4D5866"/>
      </a:accent6>
      <a:hlink>
        <a:srgbClr val="2F6FB2"/>
      </a:hlink>
      <a:folHlink>
        <a:srgbClr val="4D5866"/>
      </a:folHlink>
    </a:clrScheme>
    <a:fontScheme name="3조 바이오리듬">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3조 바이오리듬 컨디션 코치 - 파일별 역할 설명</dc:title>
  <dc:subject>PptxGenJS Presentation</dc:subject>
  <dc:creator>3조</dc:creator>
  <cp:lastModifiedBy>3조</cp:lastModifiedBy>
  <cp:revision>1</cp:revision>
  <dcterms:created xsi:type="dcterms:W3CDTF">2026-10-27T02:26:02Z</dcterms:created>
  <dcterms:modified xsi:type="dcterms:W3CDTF">2026-10-27T02:26:02Z</dcterms:modified>
</cp:coreProperties>
</file>