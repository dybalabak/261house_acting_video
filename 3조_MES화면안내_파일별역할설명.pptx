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6918211d-a6ed-7493-ee40-b0453f92d2eb}">
          <p14:sldIdLst>
            <p14:sldId id="256"/>
            <p14:sldId id="257"/>
            <p14:sldId id="258"/>
            <p14:sldId id="259"/>
          </p14:sldIdLst>
        </p14:section>
        <p14:section name="workflow.py" id="{63738dcb-a177-d480-7538-38eb66a363fa}">
          <p14:sldIdLst>
            <p14:sldId id="260"/>
            <p14:sldId id="261"/>
            <p14:sldId id="262"/>
            <p14:sldId id="263"/>
            <p14:sldId id="264"/>
            <p14:sldId id="265"/>
          </p14:sldIdLst>
        </p14:section>
        <p14:section name="prompts.py" id="{cfa89367-e365-3be9-44b0-c47ae7382a5a}">
          <p14:sldIdLst>
            <p14:sldId id="266"/>
          </p14:sldIdLst>
        </p14:section>
        <p14:section name="나머지 파일과 시연" id="{61c6db9d-5811-3bd7-79a4-444f992ec442}">
          <p14:sldIdLst>
            <p14:sldId id="267"/>
            <p14:sldId id="268"/>
          </p14:sldIdLst>
        </p14:section>
        <p14:section name="수정·제출 가이드" id="{2f9dae58-1413-8dd2-b36f-21fae7b73fa5}">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 화면명을 물어보면 어떤 화면인지, 언제 왜 쓰는지 설명해 주는 에이전트입니다. 우리가 넣은 사내 화면명과 짧은 설명에, 모델이 가진 반도체 공정과 MES 일반 지식을 자연스럽게 섞어서 답합니다. 오늘은 이걸 구성하는 파일 네 가지가 각각 무슨 역할을 하는지, 그리고 무엇을 바꾸려면 어디를 고치면 되는지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조가 만든 건 teams/team3 폴더 안의 파일들입니다. workflow.py 가 그래프와 화면 검색을 담고 있고, prompts.py 에는 LLM 지시문과 함께 우리가 직접 채우는 사내 화면 목록이 들어 있습니다. 데이터와 지시문을 한 파일에 모아서, 코드를 몰라도 prompts.py 만 열면 화면을 추가할 수 있게 했습니다. requirements.txt 와 README.md 는 제출 양식 파일이고, screenshots 폴더는 실행 캡처를 넣으려고 앞으로 만들어야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사용자가 화면명을 물으면 workflow.py 가 사내 화면 목록에서 그 화면을 먼저 찾습니다. 찾는 일은 LLM 이 아니라 파이썬이 하고, 찾은 화면의 사내 설명만 LLM 에 넘깁니다. LLM 은 그 설명에 반도체 공정과 MES 일반 지식을 더해서 언제, 누가, 왜 쓰는 화면인지 풀어 줍니다. 공정이나 용어 질문이면 개념을 설명하고, 그 개념을 실제로 확인하는 사내 화면을 끝에 연결해 줍니다. 파란색은 파이썬, 주황색은 LLM 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우리가 직접 채우는 곳은 prompts.py 맨 위 별표로 표시된 MES_SCREENS 구간 하나입니다. 한 줄에 화면 하나씩, 화면명과 설명과 별칭을 세로 막대로 구분해서 적습니다. 엑셀에 정리해 둔 게 있으면 두 열을 그대로 복사해서 붙여도 탭으로 구분해서 읽습니다. 별칭은 선택이지만, 화면 코드나 현장에서 부르는 줄임말을 넣어 두면 검색이 훨씬 잘 됩니다. 넣은 뒤에는 workflow.py 를 --screens 옵션으로 실행하면 LLM 없이 몇 개가 제대로 읽혔는지 바로 확인할 수 있습니다. 슬라이드의 예시는 보기 좋게 줄을 나눈 것이고, 실제로는 한 화면을 한 줄에 적어야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workflow.py 는 위에서부터 구역이 나뉘어 있습니다. ② 화면 데이터와 검색 구역은 LLM 을 쓰지 않는 순수 파이썬이고, prompts.py 의 MES_SCREENS 를 읽어서 화면 목록을 만든 뒤 사용자가 말한 이름과 가장 비슷한 화면을 찾습니다. ③ 의 _ask 함수가 모든 LLM 노드의 공통 호출 통로입니다. 디버깅할 때는 ⑥처럼 터미널에서 workflow.py 를 바로 실행하면 노드마다 무엇을 만들었는지 출력됩니다.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질문은 analyze_query 로 들어와서 search_screens 를 거칩니다. 그다음 route_after_search 함수가 네 갈래 중 하나를 고릅니다. 이전 답변에 이어지는 질문이면 answer_follow_up, 화면이 하나로 정확히 찾아지면 explain_screen, 공정이나 용어 질문이면 explain_concept 로 갑니다. 화면을 물었는데 비슷한 화면이 여러 개이거나 등록되지 않은 화면이면, 지어내지 않고 clarify_screen 이 후보를 보여주며 되묻습니다. 파란 상자 search_screens 는 LLM 을 부르지 않아서 같은 질문엔 항상 같은 화면을 찾습니다.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노드는 workflow.py 안의 함수와 1대1로 대응합니다. analyze_query 는 화면명에서 '화면', '메뉴' 같은 말과 조사를 떼고 이름만 뽑고, 키워드는 한글과 영문을 함께 뽑게 해서 사내 설명이 영어 용어로 적혀 있어도 관련 화면을 찾습니다. 되묻기 뒤에 사용자가 "두 번째" 라고 답하면 이전 대화를 보고 그 화면 이름으로 바꿔서 다시 검색합니다. 실행 화면 아래쪽 배지에 이 함수 이름들이 찍히니까 캡처할 때 확인해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LangGraph 에서 노드끼리는 State 라는 딕셔너리 하나를 주고받습니다. 공용으로 받은 세 칸에 우리 조가 칸을 더해서 MesState 를 만들었습니다. analyze_query 가 화면명과 키워드를 뽑으면 search_screens 가 그걸로 화면을 찾아 match_status 와 matched 를 채우고, 이 값으로 다음 갈림길이 정해집니다. 오른쪽 아래가 이 설계의 핵심 이유입니다. 화면 목록 전체를 LLM 에게 주면 Lot 이력 조회와 Lot 위치 조회처럼 비슷한 이름을 섞거나, 목록에 없는 화면을 그럴듯하게 지어냅니다.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검색은 네 단계입니다. 먼저 사용자가 말한 이름과 등록된 화면명을 똑같은 방식으로 정리하고, 화면마다 0에서 1 사이 점수를 매깁니다. 0.6 이상인 화면이 하나뿐이거나 1등이 2등보다 확실히 앞서면 그 화면으로 확정하고, 비슷한 점수가 여러 개면 되묻습니다. 오른쪽 표는 예시 데이터로 실제로 돌려본 결과입니다. 별칭에 넣은 '홀드 관리' 로 물어도 Hold Lot 관리를 찾고, 그냥 'Lot' 이라고 하면 Lot 이력 조회와 Lot 위치 조회 중 어느 쪽인지 되묻습니다. 등록 안 된 화면은 지어내지 않고 되묻습니다.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workflow.py 위쪽에 설정값을 모아 두었습니다. 실제 화면 데이터를 넣고 돌려 봤을 때 엉뚱한 화면이 자꾸 걸리면 MATCH_THRESHOLD 를 올리고, 분명히 있는 화면을 못 찾으면 내리거나 별칭을 추가하면 됩니다. 비슷한 화면이 많아서 되묻기가 너무 자주 나오면 AMBIGUOUS_GAP 을 줄입니다. 설명 노드의 temperature 는 0.4 로 낮게 줘서 사내 정보를 벗어나지 않게 했습니다. TEAM_INFO 의 예시 질문은 실제 화면명으로 바꾸고 README 맨 위 예시 질문과 항상 같게 맞춰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prompts.py 는 데이터와 지시문을 모아 둔 파일입니다. 맨 위 MES_SCREENS 가 우리가 채우는 사내 화면 목록이고, 그 아래가 LLM 노드 다섯 개의 지시문입니다. COMMON_RULES 는 화면 설명, 개념 설명, 이어지는 질문 세 노드에 공통으로 붙는 규칙인데, 이 에이전트의 핵심입니다. 사내 정보가 1순위이고, 모델 지식으로 보완한 부분은 '일반적으로' 처럼 일반론임을 밝히고, 사내 정보에 없는 버튼 이름이나 메뉴 경로, 권한은 지어내지 말라는 내용입니다. 사내 정보와 모델 지식을 자연스럽게 섞으면서도 출처가 섞이지 않게 하려고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requirements.txt 는 위쪽 공용 구역은 고치지 않고 아래 조별 구역에만 추가하는데, 우리 조는 화면 검색을 파이썬 기본 라이브러리로 해서 추가할 패키지가 없습니다. README.md 는 실제로 평가받는 문서이고, 0장에 화면 데이터 넣는 법을 따로 적어 두었습니다. 1장의 다이어그램과 표는 workflow.py 와 반드시 일치해야 하고, 2장에는 prompts.py 의 최종 문구가 그대로 들어가 있습니다. screenshots 폴더는 직접 만들고 예시 질문 세 개를 실행한 화면을 노드 배지가 보이게 캡처해서 넣어야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시연할 때는 위 세 질문으로 화면 설명, 개념 설명, 되묻기가 각각 실행되는 걸 보여주면 됩니다. 세 번째 질문은 표현에 따라 개념 설명으로 갈 수도 있으니, 확실하게 되묻기를 보여주려면 'Lot 화면이 뭐야?' 처럼 화면 하나를 묻는 말투로 물어보세요. 시간이 있으면 Hold Lot 관리 설명 다음에 'Release 는 누가 해?' 를 이어서 물어 이어지는 질문 노드를 보여주고, 등록 안 된 화면을 물었을 때 지어내지 않고 되묻는 모습도 보여주면 좋습니다. 지금 질문들은 예시 데이터 기준이라, 실제 화면 데이터를 넣은 뒤에는 실제 화면명으로 바꿔야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내용을 실무용으로 정리한 표입니다. 가장 자주 할 일은 화면 데이터를 추가하는 것인데, prompts.py 의 MES_SCREENS 에 한 줄 넣으면 끝입니다. 검색이 잘 안 되면 코드를 고치기 전에 먼저 별칭을 넣어 보고, 그래도 안 되면 workflow.py 의 기준값을 조정합니다. 회색 두 줄은 README 에도 같은 내용이 있어서 반드시 함께 고쳐야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제출 전에 남은 일입니다. 이 버전은 실제 화면 데이터가 들어가야 의미가 있어서, 첫 번째 일이 MES_SCREENS 채우기입니다. 데이터를 넣고 나면 예시 질문도 실제 화면명으로 바꿔서 실행하고 캡처합니다. 코드는 가짜 LLM 응답으로 분기와 검색을 시험해 봤지만 사내 LLM 으로는 아직 돌려보지 않았습니다. 그리고 세 가지 주제 중 무엇으로 낼지 정해야 합니다. 담당자는 이 자리에서 정해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972800" cy="411480"/>
          </a:xfrm>
          <a:prstGeom prst="rect">
            <a:avLst/>
          </a:prstGeom>
          <a:noFill/>
          <a:ln/>
        </p:spPr>
        <p:txBody>
          <a:bodyPr wrap="square" rtlCol="0"/>
          <a:lstStyle>
            <a:lvl1pPr indent="0" marL="0">
              <a:buNone/>
              <a:defRPr lang="en-US" sz="1600" b="1" dirty="0">
                <a:solidFill>
                  <a:srgbClr val="C9B8F0"/>
                </a:solidFill>
              </a:defRPr>
            </a:lvl1pPr>
          </a:lstStyle>
          <a:p>
            <a:pPr indent="0" marL="0">
              <a:buNone/>
            </a:pPr>
            <a:endParaRPr lang="en-US" sz="1600" dirty="0"/>
          </a:p>
        </p:txBody>
      </p:sp>
      <p:sp>
        <p:nvSpPr>
          <p:cNvPr id="3" name="Text 0"/>
          <p:cNvSpPr/>
          <p:nvPr>
            <p:ph idx="101" type="title" hasCustomPrompt="1"/>
          </p:nvPr>
        </p:nvSpPr>
        <p:spPr>
          <a:xfrm>
            <a:off x="548640" y="2331720"/>
            <a:ext cx="10972800" cy="1005840"/>
          </a:xfrm>
          <a:prstGeom prst="rect">
            <a:avLst/>
          </a:prstGeom>
          <a:noFill/>
          <a:ln/>
        </p:spPr>
        <p:txBody>
          <a:bodyPr wrap="square" rtlCol="0"/>
          <a:lstStyle>
            <a:lvl1pPr algn="l" indent="0" marL="0">
              <a:buNone/>
              <a:defRPr lang="en-US" sz="4800" b="1" dirty="0">
                <a:solidFill>
                  <a:schemeClr val="bg2"/>
                </a:solidFill>
              </a:defRPr>
            </a:lvl1pPr>
          </a:lstStyle>
          <a:p>
            <a:pPr algn="l" indent="0" marL="0">
              <a:buNone/>
            </a:pPr>
            <a:endParaRPr lang="en-US" sz="4800" dirty="0"/>
          </a:p>
        </p:txBody>
      </p:sp>
      <p:sp>
        <p:nvSpPr>
          <p:cNvPr id="4" name="Text 0"/>
          <p:cNvSpPr/>
          <p:nvPr>
            <p:ph idx="102" type="body" hasCustomPrompt="1"/>
          </p:nvPr>
        </p:nvSpPr>
        <p:spPr>
          <a:xfrm>
            <a:off x="548640" y="3429000"/>
            <a:ext cx="10972800" cy="548640"/>
          </a:xfrm>
          <a:prstGeom prst="rect">
            <a:avLst/>
          </a:prstGeom>
          <a:noFill/>
          <a:ln/>
        </p:spPr>
        <p:txBody>
          <a:bodyPr wrap="square" rtlCol="0"/>
          <a:lstStyle>
            <a:lvl1pPr indent="0" marL="0">
              <a:buNone/>
              <a:defRPr lang="en-US" sz="2400" dirty="0">
                <a:solidFill>
                  <a:srgbClr val="C9CDE0"/>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380"/>
                </a:solidFill>
              </a:rPr>
              <a:t>3조 MES 화면 안내 선배봇 · 파일별 역할 설명</a:t>
            </a:r>
            <a:endParaRPr lang="en-US" sz="11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LT">
    <p:bg>
      <p:bgPr>
        <a:solidFill>
          <a:srgbClr val="ECE9E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380"/>
                </a:solidFill>
              </a:rPr>
              <a:t>3조 MES 화면 안내 선배봇 · 파일별 역할 설명</a:t>
            </a:r>
            <a:endParaRPr lang="en-US" sz="11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rtlCol="0"/>
          <a:lstStyle>
            <a:lvl1pPr indent="0" marL="0">
              <a:buNone/>
              <a:defRPr lang="en-US" sz="1300" b="1" dirty="0">
                <a:solidFill>
                  <a:srgbClr val="C9B8F0"/>
                </a:solidFill>
              </a:defRPr>
            </a:lvl1pPr>
          </a:lstStyle>
          <a:p>
            <a:pPr indent="0" marL="0">
              <a:buNone/>
            </a:pP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rtlCol="0"/>
          <a:lstStyle>
            <a:lvl1pPr algn="l" indent="0" marL="0">
              <a:buNone/>
              <a:defRPr lang="en-US" sz="3000" b="1" dirty="0">
                <a:solidFill>
                  <a:schemeClr val="bg2"/>
                </a:solidFill>
              </a:defRPr>
            </a:lvl1pPr>
          </a:lstStyle>
          <a:p>
            <a:pPr algn="l"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8E93AD"/>
                </a:solidFill>
              </a:rPr>
              <a:t>3조 MES 화면 안내 선배봇 · 파일별 역할 설명</a:t>
            </a:r>
            <a:endParaRPr lang="en-US" sz="11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E93AD"/>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972800" cy="411480"/>
          </a:xfrm>
          <a:prstGeom prst="rect">
            <a:avLst/>
          </a:prstGeom>
          <a:noFill/>
          <a:ln/>
        </p:spPr>
        <p:txBody>
          <a:bodyPr wrap="square" lIns="0" tIns="0" rIns="0" bIns="0" rtlCol="0" anchor="t"/>
          <a:lstStyle/>
          <a:p>
            <a:pPr indent="0" marL="0">
              <a:buNone/>
            </a:pPr>
            <a:r>
              <a:rPr lang="en-US" sz="1600" b="1" dirty="0">
                <a:solidFill>
                  <a:srgbClr val="C9B8F0"/>
                </a:solidFill>
              </a:rPr>
              <a:t>사내 LLM 경진 · 3조</a:t>
            </a:r>
            <a:endParaRPr lang="en-US" sz="1600" dirty="0"/>
          </a:p>
        </p:txBody>
      </p:sp>
      <p:sp>
        <p:nvSpPr>
          <p:cNvPr id="3" name="Text 0"/>
          <p:cNvSpPr/>
          <p:nvPr>
            <p:ph idx="101" type="title" hasCustomPrompt="1"/>
          </p:nvPr>
        </p:nvSpPr>
        <p:spPr>
          <a:xfrm>
            <a:off x="548640" y="2331720"/>
            <a:ext cx="10972800" cy="1005840"/>
          </a:xfrm>
          <a:prstGeom prst="rect">
            <a:avLst/>
          </a:prstGeom>
          <a:noFill/>
          <a:ln/>
        </p:spPr>
        <p:txBody>
          <a:bodyPr wrap="square" lIns="0" tIns="0" rIns="0" bIns="0" rtlCol="0" anchor="t"/>
          <a:lstStyle/>
          <a:p>
            <a:pPr algn="l" indent="0" marL="0">
              <a:buNone/>
            </a:pPr>
            <a:r>
              <a:rPr lang="en-US" sz="4800" b="1" dirty="0">
                <a:solidFill>
                  <a:schemeClr val="bg2"/>
                </a:solidFill>
              </a:rPr>
              <a:t>MES 화면 안내 선배봇</a:t>
            </a:r>
            <a:endParaRPr lang="en-US" sz="4800" dirty="0"/>
          </a:p>
        </p:txBody>
      </p:sp>
      <p:sp>
        <p:nvSpPr>
          <p:cNvPr id="4" name="Text 0"/>
          <p:cNvSpPr/>
          <p:nvPr>
            <p:ph idx="102" type="body" hasCustomPrompt="1"/>
          </p:nvPr>
        </p:nvSpPr>
        <p:spPr>
          <a:xfrm>
            <a:off x="548640" y="3429000"/>
            <a:ext cx="10972800" cy="548640"/>
          </a:xfrm>
          <a:prstGeom prst="rect">
            <a:avLst/>
          </a:prstGeom>
          <a:noFill/>
          <a:ln/>
        </p:spPr>
        <p:txBody>
          <a:bodyPr wrap="square" lIns="0" tIns="0" rIns="0" bIns="0" rtlCol="0" anchor="t"/>
          <a:lstStyle/>
          <a:p>
            <a:pPr indent="0" marL="0">
              <a:buNone/>
            </a:pPr>
            <a:r>
              <a:rPr lang="en-US" sz="2400" dirty="0">
                <a:solidFill>
                  <a:srgbClr val="C9CDE0"/>
                </a:solidFill>
              </a:rPr>
              <a:t>프로젝트 파일별 역할 설명</a:t>
            </a:r>
            <a:endParaRPr lang="en-US" sz="2400" dirty="0"/>
          </a:p>
        </p:txBody>
      </p:sp>
      <p:sp>
        <p:nvSpPr>
          <p:cNvPr id="5" name="Shape 3"/>
          <p:cNvSpPr/>
          <p:nvPr/>
        </p:nvSpPr>
        <p:spPr>
          <a:xfrm>
            <a:off x="548640" y="4343400"/>
            <a:ext cx="1668780" cy="457200"/>
          </a:xfrm>
          <a:prstGeom prst="roundRect">
            <a:avLst>
              <a:gd name="adj" fmla="val 16000"/>
            </a:avLst>
          </a:prstGeom>
          <a:solidFill>
            <a:srgbClr val="2D3352"/>
          </a:solidFill>
          <a:ln w="12700">
            <a:solidFill>
              <a:srgbClr val="2D3352"/>
            </a:solidFill>
            <a:prstDash val="solid"/>
          </a:ln>
        </p:spPr>
      </p:sp>
      <p:sp>
        <p:nvSpPr>
          <p:cNvPr id="6" name="Text 4"/>
          <p:cNvSpPr txBox="1"/>
          <p:nvPr/>
        </p:nvSpPr>
        <p:spPr>
          <a:xfrm>
            <a:off x="548640" y="4343400"/>
            <a:ext cx="1668780" cy="457200"/>
          </a:xfrm>
          <a:prstGeom prst="rect">
            <a:avLst/>
          </a:prstGeom>
          <a:noFill/>
          <a:ln/>
        </p:spPr>
        <p:txBody>
          <a:bodyPr wrap="square" lIns="0" tIns="0" rIns="0" bIns="0" rtlCol="0" anchor="ctr"/>
          <a:lstStyle/>
          <a:p>
            <a:pPr algn="ctr" indent="0" marL="0">
              <a:buNone/>
            </a:pPr>
            <a:r>
              <a:rPr lang="en-US" sz="1400" dirty="0">
                <a:solidFill>
                  <a:schemeClr val="bg2"/>
                </a:solidFill>
                <a:latin typeface="Consolas" pitchFamily="34" charset="0"/>
                <a:ea typeface="Consolas" pitchFamily="34" charset="-122"/>
                <a:cs typeface="Consolas" pitchFamily="34" charset="-120"/>
              </a:rPr>
              <a:t>workflow.py</a:t>
            </a:r>
            <a:endParaRPr lang="en-US" sz="1400" dirty="0"/>
          </a:p>
        </p:txBody>
      </p:sp>
      <p:sp>
        <p:nvSpPr>
          <p:cNvPr id="7" name="Shape 5"/>
          <p:cNvSpPr/>
          <p:nvPr/>
        </p:nvSpPr>
        <p:spPr>
          <a:xfrm>
            <a:off x="2354580" y="4343400"/>
            <a:ext cx="1554480" cy="457200"/>
          </a:xfrm>
          <a:prstGeom prst="roundRect">
            <a:avLst>
              <a:gd name="adj" fmla="val 16000"/>
            </a:avLst>
          </a:prstGeom>
          <a:solidFill>
            <a:srgbClr val="2D3352"/>
          </a:solidFill>
          <a:ln w="12700">
            <a:solidFill>
              <a:srgbClr val="2D3352"/>
            </a:solidFill>
            <a:prstDash val="solid"/>
          </a:ln>
        </p:spPr>
      </p:sp>
      <p:sp>
        <p:nvSpPr>
          <p:cNvPr id="8" name="Text 6"/>
          <p:cNvSpPr txBox="1"/>
          <p:nvPr/>
        </p:nvSpPr>
        <p:spPr>
          <a:xfrm>
            <a:off x="2354580" y="4343400"/>
            <a:ext cx="1554480" cy="457200"/>
          </a:xfrm>
          <a:prstGeom prst="rect">
            <a:avLst/>
          </a:prstGeom>
          <a:noFill/>
          <a:ln/>
        </p:spPr>
        <p:txBody>
          <a:bodyPr wrap="square" lIns="0" tIns="0" rIns="0" bIns="0" rtlCol="0" anchor="ctr"/>
          <a:lstStyle/>
          <a:p>
            <a:pPr algn="ctr" indent="0" marL="0">
              <a:buNone/>
            </a:pPr>
            <a:r>
              <a:rPr lang="en-US" sz="1400" dirty="0">
                <a:solidFill>
                  <a:schemeClr val="bg2"/>
                </a:solidFill>
                <a:latin typeface="Consolas" pitchFamily="34" charset="0"/>
                <a:ea typeface="Consolas" pitchFamily="34" charset="-122"/>
                <a:cs typeface="Consolas" pitchFamily="34" charset="-120"/>
              </a:rPr>
              <a:t>prompts.py</a:t>
            </a:r>
            <a:endParaRPr lang="en-US" sz="1400" dirty="0"/>
          </a:p>
        </p:txBody>
      </p:sp>
      <p:sp>
        <p:nvSpPr>
          <p:cNvPr id="9" name="Shape 7"/>
          <p:cNvSpPr/>
          <p:nvPr/>
        </p:nvSpPr>
        <p:spPr>
          <a:xfrm>
            <a:off x="4046220" y="4343400"/>
            <a:ext cx="2240280" cy="457200"/>
          </a:xfrm>
          <a:prstGeom prst="roundRect">
            <a:avLst>
              <a:gd name="adj" fmla="val 16000"/>
            </a:avLst>
          </a:prstGeom>
          <a:solidFill>
            <a:srgbClr val="2D3352"/>
          </a:solidFill>
          <a:ln w="12700">
            <a:solidFill>
              <a:srgbClr val="2D3352"/>
            </a:solidFill>
            <a:prstDash val="solid"/>
          </a:ln>
        </p:spPr>
      </p:sp>
      <p:sp>
        <p:nvSpPr>
          <p:cNvPr id="10" name="Text 8"/>
          <p:cNvSpPr txBox="1"/>
          <p:nvPr/>
        </p:nvSpPr>
        <p:spPr>
          <a:xfrm>
            <a:off x="4046220" y="4343400"/>
            <a:ext cx="2240280" cy="457200"/>
          </a:xfrm>
          <a:prstGeom prst="rect">
            <a:avLst/>
          </a:prstGeom>
          <a:noFill/>
          <a:ln/>
        </p:spPr>
        <p:txBody>
          <a:bodyPr wrap="square" lIns="0" tIns="0" rIns="0" bIns="0" rtlCol="0" anchor="ctr"/>
          <a:lstStyle/>
          <a:p>
            <a:pPr algn="ctr" indent="0" marL="0">
              <a:buNone/>
            </a:pPr>
            <a:r>
              <a:rPr lang="en-US" sz="1400" dirty="0">
                <a:solidFill>
                  <a:schemeClr val="bg2"/>
                </a:solidFill>
                <a:latin typeface="Consolas" pitchFamily="34" charset="0"/>
                <a:ea typeface="Consolas" pitchFamily="34" charset="-122"/>
                <a:cs typeface="Consolas" pitchFamily="34" charset="-120"/>
              </a:rPr>
              <a:t>requirements.txt</a:t>
            </a:r>
            <a:endParaRPr lang="en-US" sz="1400" dirty="0"/>
          </a:p>
        </p:txBody>
      </p:sp>
      <p:sp>
        <p:nvSpPr>
          <p:cNvPr id="11" name="Shape 9"/>
          <p:cNvSpPr/>
          <p:nvPr/>
        </p:nvSpPr>
        <p:spPr>
          <a:xfrm>
            <a:off x="6423660" y="4343400"/>
            <a:ext cx="1440180" cy="457200"/>
          </a:xfrm>
          <a:prstGeom prst="roundRect">
            <a:avLst>
              <a:gd name="adj" fmla="val 16000"/>
            </a:avLst>
          </a:prstGeom>
          <a:solidFill>
            <a:srgbClr val="2D3352"/>
          </a:solidFill>
          <a:ln w="12700">
            <a:solidFill>
              <a:srgbClr val="2D3352"/>
            </a:solidFill>
            <a:prstDash val="solid"/>
          </a:ln>
        </p:spPr>
      </p:sp>
      <p:sp>
        <p:nvSpPr>
          <p:cNvPr id="12" name="Text 10"/>
          <p:cNvSpPr txBox="1"/>
          <p:nvPr/>
        </p:nvSpPr>
        <p:spPr>
          <a:xfrm>
            <a:off x="6423660" y="4343400"/>
            <a:ext cx="1440180" cy="457200"/>
          </a:xfrm>
          <a:prstGeom prst="rect">
            <a:avLst/>
          </a:prstGeom>
          <a:noFill/>
          <a:ln/>
        </p:spPr>
        <p:txBody>
          <a:bodyPr wrap="square" lIns="0" tIns="0" rIns="0" bIns="0" rtlCol="0" anchor="ctr"/>
          <a:lstStyle/>
          <a:p>
            <a:pPr algn="ctr" indent="0" marL="0">
              <a:buNone/>
            </a:pPr>
            <a:r>
              <a:rPr lang="en-US" sz="1400" dirty="0">
                <a:solidFill>
                  <a:schemeClr val="bg2"/>
                </a:solidFill>
                <a:latin typeface="Consolas" pitchFamily="34" charset="0"/>
                <a:ea typeface="Consolas" pitchFamily="34" charset="-122"/>
                <a:cs typeface="Consolas" pitchFamily="34" charset="-120"/>
              </a:rPr>
              <a:t>README.md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한눈에 보기</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프로젝트 폴더 구성</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550213"/>
                <a:gridCol w="7544202"/>
              </a:tblGrid>
              <a:tr h="384048">
                <a:tc>
                  <a:txBody>
                    <a:bodyPr/>
                    <a:lstStyle/>
                    <a:p>
                      <a:pPr indent="0" marL="0">
                        <a:buNone/>
                      </a:pPr>
                      <a:r>
                        <a:rPr lang="en-US" sz="1400" b="1" dirty="0">
                          <a:solidFill>
                            <a:schemeClr val="bg2"/>
                          </a:solidFill>
                        </a:rPr>
                        <a:t>파일</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역할</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teams/team3/workflow.py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에이전트 본체: 노드 6개, 그래프 연결, 화면 검색 코드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teams/team3/prompts.py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 사내 화면 데이터(MES_SCREENS) + LLM 지시문과 공통 규칙</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r>
              <a:tr h="384048">
                <a:tc>
                  <a:txBody>
                    <a:bodyPr/>
                    <a:lstStyle/>
                    <a:p>
                      <a:pPr indent="0" marL="0">
                        <a:buNone/>
                      </a:pPr>
                      <a:r>
                        <a:rPr lang="en-US" sz="1400" dirty="0">
                          <a:solidFill>
                            <a:schemeClr val="tx1"/>
                          </a:solidFill>
                        </a:rPr>
                        <a:t>teams/team3/requirements.txt</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필요한 파이썬 패키지 목록 (우리 조 추가 패키지 없음)</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teams/team3/README.md</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제출 문서: 데이터 넣는 법, 설계 설명, 프롬프트 개선 과정</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teams/team3/screenshots/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실행 캡처 case1~3.png 를 넣을 폴더 (아직 없음)</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app/ (공용)</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대회 측 제공 State·LLM 연결. 가져다 쓰기만 함</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r>
            </a:tbl>
          </a:graphicData>
        </a:graphic>
      </p:graphicFrame>
      <p:sp>
        <p:nvSpPr>
          <p:cNvPr id="5" name="Text 2"/>
          <p:cNvSpPr txBox="1"/>
          <p:nvPr/>
        </p:nvSpPr>
        <p:spPr>
          <a:xfrm>
            <a:off x="548640" y="475488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우리가 직접 채울 곳은 prompts.py 맨 위의 사내 화면 데이터 한 곳입니다.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한눈에 보기</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파일들이 함께 일하는 방식</a:t>
            </a:r>
            <a:endParaRPr lang="en-US" sz="3000" dirty="0"/>
          </a:p>
        </p:txBody>
      </p:sp>
      <p:sp>
        <p:nvSpPr>
          <p:cNvPr id="4" name="Text 2"/>
          <p:cNvSpPr txBox="1"/>
          <p:nvPr/>
        </p:nvSpPr>
        <p:spPr>
          <a:xfrm>
            <a:off x="548640" y="1600200"/>
            <a:ext cx="11094415" cy="320040"/>
          </a:xfrm>
          <a:prstGeom prst="rect">
            <a:avLst/>
          </a:prstGeom>
          <a:noFill/>
          <a:ln/>
        </p:spPr>
        <p:txBody>
          <a:bodyPr wrap="square" lIns="0" tIns="0" rIns="0" bIns="0" rtlCol="0" anchor="t"/>
          <a:lstStyle/>
          <a:p>
            <a:pPr indent="0" marL="0">
              <a:buNone/>
            </a:pPr>
            <a:r>
              <a:rPr lang="en-US" sz="1600" b="1" dirty="0">
                <a:solidFill>
                  <a:schemeClr val="accent6"/>
                </a:solidFill>
              </a:rPr>
              <a:t>질문 하나가 처리되는 흐름</a:t>
            </a:r>
            <a:endParaRPr lang="en-US" sz="1600" dirty="0"/>
          </a:p>
        </p:txBody>
      </p:sp>
      <p:sp>
        <p:nvSpPr>
          <p:cNvPr id="5" name="Shape 3"/>
          <p:cNvSpPr/>
          <p:nvPr/>
        </p:nvSpPr>
        <p:spPr>
          <a:xfrm>
            <a:off x="548640" y="2011680"/>
            <a:ext cx="2293544" cy="1325880"/>
          </a:xfrm>
          <a:prstGeom prst="roundRect">
            <a:avLst>
              <a:gd name="adj" fmla="val 6897"/>
            </a:avLst>
          </a:prstGeom>
          <a:solidFill>
            <a:srgbClr val="FDFCF9"/>
          </a:solidFill>
          <a:ln w="12700">
            <a:solidFill>
              <a:srgbClr val="DDD8CC"/>
            </a:solidFill>
            <a:prstDash val="solid"/>
          </a:ln>
        </p:spPr>
      </p:sp>
      <p:sp>
        <p:nvSpPr>
          <p:cNvPr id="6" name="Text 4"/>
          <p:cNvSpPr txBox="1"/>
          <p:nvPr/>
        </p:nvSpPr>
        <p:spPr>
          <a:xfrm>
            <a:off x="731520" y="2176272"/>
            <a:ext cx="1927784" cy="365760"/>
          </a:xfrm>
          <a:prstGeom prst="rect">
            <a:avLst/>
          </a:prstGeom>
          <a:noFill/>
          <a:ln/>
        </p:spPr>
        <p:txBody>
          <a:bodyPr wrap="square" lIns="0" tIns="0" rIns="0" bIns="0" rtlCol="0" anchor="t"/>
          <a:lstStyle/>
          <a:p>
            <a:pPr indent="0" marL="0">
              <a:buNone/>
            </a:pPr>
            <a:r>
              <a:rPr lang="en-US" sz="1600" b="1" dirty="0">
                <a:solidFill>
                  <a:schemeClr val="tx2"/>
                </a:solidFill>
              </a:rPr>
              <a:t>① 사용자</a:t>
            </a:r>
            <a:endParaRPr lang="en-US" sz="1600" dirty="0"/>
          </a:p>
        </p:txBody>
      </p:sp>
      <p:sp>
        <p:nvSpPr>
          <p:cNvPr id="7" name="Text 5"/>
          <p:cNvSpPr txBox="1"/>
          <p:nvPr/>
        </p:nvSpPr>
        <p:spPr>
          <a:xfrm>
            <a:off x="731520" y="2578608"/>
            <a:ext cx="1927784" cy="640080"/>
          </a:xfrm>
          <a:prstGeom prst="rect">
            <a:avLst/>
          </a:prstGeom>
          <a:noFill/>
          <a:ln/>
        </p:spPr>
        <p:txBody>
          <a:bodyPr wrap="square" lIns="0" tIns="0" rIns="0" bIns="0" rtlCol="0" anchor="t"/>
          <a:lstStyle/>
          <a:p>
            <a:pPr indent="0" marL="0">
              <a:buNone/>
            </a:pPr>
            <a:r>
              <a:rPr lang="en-US" sz="1300" dirty="0">
                <a:solidFill>
                  <a:schemeClr val="accent6"/>
                </a:solidFill>
              </a:rPr>
              <a:t>화면명 또는 공정·용어 질문</a:t>
            </a:r>
            <a:endParaRPr lang="en-US" sz="1300" dirty="0"/>
          </a:p>
        </p:txBody>
      </p:sp>
      <p:sp>
        <p:nvSpPr>
          <p:cNvPr id="8" name="Shape 6"/>
          <p:cNvSpPr/>
          <p:nvPr/>
        </p:nvSpPr>
        <p:spPr>
          <a:xfrm>
            <a:off x="2979344" y="2555748"/>
            <a:ext cx="365760" cy="237744"/>
          </a:xfrm>
          <a:prstGeom prst="rightArrow">
            <a:avLst/>
          </a:prstGeom>
          <a:solidFill>
            <a:schemeClr val="accent6"/>
          </a:solidFill>
          <a:ln w="12700">
            <a:solidFill>
              <a:schemeClr val="accent6"/>
            </a:solidFill>
            <a:prstDash val="solid"/>
          </a:ln>
        </p:spPr>
      </p:sp>
      <p:sp>
        <p:nvSpPr>
          <p:cNvPr id="9" name="Shape 7"/>
          <p:cNvSpPr/>
          <p:nvPr/>
        </p:nvSpPr>
        <p:spPr>
          <a:xfrm>
            <a:off x="3482264" y="2011680"/>
            <a:ext cx="2293544" cy="1325880"/>
          </a:xfrm>
          <a:prstGeom prst="roundRect">
            <a:avLst>
              <a:gd name="adj" fmla="val 6897"/>
            </a:avLst>
          </a:prstGeom>
          <a:solidFill>
            <a:schemeClr val="accent4"/>
          </a:solidFill>
          <a:ln w="19050">
            <a:solidFill>
              <a:schemeClr val="accent2"/>
            </a:solidFill>
            <a:prstDash val="solid"/>
          </a:ln>
        </p:spPr>
      </p:sp>
      <p:sp>
        <p:nvSpPr>
          <p:cNvPr id="10" name="Text 8"/>
          <p:cNvSpPr txBox="1"/>
          <p:nvPr/>
        </p:nvSpPr>
        <p:spPr>
          <a:xfrm>
            <a:off x="3665144" y="2176272"/>
            <a:ext cx="1927784" cy="365760"/>
          </a:xfrm>
          <a:prstGeom prst="rect">
            <a:avLst/>
          </a:prstGeom>
          <a:noFill/>
          <a:ln/>
        </p:spPr>
        <p:txBody>
          <a:bodyPr wrap="square" lIns="0" tIns="0" rIns="0" bIns="0" rtlCol="0" anchor="t"/>
          <a:lstStyle/>
          <a:p>
            <a:pPr indent="0" marL="0">
              <a:buNone/>
            </a:pPr>
            <a:r>
              <a:rPr lang="en-US" sz="1600" b="1" dirty="0">
                <a:solidFill>
                  <a:schemeClr val="tx2"/>
                </a:solidFill>
              </a:rPr>
              <a:t>② workflow.py</a:t>
            </a:r>
            <a:endParaRPr lang="en-US" sz="1600" dirty="0"/>
          </a:p>
        </p:txBody>
      </p:sp>
      <p:sp>
        <p:nvSpPr>
          <p:cNvPr id="11" name="Text 9"/>
          <p:cNvSpPr txBox="1"/>
          <p:nvPr/>
        </p:nvSpPr>
        <p:spPr>
          <a:xfrm>
            <a:off x="3665144" y="2578608"/>
            <a:ext cx="1927784" cy="640080"/>
          </a:xfrm>
          <a:prstGeom prst="rect">
            <a:avLst/>
          </a:prstGeom>
          <a:noFill/>
          <a:ln/>
        </p:spPr>
        <p:txBody>
          <a:bodyPr wrap="square" lIns="0" tIns="0" rIns="0" bIns="0" rtlCol="0" anchor="t"/>
          <a:lstStyle/>
          <a:p>
            <a:pPr indent="0" marL="0">
              <a:buNone/>
            </a:pPr>
            <a:r>
              <a:rPr lang="en-US" sz="1300" dirty="0">
                <a:solidFill>
                  <a:schemeClr val="tx1"/>
                </a:solidFill>
              </a:rPr>
              <a:t>사내 화면 목록에서 화면을 직접 찾음</a:t>
            </a:r>
            <a:endParaRPr lang="en-US" sz="1300" dirty="0"/>
          </a:p>
        </p:txBody>
      </p:sp>
      <p:sp>
        <p:nvSpPr>
          <p:cNvPr id="12" name="Shape 10"/>
          <p:cNvSpPr/>
          <p:nvPr/>
        </p:nvSpPr>
        <p:spPr>
          <a:xfrm>
            <a:off x="5912968" y="2555748"/>
            <a:ext cx="365760" cy="237744"/>
          </a:xfrm>
          <a:prstGeom prst="rightArrow">
            <a:avLst/>
          </a:prstGeom>
          <a:solidFill>
            <a:schemeClr val="accent6"/>
          </a:solidFill>
          <a:ln w="12700">
            <a:solidFill>
              <a:schemeClr val="accent6"/>
            </a:solidFill>
            <a:prstDash val="solid"/>
          </a:ln>
        </p:spPr>
      </p:sp>
      <p:sp>
        <p:nvSpPr>
          <p:cNvPr id="13" name="Shape 11"/>
          <p:cNvSpPr/>
          <p:nvPr/>
        </p:nvSpPr>
        <p:spPr>
          <a:xfrm>
            <a:off x="6415888" y="2011680"/>
            <a:ext cx="2293544" cy="1325880"/>
          </a:xfrm>
          <a:prstGeom prst="roundRect">
            <a:avLst>
              <a:gd name="adj" fmla="val 6897"/>
            </a:avLst>
          </a:prstGeom>
          <a:solidFill>
            <a:schemeClr val="accent5"/>
          </a:solidFill>
          <a:ln w="19050">
            <a:solidFill>
              <a:schemeClr val="accent3"/>
            </a:solidFill>
            <a:prstDash val="solid"/>
          </a:ln>
        </p:spPr>
      </p:sp>
      <p:sp>
        <p:nvSpPr>
          <p:cNvPr id="14" name="Text 12"/>
          <p:cNvSpPr txBox="1"/>
          <p:nvPr/>
        </p:nvSpPr>
        <p:spPr>
          <a:xfrm>
            <a:off x="6598768" y="2176272"/>
            <a:ext cx="1927784" cy="365760"/>
          </a:xfrm>
          <a:prstGeom prst="rect">
            <a:avLst/>
          </a:prstGeom>
          <a:noFill/>
          <a:ln/>
        </p:spPr>
        <p:txBody>
          <a:bodyPr wrap="square" lIns="0" tIns="0" rIns="0" bIns="0" rtlCol="0" anchor="t"/>
          <a:lstStyle/>
          <a:p>
            <a:pPr indent="0" marL="0">
              <a:buNone/>
            </a:pPr>
            <a:r>
              <a:rPr lang="en-US" sz="1600" b="1" dirty="0">
                <a:solidFill>
                  <a:schemeClr val="tx2"/>
                </a:solidFill>
              </a:rPr>
              <a:t>③ 사내 LLM</a:t>
            </a:r>
            <a:endParaRPr lang="en-US" sz="1600" dirty="0"/>
          </a:p>
        </p:txBody>
      </p:sp>
      <p:sp>
        <p:nvSpPr>
          <p:cNvPr id="15" name="Text 13"/>
          <p:cNvSpPr txBox="1"/>
          <p:nvPr/>
        </p:nvSpPr>
        <p:spPr>
          <a:xfrm>
            <a:off x="6598768" y="2578608"/>
            <a:ext cx="1927784" cy="640080"/>
          </a:xfrm>
          <a:prstGeom prst="rect">
            <a:avLst/>
          </a:prstGeom>
          <a:noFill/>
          <a:ln/>
        </p:spPr>
        <p:txBody>
          <a:bodyPr wrap="square" lIns="0" tIns="0" rIns="0" bIns="0" rtlCol="0" anchor="t"/>
          <a:lstStyle/>
          <a:p>
            <a:pPr indent="0" marL="0">
              <a:buNone/>
            </a:pPr>
            <a:r>
              <a:rPr lang="en-US" sz="1300" dirty="0">
                <a:solidFill>
                  <a:schemeClr val="tx1"/>
                </a:solidFill>
              </a:rPr>
              <a:t>사내 설명 + 반도체 지식으로 설명</a:t>
            </a:r>
            <a:endParaRPr lang="en-US" sz="1300" dirty="0"/>
          </a:p>
        </p:txBody>
      </p:sp>
      <p:sp>
        <p:nvSpPr>
          <p:cNvPr id="16" name="Shape 14"/>
          <p:cNvSpPr/>
          <p:nvPr/>
        </p:nvSpPr>
        <p:spPr>
          <a:xfrm>
            <a:off x="8846591" y="2555748"/>
            <a:ext cx="365760" cy="237744"/>
          </a:xfrm>
          <a:prstGeom prst="rightArrow">
            <a:avLst/>
          </a:prstGeom>
          <a:solidFill>
            <a:schemeClr val="accent6"/>
          </a:solidFill>
          <a:ln w="12700">
            <a:solidFill>
              <a:schemeClr val="accent6"/>
            </a:solidFill>
            <a:prstDash val="solid"/>
          </a:ln>
        </p:spPr>
      </p:sp>
      <p:sp>
        <p:nvSpPr>
          <p:cNvPr id="17" name="Shape 15"/>
          <p:cNvSpPr/>
          <p:nvPr/>
        </p:nvSpPr>
        <p:spPr>
          <a:xfrm>
            <a:off x="9349511" y="2011680"/>
            <a:ext cx="2293544" cy="1325880"/>
          </a:xfrm>
          <a:prstGeom prst="roundRect">
            <a:avLst>
              <a:gd name="adj" fmla="val 6897"/>
            </a:avLst>
          </a:prstGeom>
          <a:solidFill>
            <a:srgbClr val="FDFCF9"/>
          </a:solidFill>
          <a:ln w="12700">
            <a:solidFill>
              <a:srgbClr val="DDD8CC"/>
            </a:solidFill>
            <a:prstDash val="solid"/>
          </a:ln>
        </p:spPr>
      </p:sp>
      <p:sp>
        <p:nvSpPr>
          <p:cNvPr id="18" name="Text 16"/>
          <p:cNvSpPr txBox="1"/>
          <p:nvPr/>
        </p:nvSpPr>
        <p:spPr>
          <a:xfrm>
            <a:off x="9532391" y="2176272"/>
            <a:ext cx="1927784" cy="365760"/>
          </a:xfrm>
          <a:prstGeom prst="rect">
            <a:avLst/>
          </a:prstGeom>
          <a:noFill/>
          <a:ln/>
        </p:spPr>
        <p:txBody>
          <a:bodyPr wrap="square" lIns="0" tIns="0" rIns="0" bIns="0" rtlCol="0" anchor="t"/>
          <a:lstStyle/>
          <a:p>
            <a:pPr indent="0" marL="0">
              <a:buNone/>
            </a:pPr>
            <a:r>
              <a:rPr lang="en-US" sz="1600" b="1" dirty="0">
                <a:solidFill>
                  <a:schemeClr val="tx2"/>
                </a:solidFill>
              </a:rPr>
              <a:t>④ 답변</a:t>
            </a:r>
            <a:endParaRPr lang="en-US" sz="1600" dirty="0"/>
          </a:p>
        </p:txBody>
      </p:sp>
      <p:sp>
        <p:nvSpPr>
          <p:cNvPr id="19" name="Text 17"/>
          <p:cNvSpPr txBox="1"/>
          <p:nvPr/>
        </p:nvSpPr>
        <p:spPr>
          <a:xfrm>
            <a:off x="9532391" y="2578608"/>
            <a:ext cx="1927784" cy="640080"/>
          </a:xfrm>
          <a:prstGeom prst="rect">
            <a:avLst/>
          </a:prstGeom>
          <a:noFill/>
          <a:ln/>
        </p:spPr>
        <p:txBody>
          <a:bodyPr wrap="square" lIns="0" tIns="0" rIns="0" bIns="0" rtlCol="0" anchor="t"/>
          <a:lstStyle/>
          <a:p>
            <a:pPr indent="0" marL="0">
              <a:buNone/>
            </a:pPr>
            <a:r>
              <a:rPr lang="en-US" sz="1300" dirty="0">
                <a:solidFill>
                  <a:schemeClr val="accent6"/>
                </a:solidFill>
              </a:rPr>
              <a:t>화면 설명 · 개념 설명 · 되묻기</a:t>
            </a:r>
            <a:endParaRPr lang="en-US" sz="1300" dirty="0"/>
          </a:p>
        </p:txBody>
      </p:sp>
      <p:sp>
        <p:nvSpPr>
          <p:cNvPr id="20" name="Text 18"/>
          <p:cNvSpPr txBox="1"/>
          <p:nvPr/>
        </p:nvSpPr>
        <p:spPr>
          <a:xfrm>
            <a:off x="548640" y="3657600"/>
            <a:ext cx="11094415" cy="320040"/>
          </a:xfrm>
          <a:prstGeom prst="rect">
            <a:avLst/>
          </a:prstGeom>
          <a:noFill/>
          <a:ln/>
        </p:spPr>
        <p:txBody>
          <a:bodyPr wrap="square" lIns="0" tIns="0" rIns="0" bIns="0" rtlCol="0" anchor="t"/>
          <a:lstStyle/>
          <a:p>
            <a:pPr indent="0" marL="0">
              <a:buNone/>
            </a:pPr>
            <a:r>
              <a:rPr lang="en-US" sz="1600" b="1" dirty="0">
                <a:solidFill>
                  <a:schemeClr val="accent6"/>
                </a:solidFill>
              </a:rPr>
              <a:t>workflow.py 가 가져다 쓰는 것</a:t>
            </a:r>
            <a:endParaRPr lang="en-US" sz="1600" dirty="0"/>
          </a:p>
        </p:txBody>
      </p:sp>
      <p:sp>
        <p:nvSpPr>
          <p:cNvPr id="21" name="Shape 19"/>
          <p:cNvSpPr/>
          <p:nvPr/>
        </p:nvSpPr>
        <p:spPr>
          <a:xfrm>
            <a:off x="548640" y="4069080"/>
            <a:ext cx="3515258" cy="1097280"/>
          </a:xfrm>
          <a:prstGeom prst="roundRect">
            <a:avLst>
              <a:gd name="adj" fmla="val 8333"/>
            </a:avLst>
          </a:prstGeom>
          <a:solidFill>
            <a:srgbClr val="FDFCF9"/>
          </a:solidFill>
          <a:ln w="12700">
            <a:solidFill>
              <a:srgbClr val="DDD8CC"/>
            </a:solidFill>
            <a:prstDash val="solid"/>
          </a:ln>
        </p:spPr>
      </p:sp>
      <p:sp>
        <p:nvSpPr>
          <p:cNvPr id="22" name="Text 20"/>
          <p:cNvSpPr txBox="1"/>
          <p:nvPr/>
        </p:nvSpPr>
        <p:spPr>
          <a:xfrm>
            <a:off x="777240" y="4224528"/>
            <a:ext cx="3058058" cy="365760"/>
          </a:xfrm>
          <a:prstGeom prst="rect">
            <a:avLst/>
          </a:prstGeom>
          <a:noFill/>
          <a:ln/>
        </p:spPr>
        <p:txBody>
          <a:bodyPr wrap="square" lIns="0" tIns="0" rIns="0" bIns="0" rtlCol="0" anchor="t"/>
          <a:lstStyle/>
          <a:p>
            <a:pPr indent="0" marL="0">
              <a:buNone/>
            </a:pPr>
            <a:r>
              <a:rPr lang="en-US" sz="1600" b="1" dirty="0">
                <a:solidFill>
                  <a:schemeClr val="accent1"/>
                </a:solidFill>
              </a:rPr>
              <a:t>MES_SCREENS</a:t>
            </a:r>
            <a:endParaRPr lang="en-US" sz="1600" dirty="0"/>
          </a:p>
        </p:txBody>
      </p:sp>
      <p:sp>
        <p:nvSpPr>
          <p:cNvPr id="23" name="Text 21"/>
          <p:cNvSpPr txBox="1"/>
          <p:nvPr/>
        </p:nvSpPr>
        <p:spPr>
          <a:xfrm>
            <a:off x="777240" y="4617720"/>
            <a:ext cx="3058058" cy="457200"/>
          </a:xfrm>
          <a:prstGeom prst="rect">
            <a:avLst/>
          </a:prstGeom>
          <a:noFill/>
          <a:ln/>
        </p:spPr>
        <p:txBody>
          <a:bodyPr wrap="square" lIns="0" tIns="0" rIns="0" bIns="0" rtlCol="0" anchor="t"/>
          <a:lstStyle/>
          <a:p>
            <a:pPr indent="0" marL="0">
              <a:buNone/>
            </a:pPr>
            <a:r>
              <a:rPr lang="en-US" sz="1300" dirty="0">
                <a:solidFill>
                  <a:schemeClr val="accent6"/>
                </a:solidFill>
              </a:rPr>
              <a:t>사내 화면 목록 (화면명 | 설명 | 별칭)</a:t>
            </a:r>
            <a:endParaRPr lang="en-US" sz="1300" dirty="0"/>
          </a:p>
        </p:txBody>
      </p:sp>
      <p:sp>
        <p:nvSpPr>
          <p:cNvPr id="24" name="Shape 22"/>
          <p:cNvSpPr/>
          <p:nvPr/>
        </p:nvSpPr>
        <p:spPr>
          <a:xfrm>
            <a:off x="4338218" y="4069080"/>
            <a:ext cx="3515258" cy="1097280"/>
          </a:xfrm>
          <a:prstGeom prst="roundRect">
            <a:avLst>
              <a:gd name="adj" fmla="val 8333"/>
            </a:avLst>
          </a:prstGeom>
          <a:solidFill>
            <a:srgbClr val="FDFCF9"/>
          </a:solidFill>
          <a:ln w="12700">
            <a:solidFill>
              <a:srgbClr val="DDD8CC"/>
            </a:solidFill>
            <a:prstDash val="solid"/>
          </a:ln>
        </p:spPr>
      </p:sp>
      <p:sp>
        <p:nvSpPr>
          <p:cNvPr id="25" name="Text 23"/>
          <p:cNvSpPr txBox="1"/>
          <p:nvPr/>
        </p:nvSpPr>
        <p:spPr>
          <a:xfrm>
            <a:off x="4566818" y="4224528"/>
            <a:ext cx="3058058" cy="365760"/>
          </a:xfrm>
          <a:prstGeom prst="rect">
            <a:avLst/>
          </a:prstGeom>
          <a:noFill/>
          <a:ln/>
        </p:spPr>
        <p:txBody>
          <a:bodyPr wrap="square" lIns="0" tIns="0" rIns="0" bIns="0" rtlCol="0" anchor="t"/>
          <a:lstStyle/>
          <a:p>
            <a:pPr indent="0" marL="0">
              <a:buNone/>
            </a:pPr>
            <a:r>
              <a:rPr lang="en-US" sz="1600" b="1" dirty="0">
                <a:solidFill>
                  <a:schemeClr val="accent1"/>
                </a:solidFill>
              </a:rPr>
              <a:t>prompts.py 지시문</a:t>
            </a:r>
            <a:endParaRPr lang="en-US" sz="1600" dirty="0"/>
          </a:p>
        </p:txBody>
      </p:sp>
      <p:sp>
        <p:nvSpPr>
          <p:cNvPr id="26" name="Text 24"/>
          <p:cNvSpPr txBox="1"/>
          <p:nvPr/>
        </p:nvSpPr>
        <p:spPr>
          <a:xfrm>
            <a:off x="4566818" y="4617720"/>
            <a:ext cx="3058058" cy="457200"/>
          </a:xfrm>
          <a:prstGeom prst="rect">
            <a:avLst/>
          </a:prstGeom>
          <a:noFill/>
          <a:ln/>
        </p:spPr>
        <p:txBody>
          <a:bodyPr wrap="square" lIns="0" tIns="0" rIns="0" bIns="0" rtlCol="0" anchor="t"/>
          <a:lstStyle/>
          <a:p>
            <a:pPr indent="0" marL="0">
              <a:buNone/>
            </a:pPr>
            <a:r>
              <a:rPr lang="en-US" sz="1300" dirty="0">
                <a:solidFill>
                  <a:schemeClr val="accent6"/>
                </a:solidFill>
              </a:rPr>
              <a:t>LLM 노드마다 하나 + 공통 규칙</a:t>
            </a:r>
            <a:endParaRPr lang="en-US" sz="1300" dirty="0"/>
          </a:p>
        </p:txBody>
      </p:sp>
      <p:sp>
        <p:nvSpPr>
          <p:cNvPr id="27" name="Shape 25"/>
          <p:cNvSpPr/>
          <p:nvPr/>
        </p:nvSpPr>
        <p:spPr>
          <a:xfrm>
            <a:off x="8127797" y="4069080"/>
            <a:ext cx="3515258" cy="1097280"/>
          </a:xfrm>
          <a:prstGeom prst="roundRect">
            <a:avLst>
              <a:gd name="adj" fmla="val 8333"/>
            </a:avLst>
          </a:prstGeom>
          <a:solidFill>
            <a:srgbClr val="FDFCF9"/>
          </a:solidFill>
          <a:ln w="12700">
            <a:solidFill>
              <a:srgbClr val="DDD8CC"/>
            </a:solidFill>
            <a:prstDash val="solid"/>
          </a:ln>
        </p:spPr>
      </p:sp>
      <p:sp>
        <p:nvSpPr>
          <p:cNvPr id="28" name="Text 26"/>
          <p:cNvSpPr txBox="1"/>
          <p:nvPr/>
        </p:nvSpPr>
        <p:spPr>
          <a:xfrm>
            <a:off x="8356397" y="4224528"/>
            <a:ext cx="3058058" cy="365760"/>
          </a:xfrm>
          <a:prstGeom prst="rect">
            <a:avLst/>
          </a:prstGeom>
          <a:noFill/>
          <a:ln/>
        </p:spPr>
        <p:txBody>
          <a:bodyPr wrap="square" lIns="0" tIns="0" rIns="0" bIns="0" rtlCol="0" anchor="t"/>
          <a:lstStyle/>
          <a:p>
            <a:pPr indent="0" marL="0">
              <a:buNone/>
            </a:pPr>
            <a:r>
              <a:rPr lang="en-US" sz="1600" b="1" dirty="0">
                <a:solidFill>
                  <a:schemeClr val="accent1"/>
                </a:solidFill>
              </a:rPr>
              <a:t>app/ (공용)</a:t>
            </a:r>
            <a:endParaRPr lang="en-US" sz="1600" dirty="0"/>
          </a:p>
        </p:txBody>
      </p:sp>
      <p:sp>
        <p:nvSpPr>
          <p:cNvPr id="29" name="Text 27"/>
          <p:cNvSpPr txBox="1"/>
          <p:nvPr/>
        </p:nvSpPr>
        <p:spPr>
          <a:xfrm>
            <a:off x="8356397" y="4617720"/>
            <a:ext cx="3058058" cy="457200"/>
          </a:xfrm>
          <a:prstGeom prst="rect">
            <a:avLst/>
          </a:prstGeom>
          <a:noFill/>
          <a:ln/>
        </p:spPr>
        <p:txBody>
          <a:bodyPr wrap="square" lIns="0" tIns="0" rIns="0" bIns="0" rtlCol="0" anchor="t"/>
          <a:lstStyle/>
          <a:p>
            <a:pPr indent="0" marL="0">
              <a:buNone/>
            </a:pPr>
            <a:r>
              <a:rPr lang="en-US" sz="1300" dirty="0">
                <a:solidFill>
                  <a:schemeClr val="accent6"/>
                </a:solidFill>
              </a:rPr>
              <a:t>State 기본형과 사내 LLM 연결 함수 get_llm()</a:t>
            </a:r>
            <a:endParaRPr lang="en-US" sz="13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prompts.py · ★ 데이터 입력 구간</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사내 화면 데이터는 여기에 넣습니다</a:t>
            </a:r>
            <a:endParaRPr lang="en-US" sz="3000" dirty="0"/>
          </a:p>
        </p:txBody>
      </p:sp>
      <p:sp>
        <p:nvSpPr>
          <p:cNvPr id="4" name="Shape 2"/>
          <p:cNvSpPr/>
          <p:nvPr/>
        </p:nvSpPr>
        <p:spPr>
          <a:xfrm>
            <a:off x="548640" y="1691640"/>
            <a:ext cx="6675120" cy="3931920"/>
          </a:xfrm>
          <a:prstGeom prst="roundRect">
            <a:avLst>
              <a:gd name="adj" fmla="val 2326"/>
            </a:avLst>
          </a:prstGeom>
          <a:solidFill>
            <a:schemeClr val="tx2"/>
          </a:solidFill>
          <a:ln w="12700">
            <a:solidFill>
              <a:schemeClr val="tx2"/>
            </a:solidFill>
            <a:prstDash val="solid"/>
          </a:ln>
        </p:spPr>
      </p:sp>
      <p:sp>
        <p:nvSpPr>
          <p:cNvPr id="5" name="Text 3"/>
          <p:cNvSpPr txBox="1"/>
          <p:nvPr/>
        </p:nvSpPr>
        <p:spPr>
          <a:xfrm>
            <a:off x="822960" y="1874520"/>
            <a:ext cx="6126480" cy="365760"/>
          </a:xfrm>
          <a:prstGeom prst="rect">
            <a:avLst/>
          </a:prstGeom>
          <a:noFill/>
          <a:ln/>
        </p:spPr>
        <p:txBody>
          <a:bodyPr wrap="square" lIns="0" tIns="0" rIns="0" bIns="0" rtlCol="0" anchor="t"/>
          <a:lstStyle/>
          <a:p>
            <a:pPr indent="0" marL="0">
              <a:buNone/>
            </a:pPr>
            <a:r>
              <a:rPr lang="en-US" sz="1500" b="1" dirty="0">
                <a:solidFill>
                  <a:schemeClr val="bg2"/>
                </a:solidFill>
              </a:rPr>
              <a:t>MES_SCREENS = """ ... """</a:t>
            </a:r>
            <a:endParaRPr lang="en-US" sz="1500" dirty="0"/>
          </a:p>
        </p:txBody>
      </p:sp>
      <p:sp>
        <p:nvSpPr>
          <p:cNvPr id="6" name="Text 4"/>
          <p:cNvSpPr txBox="1"/>
          <p:nvPr/>
        </p:nvSpPr>
        <p:spPr>
          <a:xfrm>
            <a:off x="822960" y="2331720"/>
            <a:ext cx="6126480" cy="3108960"/>
          </a:xfrm>
          <a:prstGeom prst="rect">
            <a:avLst/>
          </a:prstGeom>
          <a:noFill/>
          <a:ln/>
        </p:spPr>
        <p:txBody>
          <a:bodyPr wrap="square" lIns="0" tIns="0" rIns="0" bIns="0" rtlCol="0" anchor="t"/>
          <a:lstStyle/>
          <a:p>
            <a:pPr indent="0" marL="0">
              <a:spcAft>
                <a:spcPts val="600"/>
              </a:spcAft>
              <a:buNone/>
            </a:pPr>
            <a:r>
              <a:rPr lang="en-US" sz="1200" dirty="0">
                <a:solidFill>
                  <a:srgbClr val="C9CDE0"/>
                </a:solidFill>
                <a:latin typeface="Consolas" pitchFamily="34" charset="0"/>
                <a:ea typeface="Consolas" pitchFamily="34" charset="-122"/>
                <a:cs typeface="Consolas" pitchFamily="34" charset="-120"/>
              </a:rPr>
              <a:t># 화면명 | 설명 | 별칭(선택)</a:t>
            </a:r>
            <a:endParaRPr lang="en-US" sz="1200" dirty="0"/>
          </a:p>
          <a:p>
            <a:pPr indent="0" marL="0">
              <a:spcAft>
                <a:spcPts val="600"/>
              </a:spcAft>
              <a:buNone/>
            </a:pPr>
            <a:r>
              <a:rPr lang="en-US" sz="1200" dirty="0">
                <a:solidFill>
                  <a:srgbClr val="EEF0F6"/>
                </a:solidFill>
                <a:latin typeface="Consolas" pitchFamily="34" charset="0"/>
                <a:ea typeface="Consolas" pitchFamily="34" charset="-122"/>
                <a:cs typeface="Consolas" pitchFamily="34" charset="-120"/>
              </a:rPr>
              <a:t>Lot 이력 조회 | Lot ID를 입력하면 거쳐 간 공정</a:t>
            </a:r>
            <a:endParaRPr lang="en-US" sz="1200" dirty="0"/>
          </a:p>
          <a:p>
            <a:pPr indent="0" marL="0">
              <a:spcAft>
                <a:spcPts val="600"/>
              </a:spcAft>
              <a:buNone/>
            </a:pPr>
            <a:r>
              <a:rPr lang="en-US" sz="1200" dirty="0">
                <a:solidFill>
                  <a:srgbClr val="EEF0F6"/>
                </a:solidFill>
                <a:latin typeface="Consolas" pitchFamily="34" charset="0"/>
                <a:ea typeface="Consolas" pitchFamily="34" charset="-122"/>
                <a:cs typeface="Consolas" pitchFamily="34" charset="-120"/>
              </a:rPr>
              <a:t>  Step, 설비, Track-In/Out, Hold 이력을 보여준다.</a:t>
            </a:r>
            <a:endParaRPr lang="en-US" sz="1200" dirty="0"/>
          </a:p>
          <a:p>
            <a:pPr indent="0" marL="0">
              <a:spcAft>
                <a:spcPts val="600"/>
              </a:spcAft>
              <a:buNone/>
            </a:pPr>
            <a:r>
              <a:rPr lang="en-US" sz="1200" dirty="0">
                <a:solidFill>
                  <a:srgbClr val="EEF0F6"/>
                </a:solidFill>
                <a:latin typeface="Consolas" pitchFamily="34" charset="0"/>
                <a:ea typeface="Consolas" pitchFamily="34" charset="-122"/>
                <a:cs typeface="Consolas" pitchFamily="34" charset="-120"/>
              </a:rPr>
              <a:t>  | Lot History</a:t>
            </a:r>
            <a:endParaRPr lang="en-US" sz="1200" dirty="0"/>
          </a:p>
          <a:p>
            <a:pPr indent="0" marL="0">
              <a:spcAft>
                <a:spcPts val="600"/>
              </a:spcAft>
              <a:buNone/>
            </a:pPr>
            <a:r>
              <a:rPr lang="en-US" sz="1200" dirty="0">
                <a:solidFill>
                  <a:srgbClr val="EEF0F6"/>
                </a:solidFill>
                <a:latin typeface="Consolas" pitchFamily="34" charset="0"/>
                <a:ea typeface="Consolas" pitchFamily="34" charset="-122"/>
                <a:cs typeface="Consolas" pitchFamily="34" charset="-120"/>
              </a:rPr>
              <a:t>Hold Lot 관리 | Hold 된 Lot 목록을 조회하고</a:t>
            </a:r>
            <a:endParaRPr lang="en-US" sz="1200" dirty="0"/>
          </a:p>
          <a:p>
            <a:pPr indent="0" marL="0">
              <a:spcAft>
                <a:spcPts val="600"/>
              </a:spcAft>
              <a:buNone/>
            </a:pPr>
            <a:r>
              <a:rPr lang="en-US" sz="1200" dirty="0">
                <a:solidFill>
                  <a:srgbClr val="EEF0F6"/>
                </a:solidFill>
                <a:latin typeface="Consolas" pitchFamily="34" charset="0"/>
                <a:ea typeface="Consolas" pitchFamily="34" charset="-122"/>
                <a:cs typeface="Consolas" pitchFamily="34" charset="-120"/>
              </a:rPr>
              <a:t>  사유 확인 및 Release 처리를 한다. | 홀드 관리</a:t>
            </a:r>
            <a:endParaRPr lang="en-US" sz="1200" dirty="0"/>
          </a:p>
          <a:p>
            <a:pPr indent="0" marL="0">
              <a:spcAft>
                <a:spcPts val="600"/>
              </a:spcAft>
              <a:buNone/>
            </a:pPr>
            <a:r>
              <a:rPr lang="en-US" sz="1200" dirty="0">
                <a:solidFill>
                  <a:srgbClr val="EEF0F6"/>
                </a:solidFill>
                <a:latin typeface="Consolas" pitchFamily="34" charset="0"/>
                <a:ea typeface="Consolas" pitchFamily="34" charset="-122"/>
                <a:cs typeface="Consolas" pitchFamily="34" charset="-120"/>
              </a:rPr>
              <a:t>SPC 차트 조회 | 관리도를 조회하고 OOC/OOS</a:t>
            </a:r>
            <a:endParaRPr lang="en-US" sz="1200" dirty="0"/>
          </a:p>
          <a:p>
            <a:pPr indent="0" marL="0">
              <a:spcAft>
                <a:spcPts val="600"/>
              </a:spcAft>
              <a:buNone/>
            </a:pPr>
            <a:r>
              <a:rPr lang="en-US" sz="1200" dirty="0">
                <a:solidFill>
                  <a:srgbClr val="EEF0F6"/>
                </a:solidFill>
                <a:latin typeface="Consolas" pitchFamily="34" charset="0"/>
                <a:ea typeface="Consolas" pitchFamily="34" charset="-122"/>
                <a:cs typeface="Consolas" pitchFamily="34" charset="-120"/>
              </a:rPr>
              <a:t>  발생 여부를 확인한다. | 관리도</a:t>
            </a:r>
            <a:endParaRPr lang="en-US" sz="1200" dirty="0"/>
          </a:p>
          <a:p>
            <a:pPr indent="0" marL="0">
              <a:spcAft>
                <a:spcPts val="600"/>
              </a:spcAft>
              <a:buNone/>
            </a:pPr>
            <a:r>
              <a:rPr lang="en-US" sz="1200" dirty="0">
                <a:solidFill>
                  <a:srgbClr val="C9CDE0"/>
                </a:solidFill>
                <a:latin typeface="Consolas" pitchFamily="34" charset="0"/>
                <a:ea typeface="Consolas" pitchFamily="34" charset="-122"/>
                <a:cs typeface="Consolas" pitchFamily="34" charset="-120"/>
              </a:rPr>
              <a:t># 실제로는 한 화면 = 한 줄</a:t>
            </a:r>
            <a:endParaRPr lang="en-US" sz="1200" dirty="0"/>
          </a:p>
        </p:txBody>
      </p:sp>
      <p:sp>
        <p:nvSpPr>
          <p:cNvPr id="7" name="Shape 5"/>
          <p:cNvSpPr/>
          <p:nvPr/>
        </p:nvSpPr>
        <p:spPr>
          <a:xfrm>
            <a:off x="7543800" y="1691640"/>
            <a:ext cx="4099255" cy="3931920"/>
          </a:xfrm>
          <a:prstGeom prst="roundRect">
            <a:avLst>
              <a:gd name="adj" fmla="val 2326"/>
            </a:avLst>
          </a:prstGeom>
          <a:solidFill>
            <a:srgbClr val="FDFCF9"/>
          </a:solidFill>
          <a:ln w="12700">
            <a:solidFill>
              <a:srgbClr val="DDD8CC"/>
            </a:solidFill>
            <a:prstDash val="solid"/>
          </a:ln>
        </p:spPr>
      </p:sp>
      <p:sp>
        <p:nvSpPr>
          <p:cNvPr id="8" name="Text 6"/>
          <p:cNvSpPr txBox="1"/>
          <p:nvPr/>
        </p:nvSpPr>
        <p:spPr>
          <a:xfrm>
            <a:off x="7818120" y="1874520"/>
            <a:ext cx="3550615" cy="365760"/>
          </a:xfrm>
          <a:prstGeom prst="rect">
            <a:avLst/>
          </a:prstGeom>
          <a:noFill/>
          <a:ln/>
        </p:spPr>
        <p:txBody>
          <a:bodyPr wrap="square" lIns="0" tIns="0" rIns="0" bIns="0" rtlCol="0" anchor="t"/>
          <a:lstStyle/>
          <a:p>
            <a:pPr indent="0" marL="0">
              <a:buNone/>
            </a:pPr>
            <a:r>
              <a:rPr lang="en-US" sz="1700" b="1" dirty="0">
                <a:solidFill>
                  <a:schemeClr val="tx2"/>
                </a:solidFill>
              </a:rPr>
              <a:t>넣는 규칙</a:t>
            </a:r>
            <a:endParaRPr lang="en-US" sz="1700" dirty="0"/>
          </a:p>
        </p:txBody>
      </p:sp>
      <p:sp>
        <p:nvSpPr>
          <p:cNvPr id="9" name="Text 7"/>
          <p:cNvSpPr txBox="1"/>
          <p:nvPr/>
        </p:nvSpPr>
        <p:spPr>
          <a:xfrm>
            <a:off x="7818120" y="2377440"/>
            <a:ext cx="3550615" cy="31089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한 줄에 화면 하나: 화면명 | 설명 | 별칭</a:t>
            </a:r>
            <a:endParaRPr lang="en-US" sz="1400" dirty="0"/>
          </a:p>
          <a:p>
            <a:pPr marL="342900" indent="-342900">
              <a:spcAft>
                <a:spcPts val="600"/>
              </a:spcAft>
              <a:buSzPct val="100000"/>
              <a:buChar char="•"/>
            </a:pPr>
            <a:r>
              <a:rPr lang="en-US" sz="1300" dirty="0">
                <a:solidFill>
                  <a:schemeClr val="tx1"/>
                </a:solidFill>
              </a:rPr>
              <a:t>엑셀에서 [화면명][설명] 두 열을 복사해 붙여넣어도 됨 (탭 구분 자동 인식)</a:t>
            </a:r>
            <a:endParaRPr lang="en-US" sz="1400" dirty="0"/>
          </a:p>
          <a:p>
            <a:pPr marL="342900" indent="-342900">
              <a:spcAft>
                <a:spcPts val="600"/>
              </a:spcAft>
              <a:buSzPct val="100000"/>
              <a:buChar char="•"/>
            </a:pPr>
            <a:r>
              <a:rPr lang="en-US" sz="1300" dirty="0">
                <a:solidFill>
                  <a:schemeClr val="tx1"/>
                </a:solidFill>
              </a:rPr>
              <a:t>별칭에 화면 코드·줄임말·영문명을 쉼표로 넣으면 "홀드관리" 처럼 물어도 찾음</a:t>
            </a:r>
            <a:endParaRPr lang="en-US" sz="1400" dirty="0"/>
          </a:p>
          <a:p>
            <a:pPr marL="342900" indent="-342900">
              <a:spcAft>
                <a:spcPts val="600"/>
              </a:spcAft>
              <a:buSzPct val="100000"/>
              <a:buChar char="•"/>
            </a:pPr>
            <a:r>
              <a:rPr lang="en-US" sz="1300" dirty="0">
                <a:solidFill>
                  <a:schemeClr val="tx1"/>
                </a:solidFill>
              </a:rPr>
              <a:t># 로 시작하는 줄과 빈 줄은 무시</a:t>
            </a:r>
            <a:endParaRPr lang="en-US" sz="1400" dirty="0"/>
          </a:p>
          <a:p>
            <a:pPr marL="342900" indent="-342900">
              <a:spcAft>
                <a:spcPts val="600"/>
              </a:spcAft>
              <a:buSzPct val="100000"/>
              <a:buChar char="•"/>
            </a:pPr>
            <a:r>
              <a:rPr lang="en-US" sz="1300" dirty="0">
                <a:solidFill>
                  <a:schemeClr val="tx1"/>
                </a:solidFill>
              </a:rPr>
              <a:t>지금 들어 있는 예시 6줄은 실제 데이터로 바꾸기</a:t>
            </a:r>
            <a:endParaRPr lang="en-US" sz="1400" dirty="0"/>
          </a:p>
          <a:p>
            <a:pPr marL="342900" indent="-342900">
              <a:spcAft>
                <a:spcPts val="600"/>
              </a:spcAft>
              <a:buSzPct val="100000"/>
              <a:buChar char="•"/>
            </a:pPr>
            <a:r>
              <a:rPr lang="en-US" sz="1300" dirty="0">
                <a:solidFill>
                  <a:schemeClr val="tx1"/>
                </a:solidFill>
              </a:rPr>
              <a:t>확인: python workflow.py --screens (LLM 호출 없음)</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코드는 6개 구역으로 나뉩니다</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884548"/>
                <a:gridCol w="8209867"/>
              </a:tblGrid>
              <a:tr h="384048">
                <a:tc>
                  <a:txBody>
                    <a:bodyPr/>
                    <a:lstStyle/>
                    <a:p>
                      <a:pPr indent="0" marL="0">
                        <a:buNone/>
                      </a:pPr>
                      <a:r>
                        <a:rPr lang="en-US" sz="1400" b="1" dirty="0">
                          <a:solidFill>
                            <a:schemeClr val="bg2"/>
                          </a:solidFill>
                        </a:rPr>
                        <a:t>구역</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내용</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① 설정값 · State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TEAM_INFO, MATCH_THRESHOLD · AMBIGUOUS_GAP · RELATED_LIMIT, MesState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② 화면 데이터·검색</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MES_SCREENS 읽기, 이름 정규화, 유사도 점수, 관련 화면 찾기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③ LLM 호출 도우미</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_ask(): 지시문 + 이전 대화 + 입력으로 LLM 을 한 번 호출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r>
              <a:tr h="384048">
                <a:tc>
                  <a:txBody>
                    <a:bodyPr/>
                    <a:lstStyle/>
                    <a:p>
                      <a:pPr indent="0" marL="0">
                        <a:buNone/>
                      </a:pPr>
                      <a:r>
                        <a:rPr lang="en-US" sz="1400" dirty="0">
                          <a:solidFill>
                            <a:schemeClr val="tx1"/>
                          </a:solidFill>
                        </a:rPr>
                        <a:t>④ 노드 6개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질문 분석, 화면 검색, 화면 설명, 개념 설명, 되묻기, 이어지는 질문</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⑤ 그래프 조립</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build_graph(): 노드와 엣지 연결 (갈림길 1곳)</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⑥ 터미널 실행</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workflow.py "질문" 으로 실행, --screens 로 데이터만 확인</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bl>
          </a:graphicData>
        </a:graphic>
      </p:graphicFrame>
      <p:sp>
        <p:nvSpPr>
          <p:cNvPr id="5" name="Text 2"/>
          <p:cNvSpPr txBox="1"/>
          <p:nvPr/>
        </p:nvSpPr>
        <p:spPr>
          <a:xfrm>
            <a:off x="548640" y="484632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파란 줄(②)은 정확히 찾는 파이썬 코드, 주황 줄(③)은 LLM 에게 설명을 맡기는 통로입니다.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그래프 구조</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노드 6개, 갈림길은 한 곳</a:t>
            </a:r>
            <a:endParaRPr lang="en-US" sz="3000" dirty="0"/>
          </a:p>
        </p:txBody>
      </p:sp>
      <p:sp>
        <p:nvSpPr>
          <p:cNvPr id="4" name="Shape 2"/>
          <p:cNvSpPr/>
          <p:nvPr/>
        </p:nvSpPr>
        <p:spPr>
          <a:xfrm>
            <a:off x="812800" y="2095500"/>
            <a:ext cx="1828800" cy="310896"/>
          </a:xfrm>
          <a:prstGeom prst="roundRect">
            <a:avLst>
              <a:gd name="adj" fmla="val 50000"/>
            </a:avLst>
          </a:prstGeom>
          <a:solidFill>
            <a:schemeClr val="accent4"/>
          </a:solidFill>
          <a:ln w="19050">
            <a:solidFill>
              <a:schemeClr val="accent2"/>
            </a:solidFill>
            <a:prstDash val="solid"/>
          </a:ln>
        </p:spPr>
      </p:sp>
      <p:sp>
        <p:nvSpPr>
          <p:cNvPr id="5" name="Text 3"/>
          <p:cNvSpPr txBox="1"/>
          <p:nvPr/>
        </p:nvSpPr>
        <p:spPr>
          <a:xfrm>
            <a:off x="812800" y="2095500"/>
            <a:ext cx="1828800" cy="310896"/>
          </a:xfrm>
          <a:prstGeom prst="rect">
            <a:avLst/>
          </a:prstGeom>
          <a:noFill/>
          <a:ln/>
        </p:spPr>
        <p:txBody>
          <a:bodyPr wrap="square" lIns="0" tIns="0" rIns="0" bIns="0" rtlCol="0" anchor="ctr"/>
          <a:lstStyle/>
          <a:p>
            <a:pPr algn="ctr" indent="0" marL="0">
              <a:buNone/>
            </a:pPr>
            <a:r>
              <a:rPr lang="en-US" sz="1200" dirty="0">
                <a:solidFill>
                  <a:schemeClr val="tx1"/>
                </a:solidFill>
              </a:rPr>
              <a:t>파이썬 (LLM 없음)</a:t>
            </a:r>
            <a:endParaRPr lang="en-US" sz="1200" dirty="0"/>
          </a:p>
        </p:txBody>
      </p:sp>
      <p:sp>
        <p:nvSpPr>
          <p:cNvPr id="6" name="Shape 4"/>
          <p:cNvSpPr/>
          <p:nvPr/>
        </p:nvSpPr>
        <p:spPr>
          <a:xfrm>
            <a:off x="2824480" y="2095500"/>
            <a:ext cx="1828800" cy="310896"/>
          </a:xfrm>
          <a:prstGeom prst="roundRect">
            <a:avLst>
              <a:gd name="adj" fmla="val 50000"/>
            </a:avLst>
          </a:prstGeom>
          <a:solidFill>
            <a:schemeClr val="accent5"/>
          </a:solidFill>
          <a:ln w="19050">
            <a:solidFill>
              <a:schemeClr val="accent3"/>
            </a:solidFill>
            <a:prstDash val="solid"/>
          </a:ln>
        </p:spPr>
      </p:sp>
      <p:sp>
        <p:nvSpPr>
          <p:cNvPr id="7" name="Text 5"/>
          <p:cNvSpPr txBox="1"/>
          <p:nvPr/>
        </p:nvSpPr>
        <p:spPr>
          <a:xfrm>
            <a:off x="2824480" y="2095500"/>
            <a:ext cx="1828800" cy="310896"/>
          </a:xfrm>
          <a:prstGeom prst="rect">
            <a:avLst/>
          </a:prstGeom>
          <a:noFill/>
          <a:ln/>
        </p:spPr>
        <p:txBody>
          <a:bodyPr wrap="square" lIns="0" tIns="0" rIns="0" bIns="0" rtlCol="0" anchor="ctr"/>
          <a:lstStyle/>
          <a:p>
            <a:pPr algn="ctr" indent="0" marL="0">
              <a:buNone/>
            </a:pPr>
            <a:r>
              <a:rPr lang="en-US" sz="1200" dirty="0">
                <a:solidFill>
                  <a:schemeClr val="tx1"/>
                </a:solidFill>
              </a:rPr>
              <a:t>LLM 호출</a:t>
            </a:r>
            <a:endParaRPr lang="en-US" sz="1200" dirty="0"/>
          </a:p>
        </p:txBody>
      </p:sp>
      <p:sp>
        <p:nvSpPr>
          <p:cNvPr id="8" name="Text 6"/>
          <p:cNvSpPr txBox="1"/>
          <p:nvPr/>
        </p:nvSpPr>
        <p:spPr>
          <a:xfrm>
            <a:off x="812800" y="2603500"/>
            <a:ext cx="4826000" cy="731520"/>
          </a:xfrm>
          <a:prstGeom prst="rect">
            <a:avLst/>
          </a:prstGeom>
          <a:noFill/>
          <a:ln/>
        </p:spPr>
        <p:txBody>
          <a:bodyPr wrap="square" lIns="0" tIns="0" rIns="0" bIns="0" rtlCol="0" anchor="t"/>
          <a:lstStyle/>
          <a:p>
            <a:pPr indent="0" marL="0">
              <a:buNone/>
            </a:pPr>
            <a:r>
              <a:rPr lang="en-US" sz="1200" dirty="0">
                <a:solidFill>
                  <a:schemeClr val="accent6"/>
                </a:solidFill>
              </a:rPr>
              <a:t>search_screens 다음에 route_after_search() 가 오른쪽 네 갈래 중 하나를 고릅니다.</a:t>
            </a:r>
            <a:endParaRPr lang="en-US" sz="1200" dirty="0"/>
          </a:p>
        </p:txBody>
      </p:sp>
      <p:sp>
        <p:nvSpPr>
          <p:cNvPr id="9" name="Text 7"/>
          <p:cNvSpPr txBox="1"/>
          <p:nvPr/>
        </p:nvSpPr>
        <p:spPr>
          <a:xfrm>
            <a:off x="8890000" y="3556000"/>
            <a:ext cx="2489200" cy="731520"/>
          </a:xfrm>
          <a:prstGeom prst="rect">
            <a:avLst/>
          </a:prstGeom>
          <a:noFill/>
          <a:ln/>
        </p:spPr>
        <p:txBody>
          <a:bodyPr wrap="square" lIns="0" tIns="0" rIns="0" bIns="0" rtlCol="0" anchor="t"/>
          <a:lstStyle/>
          <a:p>
            <a:pPr indent="0" marL="0">
              <a:buNone/>
            </a:pPr>
            <a:r>
              <a:rPr lang="en-US" sz="1200" dirty="0">
                <a:solidFill>
                  <a:schemeClr val="accent6"/>
                </a:solidFill>
              </a:rPr>
              <a:t>오른쪽 네 노드는 모두 답변을 만들고 끝납니다.</a:t>
            </a:r>
            <a:endParaRPr lang="en-US" sz="1200" dirty="0"/>
          </a:p>
        </p:txBody>
      </p:sp>
      <p:sp>
        <p:nvSpPr>
          <p:cNvPr id="10" name="Shape 8"/>
          <p:cNvSpPr/>
          <p:nvPr/>
        </p:nvSpPr>
        <p:spPr>
          <a:xfrm>
            <a:off x="2844800" y="3810000"/>
            <a:ext cx="508000" cy="0"/>
          </a:xfrm>
          <a:prstGeom prst="line">
            <a:avLst/>
          </a:prstGeom>
          <a:noFill/>
          <a:ln w="25400">
            <a:solidFill>
              <a:schemeClr val="accent6"/>
            </a:solidFill>
            <a:prstDash val="solid"/>
            <a:tailEnd type="triangle"/>
          </a:ln>
        </p:spPr>
      </p:sp>
      <p:sp>
        <p:nvSpPr>
          <p:cNvPr id="11" name="Shape 9"/>
          <p:cNvSpPr/>
          <p:nvPr/>
        </p:nvSpPr>
        <p:spPr>
          <a:xfrm>
            <a:off x="5384800" y="3810000"/>
            <a:ext cx="482600" cy="0"/>
          </a:xfrm>
          <a:prstGeom prst="line">
            <a:avLst/>
          </a:prstGeom>
          <a:noFill/>
          <a:ln w="25400">
            <a:solidFill>
              <a:schemeClr val="accent6"/>
            </a:solidFill>
            <a:prstDash val="solid"/>
          </a:ln>
        </p:spPr>
      </p:sp>
      <p:sp>
        <p:nvSpPr>
          <p:cNvPr id="12" name="Shape 10"/>
          <p:cNvSpPr/>
          <p:nvPr/>
        </p:nvSpPr>
        <p:spPr>
          <a:xfrm>
            <a:off x="5867400" y="2317750"/>
            <a:ext cx="0" cy="1492250"/>
          </a:xfrm>
          <a:prstGeom prst="line">
            <a:avLst/>
          </a:prstGeom>
          <a:noFill/>
          <a:ln w="25400">
            <a:solidFill>
              <a:schemeClr val="accent6"/>
            </a:solidFill>
            <a:prstDash val="solid"/>
          </a:ln>
        </p:spPr>
      </p:sp>
      <p:sp>
        <p:nvSpPr>
          <p:cNvPr id="13" name="Shape 11"/>
          <p:cNvSpPr/>
          <p:nvPr/>
        </p:nvSpPr>
        <p:spPr>
          <a:xfrm>
            <a:off x="5867400" y="2317750"/>
            <a:ext cx="482600" cy="0"/>
          </a:xfrm>
          <a:prstGeom prst="line">
            <a:avLst/>
          </a:prstGeom>
          <a:noFill/>
          <a:ln w="25400">
            <a:solidFill>
              <a:schemeClr val="accent6"/>
            </a:solidFill>
            <a:prstDash val="solid"/>
            <a:tailEnd type="triangle"/>
          </a:ln>
        </p:spPr>
      </p:sp>
      <p:sp>
        <p:nvSpPr>
          <p:cNvPr id="14" name="Shape 12"/>
          <p:cNvSpPr/>
          <p:nvPr/>
        </p:nvSpPr>
        <p:spPr>
          <a:xfrm>
            <a:off x="5384800" y="3810000"/>
            <a:ext cx="482600" cy="0"/>
          </a:xfrm>
          <a:prstGeom prst="line">
            <a:avLst/>
          </a:prstGeom>
          <a:noFill/>
          <a:ln w="25400">
            <a:solidFill>
              <a:schemeClr val="accent6"/>
            </a:solidFill>
            <a:prstDash val="solid"/>
          </a:ln>
        </p:spPr>
      </p:sp>
      <p:sp>
        <p:nvSpPr>
          <p:cNvPr id="15" name="Shape 13"/>
          <p:cNvSpPr/>
          <p:nvPr/>
        </p:nvSpPr>
        <p:spPr>
          <a:xfrm>
            <a:off x="5867400" y="3333750"/>
            <a:ext cx="0" cy="476250"/>
          </a:xfrm>
          <a:prstGeom prst="line">
            <a:avLst/>
          </a:prstGeom>
          <a:noFill/>
          <a:ln w="25400">
            <a:solidFill>
              <a:schemeClr val="accent6"/>
            </a:solidFill>
            <a:prstDash val="solid"/>
          </a:ln>
        </p:spPr>
      </p:sp>
      <p:sp>
        <p:nvSpPr>
          <p:cNvPr id="16" name="Shape 14"/>
          <p:cNvSpPr/>
          <p:nvPr/>
        </p:nvSpPr>
        <p:spPr>
          <a:xfrm>
            <a:off x="5867400" y="3333750"/>
            <a:ext cx="482600" cy="0"/>
          </a:xfrm>
          <a:prstGeom prst="line">
            <a:avLst/>
          </a:prstGeom>
          <a:noFill/>
          <a:ln w="25400">
            <a:solidFill>
              <a:schemeClr val="accent6"/>
            </a:solidFill>
            <a:prstDash val="solid"/>
            <a:tailEnd type="triangle"/>
          </a:ln>
        </p:spPr>
      </p:sp>
      <p:sp>
        <p:nvSpPr>
          <p:cNvPr id="17" name="Shape 15"/>
          <p:cNvSpPr/>
          <p:nvPr/>
        </p:nvSpPr>
        <p:spPr>
          <a:xfrm>
            <a:off x="5384800" y="3810000"/>
            <a:ext cx="482600" cy="0"/>
          </a:xfrm>
          <a:prstGeom prst="line">
            <a:avLst/>
          </a:prstGeom>
          <a:noFill/>
          <a:ln w="25400">
            <a:solidFill>
              <a:schemeClr val="accent6"/>
            </a:solidFill>
            <a:prstDash val="solid"/>
          </a:ln>
        </p:spPr>
      </p:sp>
      <p:sp>
        <p:nvSpPr>
          <p:cNvPr id="18" name="Shape 16"/>
          <p:cNvSpPr/>
          <p:nvPr/>
        </p:nvSpPr>
        <p:spPr>
          <a:xfrm>
            <a:off x="5867400" y="3810000"/>
            <a:ext cx="0" cy="539750"/>
          </a:xfrm>
          <a:prstGeom prst="line">
            <a:avLst/>
          </a:prstGeom>
          <a:noFill/>
          <a:ln w="25400">
            <a:solidFill>
              <a:schemeClr val="accent6"/>
            </a:solidFill>
            <a:prstDash val="solid"/>
          </a:ln>
        </p:spPr>
      </p:sp>
      <p:sp>
        <p:nvSpPr>
          <p:cNvPr id="19" name="Shape 17"/>
          <p:cNvSpPr/>
          <p:nvPr/>
        </p:nvSpPr>
        <p:spPr>
          <a:xfrm>
            <a:off x="5867400" y="4349750"/>
            <a:ext cx="482600" cy="0"/>
          </a:xfrm>
          <a:prstGeom prst="line">
            <a:avLst/>
          </a:prstGeom>
          <a:noFill/>
          <a:ln w="25400">
            <a:solidFill>
              <a:schemeClr val="accent6"/>
            </a:solidFill>
            <a:prstDash val="solid"/>
            <a:tailEnd type="triangle"/>
          </a:ln>
        </p:spPr>
      </p:sp>
      <p:sp>
        <p:nvSpPr>
          <p:cNvPr id="20" name="Shape 18"/>
          <p:cNvSpPr/>
          <p:nvPr/>
        </p:nvSpPr>
        <p:spPr>
          <a:xfrm>
            <a:off x="5384800" y="3810000"/>
            <a:ext cx="482600" cy="0"/>
          </a:xfrm>
          <a:prstGeom prst="line">
            <a:avLst/>
          </a:prstGeom>
          <a:noFill/>
          <a:ln w="25400">
            <a:solidFill>
              <a:schemeClr val="accent6"/>
            </a:solidFill>
            <a:prstDash val="solid"/>
          </a:ln>
        </p:spPr>
      </p:sp>
      <p:sp>
        <p:nvSpPr>
          <p:cNvPr id="21" name="Shape 19"/>
          <p:cNvSpPr/>
          <p:nvPr/>
        </p:nvSpPr>
        <p:spPr>
          <a:xfrm>
            <a:off x="5867400" y="3810000"/>
            <a:ext cx="0" cy="1555750"/>
          </a:xfrm>
          <a:prstGeom prst="line">
            <a:avLst/>
          </a:prstGeom>
          <a:noFill/>
          <a:ln w="25400">
            <a:solidFill>
              <a:schemeClr val="accent6"/>
            </a:solidFill>
            <a:prstDash val="solid"/>
          </a:ln>
        </p:spPr>
      </p:sp>
      <p:sp>
        <p:nvSpPr>
          <p:cNvPr id="22" name="Shape 20"/>
          <p:cNvSpPr/>
          <p:nvPr/>
        </p:nvSpPr>
        <p:spPr>
          <a:xfrm>
            <a:off x="5867400" y="5365750"/>
            <a:ext cx="482600" cy="0"/>
          </a:xfrm>
          <a:prstGeom prst="line">
            <a:avLst/>
          </a:prstGeom>
          <a:noFill/>
          <a:ln w="25400">
            <a:solidFill>
              <a:schemeClr val="accent6"/>
            </a:solidFill>
            <a:prstDash val="solid"/>
            <a:tailEnd type="triangle"/>
          </a:ln>
        </p:spPr>
      </p:sp>
      <p:sp>
        <p:nvSpPr>
          <p:cNvPr id="23" name="Shape 21"/>
          <p:cNvSpPr/>
          <p:nvPr/>
        </p:nvSpPr>
        <p:spPr>
          <a:xfrm>
            <a:off x="812800" y="3460750"/>
            <a:ext cx="2032000" cy="698500"/>
          </a:xfrm>
          <a:prstGeom prst="roundRect">
            <a:avLst>
              <a:gd name="adj" fmla="val 10473"/>
            </a:avLst>
          </a:prstGeom>
          <a:solidFill>
            <a:schemeClr val="accent5"/>
          </a:solidFill>
          <a:ln w="19050">
            <a:solidFill>
              <a:schemeClr val="accent3"/>
            </a:solidFill>
            <a:prstDash val="solid"/>
          </a:ln>
        </p:spPr>
      </p:sp>
      <p:sp>
        <p:nvSpPr>
          <p:cNvPr id="24" name="Text 22"/>
          <p:cNvSpPr txBox="1"/>
          <p:nvPr/>
        </p:nvSpPr>
        <p:spPr>
          <a:xfrm>
            <a:off x="949960" y="3460750"/>
            <a:ext cx="1757680" cy="698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analyze_query</a:t>
            </a:r>
            <a:endParaRPr lang="en-US" sz="1400" dirty="0"/>
          </a:p>
          <a:p>
            <a:pPr indent="0" marL="0">
              <a:buNone/>
            </a:pPr>
            <a:r>
              <a:rPr lang="en-US" sz="1200" dirty="0">
                <a:solidFill>
                  <a:schemeClr val="accent6"/>
                </a:solidFill>
              </a:rPr>
              <a:t>질문 분석</a:t>
            </a:r>
            <a:endParaRPr lang="en-US" sz="1400" dirty="0"/>
          </a:p>
        </p:txBody>
      </p:sp>
      <p:sp>
        <p:nvSpPr>
          <p:cNvPr id="25" name="Shape 23"/>
          <p:cNvSpPr/>
          <p:nvPr/>
        </p:nvSpPr>
        <p:spPr>
          <a:xfrm>
            <a:off x="3352800" y="3460750"/>
            <a:ext cx="2032000" cy="698500"/>
          </a:xfrm>
          <a:prstGeom prst="roundRect">
            <a:avLst>
              <a:gd name="adj" fmla="val 10473"/>
            </a:avLst>
          </a:prstGeom>
          <a:solidFill>
            <a:schemeClr val="accent4"/>
          </a:solidFill>
          <a:ln w="19050">
            <a:solidFill>
              <a:schemeClr val="accent2"/>
            </a:solidFill>
            <a:prstDash val="solid"/>
          </a:ln>
        </p:spPr>
      </p:sp>
      <p:sp>
        <p:nvSpPr>
          <p:cNvPr id="26" name="Text 24"/>
          <p:cNvSpPr txBox="1"/>
          <p:nvPr/>
        </p:nvSpPr>
        <p:spPr>
          <a:xfrm>
            <a:off x="3489960" y="3460750"/>
            <a:ext cx="1757680" cy="698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search_screens</a:t>
            </a:r>
            <a:endParaRPr lang="en-US" sz="1400" dirty="0"/>
          </a:p>
          <a:p>
            <a:pPr indent="0" marL="0">
              <a:buNone/>
            </a:pPr>
            <a:r>
              <a:rPr lang="en-US" sz="1200" dirty="0">
                <a:solidFill>
                  <a:schemeClr val="accent6"/>
                </a:solidFill>
              </a:rPr>
              <a:t>사내 화면 검색</a:t>
            </a:r>
            <a:endParaRPr lang="en-US" sz="1400" dirty="0"/>
          </a:p>
        </p:txBody>
      </p:sp>
      <p:sp>
        <p:nvSpPr>
          <p:cNvPr id="27" name="Shape 25"/>
          <p:cNvSpPr/>
          <p:nvPr/>
        </p:nvSpPr>
        <p:spPr>
          <a:xfrm>
            <a:off x="6350000" y="1968500"/>
            <a:ext cx="2159000" cy="698500"/>
          </a:xfrm>
          <a:prstGeom prst="roundRect">
            <a:avLst>
              <a:gd name="adj" fmla="val 10473"/>
            </a:avLst>
          </a:prstGeom>
          <a:solidFill>
            <a:schemeClr val="accent5"/>
          </a:solidFill>
          <a:ln w="19050">
            <a:solidFill>
              <a:schemeClr val="accent3"/>
            </a:solidFill>
            <a:prstDash val="solid"/>
          </a:ln>
        </p:spPr>
      </p:sp>
      <p:sp>
        <p:nvSpPr>
          <p:cNvPr id="28" name="Text 26"/>
          <p:cNvSpPr txBox="1"/>
          <p:nvPr/>
        </p:nvSpPr>
        <p:spPr>
          <a:xfrm>
            <a:off x="6487160" y="1968500"/>
            <a:ext cx="1884680" cy="698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answer_follow_up</a:t>
            </a:r>
            <a:endParaRPr lang="en-US" sz="1400" dirty="0"/>
          </a:p>
          <a:p>
            <a:pPr indent="0" marL="0">
              <a:buNone/>
            </a:pPr>
            <a:r>
              <a:rPr lang="en-US" sz="1200" dirty="0">
                <a:solidFill>
                  <a:schemeClr val="accent6"/>
                </a:solidFill>
              </a:rPr>
              <a:t>이어지는 질문</a:t>
            </a:r>
            <a:endParaRPr lang="en-US" sz="1400" dirty="0"/>
          </a:p>
        </p:txBody>
      </p:sp>
      <p:sp>
        <p:nvSpPr>
          <p:cNvPr id="29" name="Shape 27"/>
          <p:cNvSpPr/>
          <p:nvPr/>
        </p:nvSpPr>
        <p:spPr>
          <a:xfrm>
            <a:off x="6350000" y="2984500"/>
            <a:ext cx="2159000" cy="698500"/>
          </a:xfrm>
          <a:prstGeom prst="roundRect">
            <a:avLst>
              <a:gd name="adj" fmla="val 10473"/>
            </a:avLst>
          </a:prstGeom>
          <a:solidFill>
            <a:schemeClr val="accent5"/>
          </a:solidFill>
          <a:ln w="19050">
            <a:solidFill>
              <a:schemeClr val="accent3"/>
            </a:solidFill>
            <a:prstDash val="solid"/>
          </a:ln>
        </p:spPr>
      </p:sp>
      <p:sp>
        <p:nvSpPr>
          <p:cNvPr id="30" name="Text 28"/>
          <p:cNvSpPr txBox="1"/>
          <p:nvPr/>
        </p:nvSpPr>
        <p:spPr>
          <a:xfrm>
            <a:off x="6487160" y="2984500"/>
            <a:ext cx="1884680" cy="698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explain_screen</a:t>
            </a:r>
            <a:endParaRPr lang="en-US" sz="1400" dirty="0"/>
          </a:p>
          <a:p>
            <a:pPr indent="0" marL="0">
              <a:buNone/>
            </a:pPr>
            <a:r>
              <a:rPr lang="en-US" sz="1200" dirty="0">
                <a:solidFill>
                  <a:schemeClr val="accent6"/>
                </a:solidFill>
              </a:rPr>
              <a:t>화면 1개 특정</a:t>
            </a:r>
            <a:endParaRPr lang="en-US" sz="1400" dirty="0"/>
          </a:p>
        </p:txBody>
      </p:sp>
      <p:sp>
        <p:nvSpPr>
          <p:cNvPr id="31" name="Shape 29"/>
          <p:cNvSpPr/>
          <p:nvPr/>
        </p:nvSpPr>
        <p:spPr>
          <a:xfrm>
            <a:off x="6350000" y="4000500"/>
            <a:ext cx="2159000" cy="698500"/>
          </a:xfrm>
          <a:prstGeom prst="roundRect">
            <a:avLst>
              <a:gd name="adj" fmla="val 10473"/>
            </a:avLst>
          </a:prstGeom>
          <a:solidFill>
            <a:schemeClr val="accent5"/>
          </a:solidFill>
          <a:ln w="19050">
            <a:solidFill>
              <a:schemeClr val="accent3"/>
            </a:solidFill>
            <a:prstDash val="solid"/>
          </a:ln>
        </p:spPr>
      </p:sp>
      <p:sp>
        <p:nvSpPr>
          <p:cNvPr id="32" name="Text 30"/>
          <p:cNvSpPr txBox="1"/>
          <p:nvPr/>
        </p:nvSpPr>
        <p:spPr>
          <a:xfrm>
            <a:off x="6487160" y="4000500"/>
            <a:ext cx="1884680" cy="698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explain_concept</a:t>
            </a:r>
            <a:endParaRPr lang="en-US" sz="1400" dirty="0"/>
          </a:p>
          <a:p>
            <a:pPr indent="0" marL="0">
              <a:buNone/>
            </a:pPr>
            <a:r>
              <a:rPr lang="en-US" sz="1200" dirty="0">
                <a:solidFill>
                  <a:schemeClr val="accent6"/>
                </a:solidFill>
              </a:rPr>
              <a:t>공정·용어 질문</a:t>
            </a:r>
            <a:endParaRPr lang="en-US" sz="1400" dirty="0"/>
          </a:p>
        </p:txBody>
      </p:sp>
      <p:sp>
        <p:nvSpPr>
          <p:cNvPr id="33" name="Shape 31"/>
          <p:cNvSpPr/>
          <p:nvPr/>
        </p:nvSpPr>
        <p:spPr>
          <a:xfrm>
            <a:off x="6350000" y="5016500"/>
            <a:ext cx="2159000" cy="698500"/>
          </a:xfrm>
          <a:prstGeom prst="roundRect">
            <a:avLst>
              <a:gd name="adj" fmla="val 10473"/>
            </a:avLst>
          </a:prstGeom>
          <a:solidFill>
            <a:schemeClr val="accent5"/>
          </a:solidFill>
          <a:ln w="19050">
            <a:solidFill>
              <a:schemeClr val="accent3"/>
            </a:solidFill>
            <a:prstDash val="solid"/>
          </a:ln>
        </p:spPr>
      </p:sp>
      <p:sp>
        <p:nvSpPr>
          <p:cNvPr id="34" name="Text 32"/>
          <p:cNvSpPr txBox="1"/>
          <p:nvPr/>
        </p:nvSpPr>
        <p:spPr>
          <a:xfrm>
            <a:off x="6487160" y="5016500"/>
            <a:ext cx="1884680" cy="698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clarify_screen</a:t>
            </a:r>
            <a:endParaRPr lang="en-US" sz="1400" dirty="0"/>
          </a:p>
          <a:p>
            <a:pPr indent="0" marL="0">
              <a:buNone/>
            </a:pPr>
            <a:r>
              <a:rPr lang="en-US" sz="1200" dirty="0">
                <a:solidFill>
                  <a:schemeClr val="accent6"/>
                </a:solidFill>
              </a:rPr>
              <a:t>못 찾음 · 여러 개</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노드</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노드마다 하는 일</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662660"/>
                <a:gridCol w="1331330"/>
                <a:gridCol w="7100426"/>
              </a:tblGrid>
              <a:tr h="384048">
                <a:tc>
                  <a:txBody>
                    <a:bodyPr/>
                    <a:lstStyle/>
                    <a:p>
                      <a:pPr indent="0" marL="0">
                        <a:buNone/>
                      </a:pPr>
                      <a:r>
                        <a:rPr lang="en-US" sz="1400" b="1" dirty="0">
                          <a:solidFill>
                            <a:schemeClr val="bg2"/>
                          </a:solidFill>
                        </a:rPr>
                        <a:t>노드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종류</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하는 일</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analyze_query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이어지는 질문 여부, 화면/개념 구분, 화면명·한영 키워드 추출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search_screens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rPr>
                        <a:t>파이썬</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화면명·별칭 유사도 검색, 키워드로 관련 화면 찾기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explain_screen</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사내 설명 + 공정 지식: 요약, 업무 흐름, 용어, 관련 화면</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explain_concept</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공정·MES 개념 설명 + 그 개념을 확인하는 사내 화면 연결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clarify_screen</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후보가 여러 개거나 없을 때 지어내지 않고 되묻기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answer_follow_up</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앞 답변에 이어지는 질문에 답변 (사내 정보를 근거로)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bl>
          </a:graphicData>
        </a:graphic>
      </p:graphicFrame>
      <p:sp>
        <p:nvSpPr>
          <p:cNvPr id="5" name="Text 2"/>
          <p:cNvSpPr txBox="1"/>
          <p:nvPr/>
        </p:nvSpPr>
        <p:spPr>
          <a:xfrm>
            <a:off x="548640" y="484632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노드 하나 = 파이썬 함수 하나. 함수 이름이 곧 화면에 보이는 실행 노드 배지 이름입니다.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MesState</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State 는 노드들의 공유 메모장</a:t>
            </a:r>
            <a:endParaRPr lang="en-US" sz="3000" dirty="0"/>
          </a:p>
        </p:txBody>
      </p:sp>
      <p:sp>
        <p:nvSpPr>
          <p:cNvPr id="4" name="Text 2"/>
          <p:cNvSpPr txBox="1"/>
          <p:nvPr/>
        </p:nvSpPr>
        <p:spPr>
          <a:xfrm>
            <a:off x="548640" y="1554480"/>
            <a:ext cx="11094415" cy="365760"/>
          </a:xfrm>
          <a:prstGeom prst="rect">
            <a:avLst/>
          </a:prstGeom>
          <a:noFill/>
          <a:ln/>
        </p:spPr>
        <p:txBody>
          <a:bodyPr wrap="square" lIns="0" tIns="0" rIns="0" bIns="0" rtlCol="0" anchor="t"/>
          <a:lstStyle/>
          <a:p>
            <a:pPr indent="0" marL="0">
              <a:buNone/>
            </a:pPr>
            <a:r>
              <a:rPr lang="en-US" sz="1500" dirty="0">
                <a:solidFill>
                  <a:schemeClr val="accent6"/>
                </a:solidFill>
              </a:rPr>
              <a:t>각 노드는 필요한 칸을 읽고, 자기가 맡은 칸만 채워서 다음 노드에 넘깁니다.</a:t>
            </a:r>
            <a:endParaRPr lang="en-US" sz="1500" dirty="0"/>
          </a:p>
        </p:txBody>
      </p:sp>
      <p:sp>
        <p:nvSpPr>
          <p:cNvPr id="5" name="Shape 3"/>
          <p:cNvSpPr/>
          <p:nvPr/>
        </p:nvSpPr>
        <p:spPr>
          <a:xfrm>
            <a:off x="548640" y="2103120"/>
            <a:ext cx="5410048" cy="1874520"/>
          </a:xfrm>
          <a:prstGeom prst="roundRect">
            <a:avLst>
              <a:gd name="adj" fmla="val 4878"/>
            </a:avLst>
          </a:prstGeom>
          <a:solidFill>
            <a:srgbClr val="ECE9E1"/>
          </a:solidFill>
          <a:ln w="12700">
            <a:solidFill>
              <a:srgbClr val="DDD8CC"/>
            </a:solidFill>
            <a:prstDash val="solid"/>
          </a:ln>
        </p:spPr>
      </p:sp>
      <p:sp>
        <p:nvSpPr>
          <p:cNvPr id="6" name="Text 4"/>
          <p:cNvSpPr txBox="1"/>
          <p:nvPr/>
        </p:nvSpPr>
        <p:spPr>
          <a:xfrm>
            <a:off x="822960" y="2304288"/>
            <a:ext cx="4861408" cy="365760"/>
          </a:xfrm>
          <a:prstGeom prst="rect">
            <a:avLst/>
          </a:prstGeom>
          <a:noFill/>
          <a:ln/>
        </p:spPr>
        <p:txBody>
          <a:bodyPr wrap="square" lIns="0" tIns="0" rIns="0" bIns="0" rtlCol="0" anchor="t"/>
          <a:lstStyle/>
          <a:p>
            <a:pPr indent="0" marL="0">
              <a:buNone/>
            </a:pPr>
            <a:r>
              <a:rPr lang="en-US" sz="1700" b="1" dirty="0">
                <a:solidFill>
                  <a:schemeClr val="tx2"/>
                </a:solidFill>
              </a:rPr>
              <a:t>공용 제공 (app/)</a:t>
            </a:r>
            <a:endParaRPr lang="en-US" sz="1700" dirty="0"/>
          </a:p>
        </p:txBody>
      </p:sp>
      <p:sp>
        <p:nvSpPr>
          <p:cNvPr id="7" name="Text 5"/>
          <p:cNvSpPr txBox="1"/>
          <p:nvPr/>
        </p:nvSpPr>
        <p:spPr>
          <a:xfrm>
            <a:off x="822960" y="2788920"/>
            <a:ext cx="4861408" cy="10515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user_input</a:t>
            </a:r>
            <a:pPr indent="0" marL="0">
              <a:spcAft>
                <a:spcPts val="600"/>
              </a:spcAft>
              <a:buNone/>
            </a:pPr>
            <a:r>
              <a:rPr lang="en-US" sz="1400" dirty="0">
                <a:solidFill>
                  <a:schemeClr val="tx1"/>
                </a:solidFill>
              </a:rPr>
              <a:t> · 이번 질문</a:t>
            </a:r>
            <a:endParaRPr lang="en-US" sz="1400" dirty="0"/>
          </a:p>
          <a:p>
            <a:pPr indent="0" marL="0">
              <a:spcAft>
                <a:spcPts val="600"/>
              </a:spcAft>
              <a:buNone/>
            </a:pPr>
            <a:r>
              <a:rPr lang="en-US" sz="1400" b="1" dirty="0">
                <a:solidFill>
                  <a:schemeClr val="tx1"/>
                </a:solidFill>
              </a:rPr>
              <a:t>messages</a:t>
            </a:r>
            <a:pPr indent="0" marL="0">
              <a:spcAft>
                <a:spcPts val="600"/>
              </a:spcAft>
              <a:buNone/>
            </a:pPr>
            <a:r>
              <a:rPr lang="en-US" sz="1400" dirty="0">
                <a:solidFill>
                  <a:schemeClr val="tx1"/>
                </a:solidFill>
              </a:rPr>
              <a:t> · 이전 대화</a:t>
            </a:r>
            <a:endParaRPr lang="en-US" sz="1400" dirty="0"/>
          </a:p>
          <a:p>
            <a:pPr indent="0" marL="0">
              <a:spcAft>
                <a:spcPts val="600"/>
              </a:spcAft>
              <a:buNone/>
            </a:pPr>
            <a:r>
              <a:rPr lang="en-US" sz="1400" b="1" dirty="0">
                <a:solidFill>
                  <a:schemeClr val="tx1"/>
                </a:solidFill>
              </a:rPr>
              <a:t>answer</a:t>
            </a:r>
            <a:pPr indent="0" marL="0">
              <a:spcAft>
                <a:spcPts val="600"/>
              </a:spcAft>
              <a:buNone/>
            </a:pPr>
            <a:r>
              <a:rPr lang="en-US" sz="1400" dirty="0">
                <a:solidFill>
                  <a:schemeClr val="tx1"/>
                </a:solidFill>
              </a:rPr>
              <a:t> · 최종 답변</a:t>
            </a:r>
            <a:endParaRPr lang="en-US" sz="1400" dirty="0"/>
          </a:p>
        </p:txBody>
      </p:sp>
      <p:sp>
        <p:nvSpPr>
          <p:cNvPr id="8" name="Shape 6"/>
          <p:cNvSpPr/>
          <p:nvPr/>
        </p:nvSpPr>
        <p:spPr>
          <a:xfrm>
            <a:off x="6233008" y="2103120"/>
            <a:ext cx="5410048" cy="1874520"/>
          </a:xfrm>
          <a:prstGeom prst="roundRect">
            <a:avLst>
              <a:gd name="adj" fmla="val 4878"/>
            </a:avLst>
          </a:prstGeom>
          <a:solidFill>
            <a:schemeClr val="accent5"/>
          </a:solidFill>
          <a:ln w="19050">
            <a:solidFill>
              <a:schemeClr val="accent3"/>
            </a:solidFill>
            <a:prstDash val="solid"/>
          </a:ln>
        </p:spPr>
      </p:sp>
      <p:sp>
        <p:nvSpPr>
          <p:cNvPr id="9" name="Text 7"/>
          <p:cNvSpPr txBox="1"/>
          <p:nvPr/>
        </p:nvSpPr>
        <p:spPr>
          <a:xfrm>
            <a:off x="6507328" y="2304288"/>
            <a:ext cx="4861408" cy="365760"/>
          </a:xfrm>
          <a:prstGeom prst="rect">
            <a:avLst/>
          </a:prstGeom>
          <a:noFill/>
          <a:ln/>
        </p:spPr>
        <p:txBody>
          <a:bodyPr wrap="square" lIns="0" tIns="0" rIns="0" bIns="0" rtlCol="0" anchor="t"/>
          <a:lstStyle/>
          <a:p>
            <a:pPr indent="0" marL="0">
              <a:buNone/>
            </a:pPr>
            <a:r>
              <a:rPr lang="en-US" sz="1700" b="1" dirty="0">
                <a:solidFill>
                  <a:schemeClr val="tx2"/>
                </a:solidFill>
              </a:rPr>
              <a:t>analyze_query 가 채움</a:t>
            </a:r>
            <a:endParaRPr lang="en-US" sz="1700" dirty="0"/>
          </a:p>
        </p:txBody>
      </p:sp>
      <p:sp>
        <p:nvSpPr>
          <p:cNvPr id="10" name="Text 8"/>
          <p:cNvSpPr txBox="1"/>
          <p:nvPr/>
        </p:nvSpPr>
        <p:spPr>
          <a:xfrm>
            <a:off x="6507328" y="2788920"/>
            <a:ext cx="4861408" cy="10515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intent, query_type</a:t>
            </a:r>
            <a:pPr indent="0" marL="0">
              <a:spcAft>
                <a:spcPts val="600"/>
              </a:spcAft>
              <a:buNone/>
            </a:pPr>
            <a:r>
              <a:rPr lang="en-US" sz="1400" dirty="0">
                <a:solidFill>
                  <a:schemeClr val="tx1"/>
                </a:solidFill>
              </a:rPr>
              <a:t> · 새/이어지는 질문, 화면/개념</a:t>
            </a:r>
            <a:endParaRPr lang="en-US" sz="1400" dirty="0"/>
          </a:p>
          <a:p>
            <a:pPr indent="0" marL="0">
              <a:spcAft>
                <a:spcPts val="600"/>
              </a:spcAft>
              <a:buNone/>
            </a:pPr>
            <a:r>
              <a:rPr lang="en-US" sz="1400" b="1" dirty="0">
                <a:solidFill>
                  <a:schemeClr val="tx1"/>
                </a:solidFill>
              </a:rPr>
              <a:t>screen_name</a:t>
            </a:r>
            <a:pPr indent="0" marL="0">
              <a:spcAft>
                <a:spcPts val="600"/>
              </a:spcAft>
              <a:buNone/>
            </a:pPr>
            <a:r>
              <a:rPr lang="en-US" sz="1400" dirty="0">
                <a:solidFill>
                  <a:schemeClr val="tx1"/>
                </a:solidFill>
              </a:rPr>
              <a:t> · 사용자가 말한 화면 이름</a:t>
            </a:r>
            <a:endParaRPr lang="en-US" sz="1400" dirty="0"/>
          </a:p>
          <a:p>
            <a:pPr indent="0" marL="0">
              <a:spcAft>
                <a:spcPts val="600"/>
              </a:spcAft>
              <a:buNone/>
            </a:pPr>
            <a:r>
              <a:rPr lang="en-US" sz="1400" b="1" dirty="0">
                <a:solidFill>
                  <a:schemeClr val="tx1"/>
                </a:solidFill>
              </a:rPr>
              <a:t>keywords</a:t>
            </a:r>
            <a:pPr indent="0" marL="0">
              <a:spcAft>
                <a:spcPts val="600"/>
              </a:spcAft>
              <a:buNone/>
            </a:pPr>
            <a:r>
              <a:rPr lang="en-US" sz="1400" dirty="0">
                <a:solidFill>
                  <a:schemeClr val="tx1"/>
                </a:solidFill>
              </a:rPr>
              <a:t> · 핵심 용어 (한글·영문)</a:t>
            </a:r>
            <a:endParaRPr lang="en-US" sz="1400" dirty="0"/>
          </a:p>
        </p:txBody>
      </p:sp>
      <p:sp>
        <p:nvSpPr>
          <p:cNvPr id="11" name="Shape 9"/>
          <p:cNvSpPr/>
          <p:nvPr/>
        </p:nvSpPr>
        <p:spPr>
          <a:xfrm>
            <a:off x="548640" y="4206240"/>
            <a:ext cx="5410048" cy="1874520"/>
          </a:xfrm>
          <a:prstGeom prst="roundRect">
            <a:avLst>
              <a:gd name="adj" fmla="val 4878"/>
            </a:avLst>
          </a:prstGeom>
          <a:solidFill>
            <a:schemeClr val="accent4"/>
          </a:solidFill>
          <a:ln w="19050">
            <a:solidFill>
              <a:schemeClr val="accent2"/>
            </a:solidFill>
            <a:prstDash val="solid"/>
          </a:ln>
        </p:spPr>
      </p:sp>
      <p:sp>
        <p:nvSpPr>
          <p:cNvPr id="12" name="Text 10"/>
          <p:cNvSpPr txBox="1"/>
          <p:nvPr/>
        </p:nvSpPr>
        <p:spPr>
          <a:xfrm>
            <a:off x="822960" y="4407408"/>
            <a:ext cx="4861408" cy="365760"/>
          </a:xfrm>
          <a:prstGeom prst="rect">
            <a:avLst/>
          </a:prstGeom>
          <a:noFill/>
          <a:ln/>
        </p:spPr>
        <p:txBody>
          <a:bodyPr wrap="square" lIns="0" tIns="0" rIns="0" bIns="0" rtlCol="0" anchor="t"/>
          <a:lstStyle/>
          <a:p>
            <a:pPr indent="0" marL="0">
              <a:buNone/>
            </a:pPr>
            <a:r>
              <a:rPr lang="en-US" sz="1700" b="1" dirty="0">
                <a:solidFill>
                  <a:schemeClr val="tx2"/>
                </a:solidFill>
              </a:rPr>
              <a:t>search_screens 가 채움</a:t>
            </a:r>
            <a:endParaRPr lang="en-US" sz="1700" dirty="0"/>
          </a:p>
        </p:txBody>
      </p:sp>
      <p:sp>
        <p:nvSpPr>
          <p:cNvPr id="13" name="Text 11"/>
          <p:cNvSpPr txBox="1"/>
          <p:nvPr/>
        </p:nvSpPr>
        <p:spPr>
          <a:xfrm>
            <a:off x="822960" y="4892040"/>
            <a:ext cx="4861408" cy="10515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match_status</a:t>
            </a:r>
            <a:pPr indent="0" marL="0">
              <a:spcAft>
                <a:spcPts val="600"/>
              </a:spcAft>
              <a:buNone/>
            </a:pPr>
            <a:r>
              <a:rPr lang="en-US" sz="1400" dirty="0">
                <a:solidFill>
                  <a:schemeClr val="tx1"/>
                </a:solidFill>
              </a:rPr>
              <a:t> · found / ambiguous / not_found / none</a:t>
            </a:r>
            <a:endParaRPr lang="en-US" sz="1400" dirty="0"/>
          </a:p>
          <a:p>
            <a:pPr indent="0" marL="0">
              <a:spcAft>
                <a:spcPts val="600"/>
              </a:spcAft>
              <a:buNone/>
            </a:pPr>
            <a:r>
              <a:rPr lang="en-US" sz="1400" b="1" dirty="0">
                <a:solidFill>
                  <a:schemeClr val="tx1"/>
                </a:solidFill>
              </a:rPr>
              <a:t>matched, candidates</a:t>
            </a:r>
            <a:pPr indent="0" marL="0">
              <a:spcAft>
                <a:spcPts val="600"/>
              </a:spcAft>
              <a:buNone/>
            </a:pPr>
            <a:r>
              <a:rPr lang="en-US" sz="1400" dirty="0">
                <a:solidFill>
                  <a:schemeClr val="tx1"/>
                </a:solidFill>
              </a:rPr>
              <a:t> · 특정된 화면, 되물을 후보</a:t>
            </a:r>
            <a:endParaRPr lang="en-US" sz="1400" dirty="0"/>
          </a:p>
          <a:p>
            <a:pPr indent="0" marL="0">
              <a:spcAft>
                <a:spcPts val="600"/>
              </a:spcAft>
              <a:buNone/>
            </a:pPr>
            <a:r>
              <a:rPr lang="en-US" sz="1400" b="1" dirty="0">
                <a:solidFill>
                  <a:schemeClr val="tx1"/>
                </a:solidFill>
              </a:rPr>
              <a:t>related</a:t>
            </a:r>
            <a:pPr indent="0" marL="0">
              <a:spcAft>
                <a:spcPts val="600"/>
              </a:spcAft>
              <a:buNone/>
            </a:pPr>
            <a:r>
              <a:rPr lang="en-US" sz="1400" dirty="0">
                <a:solidFill>
                  <a:schemeClr val="tx1"/>
                </a:solidFill>
              </a:rPr>
              <a:t> · 함께 보면 좋은 화면 (최대 3개)</a:t>
            </a:r>
            <a:endParaRPr lang="en-US" sz="1400" dirty="0"/>
          </a:p>
        </p:txBody>
      </p:sp>
      <p:sp>
        <p:nvSpPr>
          <p:cNvPr id="14" name="Shape 12"/>
          <p:cNvSpPr/>
          <p:nvPr/>
        </p:nvSpPr>
        <p:spPr>
          <a:xfrm>
            <a:off x="6233008" y="4206240"/>
            <a:ext cx="5410048" cy="1874520"/>
          </a:xfrm>
          <a:prstGeom prst="roundRect">
            <a:avLst>
              <a:gd name="adj" fmla="val 4878"/>
            </a:avLst>
          </a:prstGeom>
          <a:solidFill>
            <a:srgbClr val="FDFCF9"/>
          </a:solidFill>
          <a:ln w="12700">
            <a:solidFill>
              <a:srgbClr val="DDD8CC"/>
            </a:solidFill>
            <a:prstDash val="solid"/>
          </a:ln>
        </p:spPr>
      </p:sp>
      <p:sp>
        <p:nvSpPr>
          <p:cNvPr id="15" name="Text 13"/>
          <p:cNvSpPr txBox="1"/>
          <p:nvPr/>
        </p:nvSpPr>
        <p:spPr>
          <a:xfrm>
            <a:off x="6507328" y="4407408"/>
            <a:ext cx="4861408" cy="365760"/>
          </a:xfrm>
          <a:prstGeom prst="rect">
            <a:avLst/>
          </a:prstGeom>
          <a:noFill/>
          <a:ln/>
        </p:spPr>
        <p:txBody>
          <a:bodyPr wrap="square" lIns="0" tIns="0" rIns="0" bIns="0" rtlCol="0" anchor="t"/>
          <a:lstStyle/>
          <a:p>
            <a:pPr indent="0" marL="0">
              <a:buNone/>
            </a:pPr>
            <a:r>
              <a:rPr lang="en-US" sz="1700" b="1" dirty="0">
                <a:solidFill>
                  <a:schemeClr val="tx2"/>
                </a:solidFill>
              </a:rPr>
              <a:t>왜 검색을 코드로 하나</a:t>
            </a:r>
            <a:endParaRPr lang="en-US" sz="1700" dirty="0"/>
          </a:p>
        </p:txBody>
      </p:sp>
      <p:sp>
        <p:nvSpPr>
          <p:cNvPr id="16" name="Text 14"/>
          <p:cNvSpPr txBox="1"/>
          <p:nvPr/>
        </p:nvSpPr>
        <p:spPr>
          <a:xfrm>
            <a:off x="6507328" y="4892040"/>
            <a:ext cx="4861408" cy="105156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LLM 에게 목록을 통째로 주면 비슷한 이름을 헷갈리거나 없는 화면을 지어냅니다. 화면이 수백 개여도 LLM 에는 찾은 화면 몇 개만 넘어갑니다.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search_screens (LLM 없음)</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화면 검색은 이렇게 동작합니다</a:t>
            </a:r>
            <a:endParaRPr lang="en-US" sz="3000" dirty="0"/>
          </a:p>
        </p:txBody>
      </p:sp>
      <p:sp>
        <p:nvSpPr>
          <p:cNvPr id="4" name="Text 2"/>
          <p:cNvSpPr txBox="1"/>
          <p:nvPr/>
        </p:nvSpPr>
        <p:spPr>
          <a:xfrm>
            <a:off x="548640" y="1691640"/>
            <a:ext cx="411480" cy="411480"/>
          </a:xfrm>
          <a:prstGeom prst="rect">
            <a:avLst/>
          </a:prstGeom>
          <a:noFill/>
          <a:ln/>
        </p:spPr>
        <p:txBody>
          <a:bodyPr wrap="square" lIns="0" tIns="0" rIns="0" bIns="0" rtlCol="0" anchor="t"/>
          <a:lstStyle/>
          <a:p>
            <a:pPr indent="0" marL="0">
              <a:buNone/>
            </a:pPr>
            <a:r>
              <a:rPr lang="en-US" sz="1800" b="1" dirty="0">
                <a:solidFill>
                  <a:schemeClr val="accent2"/>
                </a:solidFill>
              </a:rPr>
              <a:t>1</a:t>
            </a:r>
            <a:endParaRPr lang="en-US" sz="1800" dirty="0"/>
          </a:p>
        </p:txBody>
      </p:sp>
      <p:sp>
        <p:nvSpPr>
          <p:cNvPr id="5" name="Text 3"/>
          <p:cNvSpPr txBox="1"/>
          <p:nvPr/>
        </p:nvSpPr>
        <p:spPr>
          <a:xfrm>
            <a:off x="1005840" y="1691640"/>
            <a:ext cx="4663440" cy="320040"/>
          </a:xfrm>
          <a:prstGeom prst="rect">
            <a:avLst/>
          </a:prstGeom>
          <a:noFill/>
          <a:ln/>
        </p:spPr>
        <p:txBody>
          <a:bodyPr wrap="square" lIns="0" tIns="0" rIns="0" bIns="0" rtlCol="0" anchor="t"/>
          <a:lstStyle/>
          <a:p>
            <a:pPr indent="0" marL="0">
              <a:buNone/>
            </a:pPr>
            <a:r>
              <a:rPr lang="en-US" sz="1500" b="1" dirty="0">
                <a:solidFill>
                  <a:schemeClr val="tx2"/>
                </a:solidFill>
              </a:rPr>
              <a:t>이름 정리</a:t>
            </a:r>
            <a:endParaRPr lang="en-US" sz="1500" dirty="0"/>
          </a:p>
        </p:txBody>
      </p:sp>
      <p:sp>
        <p:nvSpPr>
          <p:cNvPr id="6" name="Text 4"/>
          <p:cNvSpPr txBox="1"/>
          <p:nvPr/>
        </p:nvSpPr>
        <p:spPr>
          <a:xfrm>
            <a:off x="1005840" y="2039112"/>
            <a:ext cx="4663440" cy="594360"/>
          </a:xfrm>
          <a:prstGeom prst="rect">
            <a:avLst/>
          </a:prstGeom>
          <a:noFill/>
          <a:ln/>
        </p:spPr>
        <p:txBody>
          <a:bodyPr wrap="square" lIns="0" tIns="0" rIns="0" bIns="0" rtlCol="0" anchor="t"/>
          <a:lstStyle/>
          <a:p>
            <a:pPr indent="0" marL="0">
              <a:buNone/>
            </a:pPr>
            <a:r>
              <a:rPr lang="en-US" sz="1200" dirty="0">
                <a:solidFill>
                  <a:schemeClr val="accent6"/>
                </a:solidFill>
              </a:rPr>
              <a:t>소문자로, 공백·기호 제거, 끝의 '화면'·'메뉴' 제거</a:t>
            </a:r>
            <a:endParaRPr lang="en-US" sz="1200" dirty="0"/>
          </a:p>
        </p:txBody>
      </p:sp>
      <p:sp>
        <p:nvSpPr>
          <p:cNvPr id="7" name="Text 5"/>
          <p:cNvSpPr txBox="1"/>
          <p:nvPr/>
        </p:nvSpPr>
        <p:spPr>
          <a:xfrm>
            <a:off x="548640" y="2715768"/>
            <a:ext cx="411480" cy="411480"/>
          </a:xfrm>
          <a:prstGeom prst="rect">
            <a:avLst/>
          </a:prstGeom>
          <a:noFill/>
          <a:ln/>
        </p:spPr>
        <p:txBody>
          <a:bodyPr wrap="square" lIns="0" tIns="0" rIns="0" bIns="0" rtlCol="0" anchor="t"/>
          <a:lstStyle/>
          <a:p>
            <a:pPr indent="0" marL="0">
              <a:buNone/>
            </a:pPr>
            <a:r>
              <a:rPr lang="en-US" sz="1800" b="1" dirty="0">
                <a:solidFill>
                  <a:schemeClr val="accent2"/>
                </a:solidFill>
              </a:rPr>
              <a:t>2</a:t>
            </a:r>
            <a:endParaRPr lang="en-US" sz="1800" dirty="0"/>
          </a:p>
        </p:txBody>
      </p:sp>
      <p:sp>
        <p:nvSpPr>
          <p:cNvPr id="8" name="Text 6"/>
          <p:cNvSpPr txBox="1"/>
          <p:nvPr/>
        </p:nvSpPr>
        <p:spPr>
          <a:xfrm>
            <a:off x="1005840" y="2715768"/>
            <a:ext cx="4663440" cy="320040"/>
          </a:xfrm>
          <a:prstGeom prst="rect">
            <a:avLst/>
          </a:prstGeom>
          <a:noFill/>
          <a:ln/>
        </p:spPr>
        <p:txBody>
          <a:bodyPr wrap="square" lIns="0" tIns="0" rIns="0" bIns="0" rtlCol="0" anchor="t"/>
          <a:lstStyle/>
          <a:p>
            <a:pPr indent="0" marL="0">
              <a:buNone/>
            </a:pPr>
            <a:r>
              <a:rPr lang="en-US" sz="1500" b="1" dirty="0">
                <a:solidFill>
                  <a:schemeClr val="tx2"/>
                </a:solidFill>
              </a:rPr>
              <a:t>점수 매기기 (0~1)</a:t>
            </a:r>
            <a:endParaRPr lang="en-US" sz="1500" dirty="0"/>
          </a:p>
        </p:txBody>
      </p:sp>
      <p:sp>
        <p:nvSpPr>
          <p:cNvPr id="9" name="Text 7"/>
          <p:cNvSpPr txBox="1"/>
          <p:nvPr/>
        </p:nvSpPr>
        <p:spPr>
          <a:xfrm>
            <a:off x="1005840" y="3063240"/>
            <a:ext cx="4663440" cy="594360"/>
          </a:xfrm>
          <a:prstGeom prst="rect">
            <a:avLst/>
          </a:prstGeom>
          <a:noFill/>
          <a:ln/>
        </p:spPr>
        <p:txBody>
          <a:bodyPr wrap="square" lIns="0" tIns="0" rIns="0" bIns="0" rtlCol="0" anchor="t"/>
          <a:lstStyle/>
          <a:p>
            <a:pPr indent="0" marL="0">
              <a:buNone/>
            </a:pPr>
            <a:r>
              <a:rPr lang="en-US" sz="1200" dirty="0">
                <a:solidFill>
                  <a:schemeClr val="accent6"/>
                </a:solidFill>
              </a:rPr>
              <a:t>화면명·별칭과 정확히 같으면 1.0, 포함되면 0.7~1.0, 그 외 글자 유사도</a:t>
            </a:r>
            <a:endParaRPr lang="en-US" sz="1200" dirty="0"/>
          </a:p>
        </p:txBody>
      </p:sp>
      <p:sp>
        <p:nvSpPr>
          <p:cNvPr id="10" name="Text 8"/>
          <p:cNvSpPr txBox="1"/>
          <p:nvPr/>
        </p:nvSpPr>
        <p:spPr>
          <a:xfrm>
            <a:off x="548640" y="3739896"/>
            <a:ext cx="411480" cy="411480"/>
          </a:xfrm>
          <a:prstGeom prst="rect">
            <a:avLst/>
          </a:prstGeom>
          <a:noFill/>
          <a:ln/>
        </p:spPr>
        <p:txBody>
          <a:bodyPr wrap="square" lIns="0" tIns="0" rIns="0" bIns="0" rtlCol="0" anchor="t"/>
          <a:lstStyle/>
          <a:p>
            <a:pPr indent="0" marL="0">
              <a:buNone/>
            </a:pPr>
            <a:r>
              <a:rPr lang="en-US" sz="1800" b="1" dirty="0">
                <a:solidFill>
                  <a:schemeClr val="accent2"/>
                </a:solidFill>
              </a:rPr>
              <a:t>3</a:t>
            </a:r>
            <a:endParaRPr lang="en-US" sz="1800" dirty="0"/>
          </a:p>
        </p:txBody>
      </p:sp>
      <p:sp>
        <p:nvSpPr>
          <p:cNvPr id="11" name="Text 9"/>
          <p:cNvSpPr txBox="1"/>
          <p:nvPr/>
        </p:nvSpPr>
        <p:spPr>
          <a:xfrm>
            <a:off x="1005840" y="3739896"/>
            <a:ext cx="4663440" cy="320040"/>
          </a:xfrm>
          <a:prstGeom prst="rect">
            <a:avLst/>
          </a:prstGeom>
          <a:noFill/>
          <a:ln/>
        </p:spPr>
        <p:txBody>
          <a:bodyPr wrap="square" lIns="0" tIns="0" rIns="0" bIns="0" rtlCol="0" anchor="t"/>
          <a:lstStyle/>
          <a:p>
            <a:pPr indent="0" marL="0">
              <a:buNone/>
            </a:pPr>
            <a:r>
              <a:rPr lang="en-US" sz="1500" b="1" dirty="0">
                <a:solidFill>
                  <a:schemeClr val="tx2"/>
                </a:solidFill>
              </a:rPr>
              <a:t>판정</a:t>
            </a:r>
            <a:endParaRPr lang="en-US" sz="1500" dirty="0"/>
          </a:p>
        </p:txBody>
      </p:sp>
      <p:sp>
        <p:nvSpPr>
          <p:cNvPr id="12" name="Text 10"/>
          <p:cNvSpPr txBox="1"/>
          <p:nvPr/>
        </p:nvSpPr>
        <p:spPr>
          <a:xfrm>
            <a:off x="1005840" y="4087368"/>
            <a:ext cx="4663440" cy="594360"/>
          </a:xfrm>
          <a:prstGeom prst="rect">
            <a:avLst/>
          </a:prstGeom>
          <a:noFill/>
          <a:ln/>
        </p:spPr>
        <p:txBody>
          <a:bodyPr wrap="square" lIns="0" tIns="0" rIns="0" bIns="0" rtlCol="0" anchor="t"/>
          <a:lstStyle/>
          <a:p>
            <a:pPr indent="0" marL="0">
              <a:buNone/>
            </a:pPr>
            <a:r>
              <a:rPr lang="en-US" sz="1200" dirty="0">
                <a:solidFill>
                  <a:schemeClr val="accent6"/>
                </a:solidFill>
              </a:rPr>
              <a:t>0.6 이상이 하나거나 1등이 0.1 이상 앞서면 found, 비슷한 게 여럿이면 ambiguous, 없으면 not_found</a:t>
            </a:r>
            <a:endParaRPr lang="en-US" sz="1200" dirty="0"/>
          </a:p>
        </p:txBody>
      </p:sp>
      <p:sp>
        <p:nvSpPr>
          <p:cNvPr id="13" name="Text 11"/>
          <p:cNvSpPr txBox="1"/>
          <p:nvPr/>
        </p:nvSpPr>
        <p:spPr>
          <a:xfrm>
            <a:off x="548640" y="4764024"/>
            <a:ext cx="411480" cy="411480"/>
          </a:xfrm>
          <a:prstGeom prst="rect">
            <a:avLst/>
          </a:prstGeom>
          <a:noFill/>
          <a:ln/>
        </p:spPr>
        <p:txBody>
          <a:bodyPr wrap="square" lIns="0" tIns="0" rIns="0" bIns="0" rtlCol="0" anchor="t"/>
          <a:lstStyle/>
          <a:p>
            <a:pPr indent="0" marL="0">
              <a:buNone/>
            </a:pPr>
            <a:r>
              <a:rPr lang="en-US" sz="1800" b="1" dirty="0">
                <a:solidFill>
                  <a:schemeClr val="accent2"/>
                </a:solidFill>
              </a:rPr>
              <a:t>4</a:t>
            </a:r>
            <a:endParaRPr lang="en-US" sz="1800" dirty="0"/>
          </a:p>
        </p:txBody>
      </p:sp>
      <p:sp>
        <p:nvSpPr>
          <p:cNvPr id="14" name="Text 12"/>
          <p:cNvSpPr txBox="1"/>
          <p:nvPr/>
        </p:nvSpPr>
        <p:spPr>
          <a:xfrm>
            <a:off x="1005840" y="4764024"/>
            <a:ext cx="4663440" cy="320040"/>
          </a:xfrm>
          <a:prstGeom prst="rect">
            <a:avLst/>
          </a:prstGeom>
          <a:noFill/>
          <a:ln/>
        </p:spPr>
        <p:txBody>
          <a:bodyPr wrap="square" lIns="0" tIns="0" rIns="0" bIns="0" rtlCol="0" anchor="t"/>
          <a:lstStyle/>
          <a:p>
            <a:pPr indent="0" marL="0">
              <a:buNone/>
            </a:pPr>
            <a:r>
              <a:rPr lang="en-US" sz="1500" b="1" dirty="0">
                <a:solidFill>
                  <a:schemeClr val="tx2"/>
                </a:solidFill>
              </a:rPr>
              <a:t>관련 화면</a:t>
            </a:r>
            <a:endParaRPr lang="en-US" sz="1500" dirty="0"/>
          </a:p>
        </p:txBody>
      </p:sp>
      <p:sp>
        <p:nvSpPr>
          <p:cNvPr id="15" name="Text 13"/>
          <p:cNvSpPr txBox="1"/>
          <p:nvPr/>
        </p:nvSpPr>
        <p:spPr>
          <a:xfrm>
            <a:off x="1005840" y="5111496"/>
            <a:ext cx="4663440" cy="594360"/>
          </a:xfrm>
          <a:prstGeom prst="rect">
            <a:avLst/>
          </a:prstGeom>
          <a:noFill/>
          <a:ln/>
        </p:spPr>
        <p:txBody>
          <a:bodyPr wrap="square" lIns="0" tIns="0" rIns="0" bIns="0" rtlCol="0" anchor="t"/>
          <a:lstStyle/>
          <a:p>
            <a:pPr indent="0" marL="0">
              <a:buNone/>
            </a:pPr>
            <a:r>
              <a:rPr lang="en-US" sz="1200" dirty="0">
                <a:solidFill>
                  <a:schemeClr val="accent6"/>
                </a:solidFill>
              </a:rPr>
              <a:t>키워드가 화면명·설명·별칭에 많이 들어간 순서로 최대 3개</a:t>
            </a:r>
            <a:endParaRPr lang="en-US" sz="1200" dirty="0"/>
          </a:p>
        </p:txBody>
      </p:sp>
      <p:sp>
        <p:nvSpPr>
          <p:cNvPr id="16" name="Text 14"/>
          <p:cNvSpPr txBox="1"/>
          <p:nvPr/>
        </p:nvSpPr>
        <p:spPr>
          <a:xfrm>
            <a:off x="5989320" y="1645920"/>
            <a:ext cx="5653735" cy="365760"/>
          </a:xfrm>
          <a:prstGeom prst="rect">
            <a:avLst/>
          </a:prstGeom>
          <a:noFill/>
          <a:ln/>
        </p:spPr>
        <p:txBody>
          <a:bodyPr wrap="square" lIns="0" tIns="0" rIns="0" bIns="0" rtlCol="0" anchor="t"/>
          <a:lstStyle/>
          <a:p>
            <a:pPr indent="0" marL="0">
              <a:buNone/>
            </a:pPr>
            <a:r>
              <a:rPr lang="en-US" sz="1500" b="1" dirty="0">
                <a:solidFill>
                  <a:schemeClr val="tx2"/>
                </a:solidFill>
              </a:rPr>
              <a:t>예시 데이터로 확인한 결과</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89320" y="2103120"/>
          <a:ext cx="5653735" cy="914400"/>
        </p:xfrm>
        <a:graphic>
          <a:graphicData uri="http://schemas.openxmlformats.org/drawingml/2006/table">
            <a:tbl>
              <a:tblPr/>
              <a:tblGrid>
                <a:gridCol w="1922270"/>
                <a:gridCol w="1865733"/>
                <a:gridCol w="1865733"/>
              </a:tblGrid>
              <a:tr h="457200">
                <a:tc>
                  <a:txBody>
                    <a:bodyPr/>
                    <a:lstStyle/>
                    <a:p>
                      <a:pPr indent="0" marL="0">
                        <a:buNone/>
                      </a:pPr>
                      <a:r>
                        <a:rPr lang="en-US" sz="1200" b="1" dirty="0">
                          <a:solidFill>
                            <a:schemeClr val="bg2"/>
                          </a:solidFill>
                        </a:rPr>
                        <a:t>물어본 것</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2"/>
                          </a:solidFill>
                        </a:rPr>
                        <a:t>검색 결과</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2"/>
                          </a:solidFill>
                        </a:rPr>
                        <a:t>가는 노드</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457200">
                <a:tc>
                  <a:txBody>
                    <a:bodyPr/>
                    <a:lstStyle/>
                    <a:p>
                      <a:pPr indent="0" marL="0">
                        <a:buNone/>
                      </a:pPr>
                      <a:r>
                        <a:rPr lang="en-US" sz="1200" dirty="0">
                          <a:solidFill>
                            <a:schemeClr val="tx1"/>
                          </a:solidFill>
                        </a:rPr>
                        <a:t>Hold Lot 관리</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found</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explain_screen</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457200">
                <a:tc>
                  <a:txBody>
                    <a:bodyPr/>
                    <a:lstStyle/>
                    <a:p>
                      <a:pPr indent="0" marL="0">
                        <a:buNone/>
                      </a:pPr>
                      <a:r>
                        <a:rPr lang="en-US" sz="1200" dirty="0">
                          <a:solidFill>
                            <a:schemeClr val="tx1"/>
                          </a:solidFill>
                        </a:rPr>
                        <a:t>홀드관리 (별칭)</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found</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explain_screen</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457200">
                <a:tc>
                  <a:txBody>
                    <a:bodyPr/>
                    <a:lstStyle/>
                    <a:p>
                      <a:pPr indent="0" marL="0">
                        <a:buNone/>
                      </a:pPr>
                      <a:r>
                        <a:rPr lang="en-US" sz="1200" dirty="0">
                          <a:solidFill>
                            <a:schemeClr val="tx1"/>
                          </a:solidFill>
                        </a:rPr>
                        <a:t>Lot</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ambiguous (이력 / 위치)</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clarify_screen</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457200">
                <a:tc>
                  <a:txBody>
                    <a:bodyPr/>
                    <a:lstStyle/>
                    <a:p>
                      <a:pPr indent="0" marL="0">
                        <a:buNone/>
                      </a:pPr>
                      <a:r>
                        <a:rPr lang="en-US" sz="1200" dirty="0">
                          <a:solidFill>
                            <a:schemeClr val="tx1"/>
                          </a:solidFill>
                        </a:rPr>
                        <a:t>설비 알람 이력</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not_found</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clarify_screen</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457200">
                <a:tc>
                  <a:txBody>
                    <a:bodyPr/>
                    <a:lstStyle/>
                    <a:p>
                      <a:pPr indent="0" marL="0">
                        <a:buNone/>
                      </a:pPr>
                      <a:r>
                        <a:rPr lang="en-US" sz="1200" dirty="0">
                          <a:solidFill>
                            <a:schemeClr val="tx1"/>
                          </a:solidFill>
                        </a:rPr>
                        <a:t>OOC 가 뭐야</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개념 + 관련 SPC 차트 조회</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200" dirty="0">
                          <a:solidFill>
                            <a:schemeClr val="tx1"/>
                          </a:solidFill>
                        </a:rPr>
                        <a:t>explain_concept</a:t>
                      </a:r>
                      <a:endParaRPr lang="en-US" sz="12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bl>
          </a:graphicData>
        </a:graphic>
      </p:graphicFrame>
      <p:sp>
        <p:nvSpPr>
          <p:cNvPr id="18" name="Text 15"/>
          <p:cNvSpPr txBox="1"/>
          <p:nvPr/>
        </p:nvSpPr>
        <p:spPr>
          <a:xfrm>
            <a:off x="5989320" y="5257800"/>
            <a:ext cx="5653735" cy="457200"/>
          </a:xfrm>
          <a:prstGeom prst="rect">
            <a:avLst/>
          </a:prstGeom>
          <a:noFill/>
          <a:ln/>
        </p:spPr>
        <p:txBody>
          <a:bodyPr wrap="square" lIns="0" tIns="0" rIns="0" bIns="0" rtlCol="0" anchor="t"/>
          <a:lstStyle/>
          <a:p>
            <a:pPr indent="0" marL="0">
              <a:buNone/>
            </a:pPr>
            <a:r>
              <a:rPr lang="en-US" sz="1200" dirty="0">
                <a:solidFill>
                  <a:schemeClr val="accent6"/>
                </a:solidFill>
              </a:rPr>
              <a:t>엉뚱한 화면이 걸리면 기준값을 올리고, 못 찾으면 별칭을 추가하는 게 가장 빠릅니다.</a:t>
            </a:r>
            <a:endParaRPr lang="en-US" sz="12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설정값</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코드를 몰라도 값만 바꾸면 되는 곳</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6436"/>
                <a:gridCol w="1775106"/>
                <a:gridCol w="6212873"/>
              </a:tblGrid>
              <a:tr h="384048">
                <a:tc>
                  <a:txBody>
                    <a:bodyPr/>
                    <a:lstStyle/>
                    <a:p>
                      <a:pPr indent="0" marL="0">
                        <a:buNone/>
                      </a:pPr>
                      <a:r>
                        <a:rPr lang="en-US" sz="1400" b="1" dirty="0">
                          <a:solidFill>
                            <a:schemeClr val="bg2"/>
                          </a:solidFill>
                        </a:rPr>
                        <a:t>이름</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기본값</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언제 바꾸나</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TEAM_INFO</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화면에 보이는 조 이름·설명·예시 질문</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MATCH_THRESHOLD</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0.6</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엉뚱한 화면이 걸리면 올리고, 너무 못 찾으면 내리기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AMBIGUOUS_GAP</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0.1</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되묻기가 너무 잦으면 줄이기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RELATED_LIMIT</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3개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함께 보여줄 관련 화면 수</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HISTORY_TURNS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6개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이전 대화를 몇 개까지 LLM 에 보낼지</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temperature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0.0 ~ 0.4</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질문 분석 0.0, 되묻기 0.3, 설명 0.4 (각 노드 함수 안)</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bl>
          </a:graphicData>
        </a:graphic>
      </p:graphicFrame>
      <p:sp>
        <p:nvSpPr>
          <p:cNvPr id="5" name="Text 2"/>
          <p:cNvSpPr txBox="1"/>
          <p:nvPr/>
        </p:nvSpPr>
        <p:spPr>
          <a:xfrm>
            <a:off x="548640" y="484632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파란 줄 두 개가 실제 화면 데이터를 넣은 뒤 가장 먼저 조정해 볼 값입니다.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prompts.py</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사내 화면 데이터와 지시문 6개</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217380"/>
                <a:gridCol w="2329827"/>
                <a:gridCol w="5547208"/>
              </a:tblGrid>
              <a:tr h="384048">
                <a:tc>
                  <a:txBody>
                    <a:bodyPr/>
                    <a:lstStyle/>
                    <a:p>
                      <a:pPr indent="0" marL="0">
                        <a:buNone/>
                      </a:pPr>
                      <a:r>
                        <a:rPr lang="en-US" sz="1300" b="1" dirty="0">
                          <a:solidFill>
                            <a:schemeClr val="bg2"/>
                          </a:solidFill>
                        </a:rPr>
                        <a:t>변수</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쓰는 곳</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핵심 내용</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rPr>
                        <a:t>MES_SCREENS</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300" dirty="0">
                          <a:solidFill>
                            <a:schemeClr val="tx1"/>
                          </a:solidFill>
                        </a:rPr>
                        <a:t>search_screens (데이터)</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300" dirty="0">
                          <a:solidFill>
                            <a:schemeClr val="tx1"/>
                          </a:solidFill>
                        </a:rPr>
                        <a:t>사내 화면 목록: 화면명 | 설명 | 별칭</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r>
              <a:tr h="384048">
                <a:tc>
                  <a:txBody>
                    <a:bodyPr/>
                    <a:lstStyle/>
                    <a:p>
                      <a:pPr indent="0" marL="0">
                        <a:buNone/>
                      </a:pPr>
                      <a:r>
                        <a:rPr lang="en-US" sz="1300" dirty="0">
                          <a:solidFill>
                            <a:schemeClr val="tx1"/>
                          </a:solidFill>
                        </a:rPr>
                        <a:t>COMMON_RULES</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설명 노드 3개 공통</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사내 정보 1순위, 보완은 "일반적으로" 표시, 버튼·메뉴·권한 지어내지 않기</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r>
              <a:tr h="384048">
                <a:tc>
                  <a:txBody>
                    <a:bodyPr/>
                    <a:lstStyle/>
                    <a:p>
                      <a:pPr indent="0" marL="0">
                        <a:buNone/>
                      </a:pPr>
                      <a:r>
                        <a:rPr lang="en-US" sz="1300" dirty="0">
                          <a:solidFill>
                            <a:schemeClr val="tx1"/>
                          </a:solidFill>
                        </a:rPr>
                        <a:t>ANALYZE_QUERY_SYSTEM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analyze_query</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JSON 으로만: 의도, 화면/개념, 화면명, 한·영 키워드</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84048">
                <a:tc>
                  <a:txBody>
                    <a:bodyPr/>
                    <a:lstStyle/>
                    <a:p>
                      <a:pPr indent="0" marL="0">
                        <a:buNone/>
                      </a:pPr>
                      <a:r>
                        <a:rPr lang="en-US" sz="1300" dirty="0">
                          <a:solidFill>
                            <a:schemeClr val="tx1"/>
                          </a:solidFill>
                        </a:rPr>
                        <a:t>EXPLAIN_SCREEN_SYSTEM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explain_screen</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요약 → 화면 설명 → 업무 흐름 → 용어 → 관련 화면</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84048">
                <a:tc>
                  <a:txBody>
                    <a:bodyPr/>
                    <a:lstStyle/>
                    <a:p>
                      <a:pPr indent="0" marL="0">
                        <a:buNone/>
                      </a:pPr>
                      <a:r>
                        <a:rPr lang="en-US" sz="1300" dirty="0">
                          <a:solidFill>
                            <a:schemeClr val="tx1"/>
                          </a:solidFill>
                        </a:rPr>
                        <a:t>EXPLAIN_CONCEPT_SYSTEM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explain_concept</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핵심 답 → 자세히 → 관련 사내 화면 (없으면 생략)</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84048">
                <a:tc>
                  <a:txBody>
                    <a:bodyPr/>
                    <a:lstStyle/>
                    <a:p>
                      <a:pPr indent="0" marL="0">
                        <a:buNone/>
                      </a:pPr>
                      <a:r>
                        <a:rPr lang="en-US" sz="1300" dirty="0">
                          <a:solidFill>
                            <a:schemeClr val="tx1"/>
                          </a:solidFill>
                        </a:rPr>
                        <a:t>CLARIFY_SCREEN_SYSTEM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clarify_screen</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후보를 번호 목록으로, 이름으로 짐작한 내용은 "추정" 표시</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84048">
                <a:tc>
                  <a:txBody>
                    <a:bodyPr/>
                    <a:lstStyle/>
                    <a:p>
                      <a:pPr indent="0" marL="0">
                        <a:buNone/>
                      </a:pPr>
                      <a:r>
                        <a:rPr lang="en-US" sz="1300" dirty="0">
                          <a:solidFill>
                            <a:schemeClr val="tx1"/>
                          </a:solidFill>
                        </a:rPr>
                        <a:t>FOLLOW_UP_SYSTEM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answer_follow_up</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앞 내용 반복하지 말고 새로 물은 것만, 7문장 이내</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bl>
          </a:graphicData>
        </a:graphic>
      </p:graphicFrame>
      <p:sp>
        <p:nvSpPr>
          <p:cNvPr id="5" name="Text 2"/>
          <p:cNvSpPr txBox="1"/>
          <p:nvPr/>
        </p:nvSpPr>
        <p:spPr>
          <a:xfrm>
            <a:off x="548640" y="525780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답변이 이상하면 여기 문구만 고칩니다. 고치면 README 2장의 최종 프롬프트도 같이 바꿉니다.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나머지 파일</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requirements.txt · README.md · screenshots/</a:t>
            </a:r>
            <a:endParaRPr lang="en-US" sz="3000" dirty="0"/>
          </a:p>
        </p:txBody>
      </p:sp>
      <p:sp>
        <p:nvSpPr>
          <p:cNvPr id="4" name="Shape 2"/>
          <p:cNvSpPr/>
          <p:nvPr/>
        </p:nvSpPr>
        <p:spPr>
          <a:xfrm>
            <a:off x="548640" y="1691640"/>
            <a:ext cx="3515258" cy="4023360"/>
          </a:xfrm>
          <a:prstGeom prst="roundRect">
            <a:avLst>
              <a:gd name="adj" fmla="val 2601"/>
            </a:avLst>
          </a:prstGeom>
          <a:solidFill>
            <a:srgbClr val="FDFCF9"/>
          </a:solidFill>
          <a:ln w="12700">
            <a:solidFill>
              <a:srgbClr val="DDD8CC"/>
            </a:solidFill>
            <a:prstDash val="solid"/>
          </a:ln>
        </p:spPr>
      </p:sp>
      <p:sp>
        <p:nvSpPr>
          <p:cNvPr id="5" name="Text 3"/>
          <p:cNvSpPr txBox="1"/>
          <p:nvPr/>
        </p:nvSpPr>
        <p:spPr>
          <a:xfrm>
            <a:off x="822960" y="1920240"/>
            <a:ext cx="2966618" cy="411480"/>
          </a:xfrm>
          <a:prstGeom prst="rect">
            <a:avLst/>
          </a:prstGeom>
          <a:noFill/>
          <a:ln/>
        </p:spPr>
        <p:txBody>
          <a:bodyPr wrap="square" lIns="0" tIns="0" rIns="0" bIns="0" rtlCol="0" anchor="t"/>
          <a:lstStyle/>
          <a:p>
            <a:pPr indent="0" marL="0">
              <a:buNone/>
            </a:pPr>
            <a:r>
              <a:rPr lang="en-US" sz="1800" b="1" dirty="0">
                <a:solidFill>
                  <a:schemeClr val="tx2"/>
                </a:solidFill>
              </a:rPr>
              <a:t>requirements.txt</a:t>
            </a:r>
            <a:endParaRPr lang="en-US" sz="1800" dirty="0"/>
          </a:p>
        </p:txBody>
      </p:sp>
      <p:sp>
        <p:nvSpPr>
          <p:cNvPr id="6" name="Text 4"/>
          <p:cNvSpPr txBox="1"/>
          <p:nvPr/>
        </p:nvSpPr>
        <p:spPr>
          <a:xfrm>
            <a:off x="822960" y="2377440"/>
            <a:ext cx="2966618" cy="320040"/>
          </a:xfrm>
          <a:prstGeom prst="rect">
            <a:avLst/>
          </a:prstGeom>
          <a:noFill/>
          <a:ln/>
        </p:spPr>
        <p:txBody>
          <a:bodyPr wrap="square" lIns="0" tIns="0" rIns="0" bIns="0" rtlCol="0" anchor="t"/>
          <a:lstStyle/>
          <a:p>
            <a:pPr indent="0" marL="0">
              <a:buNone/>
            </a:pPr>
            <a:r>
              <a:rPr lang="en-US" sz="1300" b="1" dirty="0">
                <a:solidFill>
                  <a:schemeClr val="accent1"/>
                </a:solidFill>
              </a:rPr>
              <a:t>설치할 파이썬 패키지 목록</a:t>
            </a:r>
            <a:endParaRPr lang="en-US" sz="1300" dirty="0"/>
          </a:p>
        </p:txBody>
      </p:sp>
      <p:sp>
        <p:nvSpPr>
          <p:cNvPr id="7" name="Text 5"/>
          <p:cNvSpPr txBox="1"/>
          <p:nvPr/>
        </p:nvSpPr>
        <p:spPr>
          <a:xfrm>
            <a:off x="822960" y="2834640"/>
            <a:ext cx="2966618" cy="2697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위쪽: 공용 패키지 9개 (수정 금지)</a:t>
            </a:r>
            <a:endParaRPr lang="en-US" sz="1400" dirty="0"/>
          </a:p>
          <a:p>
            <a:pPr marL="342900" indent="-342900">
              <a:spcAft>
                <a:spcPts val="600"/>
              </a:spcAft>
              <a:buSzPct val="100000"/>
              <a:buChar char="•"/>
            </a:pPr>
            <a:r>
              <a:rPr lang="en-US" sz="1300" dirty="0">
                <a:solidFill>
                  <a:schemeClr val="tx1"/>
                </a:solidFill>
              </a:rPr>
              <a:t>아래쪽: 조별 추가 구역</a:t>
            </a:r>
            <a:endParaRPr lang="en-US" sz="1400" dirty="0"/>
          </a:p>
          <a:p>
            <a:pPr marL="342900" indent="-342900">
              <a:spcAft>
                <a:spcPts val="600"/>
              </a:spcAft>
              <a:buSzPct val="100000"/>
              <a:buChar char="•"/>
            </a:pPr>
            <a:r>
              <a:rPr lang="en-US" sz="1300" dirty="0">
                <a:solidFill>
                  <a:schemeClr val="tx1"/>
                </a:solidFill>
              </a:rPr>
              <a:t>우리 조는 추가 없음</a:t>
            </a:r>
            <a:endParaRPr lang="en-US" sz="1400" dirty="0"/>
          </a:p>
          <a:p>
            <a:pPr marL="342900" indent="-342900">
              <a:spcAft>
                <a:spcPts val="600"/>
              </a:spcAft>
              <a:buSzPct val="100000"/>
              <a:buChar char="•"/>
            </a:pPr>
            <a:r>
              <a:rPr lang="en-US" sz="1300" dirty="0">
                <a:solidFill>
                  <a:schemeClr val="tx1"/>
                </a:solidFill>
              </a:rPr>
              <a:t>검색은 re, difflib 같은 기본 라이브러리만 사용</a:t>
            </a:r>
            <a:endParaRPr lang="en-US" sz="1400" dirty="0"/>
          </a:p>
        </p:txBody>
      </p:sp>
      <p:sp>
        <p:nvSpPr>
          <p:cNvPr id="8" name="Shape 6"/>
          <p:cNvSpPr/>
          <p:nvPr/>
        </p:nvSpPr>
        <p:spPr>
          <a:xfrm>
            <a:off x="4338218" y="1691640"/>
            <a:ext cx="3515258" cy="4023360"/>
          </a:xfrm>
          <a:prstGeom prst="roundRect">
            <a:avLst>
              <a:gd name="adj" fmla="val 2601"/>
            </a:avLst>
          </a:prstGeom>
          <a:solidFill>
            <a:srgbClr val="FDFCF9"/>
          </a:solidFill>
          <a:ln w="12700">
            <a:solidFill>
              <a:srgbClr val="DDD8CC"/>
            </a:solidFill>
            <a:prstDash val="solid"/>
          </a:ln>
        </p:spPr>
      </p:sp>
      <p:sp>
        <p:nvSpPr>
          <p:cNvPr id="9" name="Text 7"/>
          <p:cNvSpPr txBox="1"/>
          <p:nvPr/>
        </p:nvSpPr>
        <p:spPr>
          <a:xfrm>
            <a:off x="4612538" y="1920240"/>
            <a:ext cx="2966618" cy="411480"/>
          </a:xfrm>
          <a:prstGeom prst="rect">
            <a:avLst/>
          </a:prstGeom>
          <a:noFill/>
          <a:ln/>
        </p:spPr>
        <p:txBody>
          <a:bodyPr wrap="square" lIns="0" tIns="0" rIns="0" bIns="0" rtlCol="0" anchor="t"/>
          <a:lstStyle/>
          <a:p>
            <a:pPr indent="0" marL="0">
              <a:buNone/>
            </a:pPr>
            <a:r>
              <a:rPr lang="en-US" sz="1800" b="1" dirty="0">
                <a:solidFill>
                  <a:schemeClr val="tx2"/>
                </a:solidFill>
              </a:rPr>
              <a:t>README.md</a:t>
            </a:r>
            <a:endParaRPr lang="en-US" sz="1800" dirty="0"/>
          </a:p>
        </p:txBody>
      </p:sp>
      <p:sp>
        <p:nvSpPr>
          <p:cNvPr id="10" name="Text 8"/>
          <p:cNvSpPr txBox="1"/>
          <p:nvPr/>
        </p:nvSpPr>
        <p:spPr>
          <a:xfrm>
            <a:off x="4612538" y="2377440"/>
            <a:ext cx="2966618" cy="320040"/>
          </a:xfrm>
          <a:prstGeom prst="rect">
            <a:avLst/>
          </a:prstGeom>
          <a:noFill/>
          <a:ln/>
        </p:spPr>
        <p:txBody>
          <a:bodyPr wrap="square" lIns="0" tIns="0" rIns="0" bIns="0" rtlCol="0" anchor="t"/>
          <a:lstStyle/>
          <a:p>
            <a:pPr indent="0" marL="0">
              <a:buNone/>
            </a:pPr>
            <a:r>
              <a:rPr lang="en-US" sz="1300" b="1" dirty="0">
                <a:solidFill>
                  <a:schemeClr val="accent1"/>
                </a:solidFill>
              </a:rPr>
              <a:t>평가받는 제출 문서</a:t>
            </a:r>
            <a:endParaRPr lang="en-US" sz="1300" dirty="0"/>
          </a:p>
        </p:txBody>
      </p:sp>
      <p:sp>
        <p:nvSpPr>
          <p:cNvPr id="11" name="Text 9"/>
          <p:cNvSpPr txBox="1"/>
          <p:nvPr/>
        </p:nvSpPr>
        <p:spPr>
          <a:xfrm>
            <a:off x="4612538" y="2834640"/>
            <a:ext cx="2966618" cy="2697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0장: 사내 화면 데이터 넣는 법</a:t>
            </a:r>
            <a:endParaRPr lang="en-US" sz="1400" dirty="0"/>
          </a:p>
          <a:p>
            <a:pPr marL="342900" indent="-342900">
              <a:spcAft>
                <a:spcPts val="600"/>
              </a:spcAft>
              <a:buSzPct val="100000"/>
              <a:buChar char="•"/>
            </a:pPr>
            <a:r>
              <a:rPr lang="en-US" sz="1300" dirty="0">
                <a:solidFill>
                  <a:schemeClr val="tx1"/>
                </a:solidFill>
              </a:rPr>
              <a:t>1장: State·노드·엣지·다이어그램·설계 이유</a:t>
            </a:r>
            <a:endParaRPr lang="en-US" sz="1400" dirty="0"/>
          </a:p>
          <a:p>
            <a:pPr marL="342900" indent="-342900">
              <a:spcAft>
                <a:spcPts val="600"/>
              </a:spcAft>
              <a:buSzPct val="100000"/>
              <a:buChar char="•"/>
            </a:pPr>
            <a:r>
              <a:rPr lang="en-US" sz="1300" dirty="0">
                <a:solidFill>
                  <a:schemeClr val="tx1"/>
                </a:solidFill>
              </a:rPr>
              <a:t>2장: 노드별 프롬프트와 검색 규칙, 개선 전→후</a:t>
            </a:r>
            <a:endParaRPr lang="en-US" sz="1400" dirty="0"/>
          </a:p>
          <a:p>
            <a:pPr marL="342900" indent="-342900">
              <a:spcAft>
                <a:spcPts val="600"/>
              </a:spcAft>
              <a:buSzPct val="100000"/>
              <a:buChar char="•"/>
            </a:pPr>
            <a:r>
              <a:rPr lang="en-US" sz="1300" dirty="0">
                <a:solidFill>
                  <a:schemeClr val="tx1"/>
                </a:solidFill>
              </a:rPr>
              <a:t>3장: 실행 캡처, 회고, 회의 기록</a:t>
            </a:r>
            <a:endParaRPr lang="en-US" sz="1400" dirty="0"/>
          </a:p>
        </p:txBody>
      </p:sp>
      <p:sp>
        <p:nvSpPr>
          <p:cNvPr id="12" name="Shape 10"/>
          <p:cNvSpPr/>
          <p:nvPr/>
        </p:nvSpPr>
        <p:spPr>
          <a:xfrm>
            <a:off x="8127797" y="1691640"/>
            <a:ext cx="3515258" cy="4023360"/>
          </a:xfrm>
          <a:prstGeom prst="roundRect">
            <a:avLst>
              <a:gd name="adj" fmla="val 2601"/>
            </a:avLst>
          </a:prstGeom>
          <a:solidFill>
            <a:srgbClr val="FDFCF9"/>
          </a:solidFill>
          <a:ln w="12700">
            <a:solidFill>
              <a:srgbClr val="DDD8CC"/>
            </a:solidFill>
            <a:prstDash val="solid"/>
          </a:ln>
        </p:spPr>
      </p:sp>
      <p:sp>
        <p:nvSpPr>
          <p:cNvPr id="13" name="Text 11"/>
          <p:cNvSpPr txBox="1"/>
          <p:nvPr/>
        </p:nvSpPr>
        <p:spPr>
          <a:xfrm>
            <a:off x="8402117" y="1920240"/>
            <a:ext cx="2966618" cy="411480"/>
          </a:xfrm>
          <a:prstGeom prst="rect">
            <a:avLst/>
          </a:prstGeom>
          <a:noFill/>
          <a:ln/>
        </p:spPr>
        <p:txBody>
          <a:bodyPr wrap="square" lIns="0" tIns="0" rIns="0" bIns="0" rtlCol="0" anchor="t"/>
          <a:lstStyle/>
          <a:p>
            <a:pPr indent="0" marL="0">
              <a:buNone/>
            </a:pPr>
            <a:r>
              <a:rPr lang="en-US" sz="1800" b="1" dirty="0">
                <a:solidFill>
                  <a:schemeClr val="tx2"/>
                </a:solidFill>
              </a:rPr>
              <a:t>screenshots/</a:t>
            </a:r>
            <a:endParaRPr lang="en-US" sz="1800" dirty="0"/>
          </a:p>
        </p:txBody>
      </p:sp>
      <p:sp>
        <p:nvSpPr>
          <p:cNvPr id="14" name="Text 12"/>
          <p:cNvSpPr txBox="1"/>
          <p:nvPr/>
        </p:nvSpPr>
        <p:spPr>
          <a:xfrm>
            <a:off x="8402117" y="2377440"/>
            <a:ext cx="2966618" cy="320040"/>
          </a:xfrm>
          <a:prstGeom prst="rect">
            <a:avLst/>
          </a:prstGeom>
          <a:noFill/>
          <a:ln/>
        </p:spPr>
        <p:txBody>
          <a:bodyPr wrap="square" lIns="0" tIns="0" rIns="0" bIns="0" rtlCol="0" anchor="t"/>
          <a:lstStyle/>
          <a:p>
            <a:pPr indent="0" marL="0">
              <a:buNone/>
            </a:pPr>
            <a:r>
              <a:rPr lang="en-US" sz="1300" b="1" dirty="0">
                <a:solidFill>
                  <a:schemeClr val="accent1"/>
                </a:solidFill>
              </a:rPr>
              <a:t>실행 캡처를 넣는 폴더</a:t>
            </a:r>
            <a:endParaRPr lang="en-US" sz="1300" dirty="0"/>
          </a:p>
        </p:txBody>
      </p:sp>
      <p:sp>
        <p:nvSpPr>
          <p:cNvPr id="15" name="Text 13"/>
          <p:cNvSpPr txBox="1"/>
          <p:nvPr/>
        </p:nvSpPr>
        <p:spPr>
          <a:xfrm>
            <a:off x="8402117" y="2834640"/>
            <a:ext cx="2966618" cy="2697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case1~3.png 로 저장</a:t>
            </a:r>
            <a:endParaRPr lang="en-US" sz="1400" dirty="0"/>
          </a:p>
          <a:p>
            <a:pPr marL="342900" indent="-342900">
              <a:spcAft>
                <a:spcPts val="600"/>
              </a:spcAft>
              <a:buSzPct val="100000"/>
              <a:buChar char="•"/>
            </a:pPr>
            <a:r>
              <a:rPr lang="en-US" sz="1300" dirty="0">
                <a:solidFill>
                  <a:schemeClr val="tx1"/>
                </a:solidFill>
              </a:rPr>
              <a:t>답변과 실행 노드 배지가 함께 보이게</a:t>
            </a:r>
            <a:endParaRPr lang="en-US" sz="1400" dirty="0"/>
          </a:p>
          <a:p>
            <a:pPr marL="342900" indent="-342900">
              <a:spcAft>
                <a:spcPts val="600"/>
              </a:spcAft>
              <a:buSzPct val="100000"/>
              <a:buChar char="•"/>
            </a:pPr>
            <a:r>
              <a:rPr lang="en-US" sz="1300" dirty="0">
                <a:solidFill>
                  <a:schemeClr val="tx1"/>
                </a:solidFill>
              </a:rPr>
              <a:t>캡처 없이는 실행 확인으로 인정 안 됨</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rgbClr val="C9B8F0"/>
                </a:solidFill>
              </a:rPr>
              <a:t>시연 포인트</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bg2"/>
                </a:solidFill>
              </a:rPr>
              <a:t>질문별로 실행되는 노드</a:t>
            </a:r>
            <a:endParaRPr lang="en-US" sz="3000" dirty="0"/>
          </a:p>
        </p:txBody>
      </p:sp>
      <p:sp>
        <p:nvSpPr>
          <p:cNvPr id="4" name="Text 2"/>
          <p:cNvSpPr txBox="1"/>
          <p:nvPr/>
        </p:nvSpPr>
        <p:spPr>
          <a:xfrm>
            <a:off x="548640" y="1737360"/>
            <a:ext cx="7863840" cy="457200"/>
          </a:xfrm>
          <a:prstGeom prst="rect">
            <a:avLst/>
          </a:prstGeom>
          <a:noFill/>
          <a:ln/>
        </p:spPr>
        <p:txBody>
          <a:bodyPr wrap="square" lIns="0" tIns="0" rIns="0" bIns="0" rtlCol="0" anchor="ctr"/>
          <a:lstStyle/>
          <a:p>
            <a:pPr indent="0" marL="0">
              <a:buNone/>
            </a:pPr>
            <a:r>
              <a:rPr lang="en-US" sz="1500" dirty="0">
                <a:solidFill>
                  <a:schemeClr val="bg2"/>
                </a:solidFill>
              </a:rPr>
              <a:t>"Hold Lot 관리 화면이 뭐야?"</a:t>
            </a:r>
            <a:endParaRPr lang="en-US" sz="1500" dirty="0"/>
          </a:p>
        </p:txBody>
      </p:sp>
      <p:sp>
        <p:nvSpPr>
          <p:cNvPr id="5" name="Shape 3"/>
          <p:cNvSpPr/>
          <p:nvPr/>
        </p:nvSpPr>
        <p:spPr>
          <a:xfrm>
            <a:off x="8595360" y="1773936"/>
            <a:ext cx="3047695" cy="384048"/>
          </a:xfrm>
          <a:prstGeom prst="roundRect">
            <a:avLst>
              <a:gd name="adj" fmla="val 19048"/>
            </a:avLst>
          </a:prstGeom>
          <a:solidFill>
            <a:srgbClr val="C9B8F0"/>
          </a:solidFill>
          <a:ln w="12700">
            <a:solidFill>
              <a:srgbClr val="C9B8F0"/>
            </a:solidFill>
            <a:prstDash val="solid"/>
          </a:ln>
        </p:spPr>
      </p:sp>
      <p:sp>
        <p:nvSpPr>
          <p:cNvPr id="6" name="Text 4"/>
          <p:cNvSpPr txBox="1"/>
          <p:nvPr/>
        </p:nvSpPr>
        <p:spPr>
          <a:xfrm>
            <a:off x="8595360" y="1773936"/>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explain_screen</a:t>
            </a:r>
            <a:endParaRPr lang="en-US" sz="1200" dirty="0"/>
          </a:p>
        </p:txBody>
      </p:sp>
      <p:sp>
        <p:nvSpPr>
          <p:cNvPr id="7" name="Text 5"/>
          <p:cNvSpPr txBox="1"/>
          <p:nvPr/>
        </p:nvSpPr>
        <p:spPr>
          <a:xfrm>
            <a:off x="548640" y="2450592"/>
            <a:ext cx="7863840" cy="457200"/>
          </a:xfrm>
          <a:prstGeom prst="rect">
            <a:avLst/>
          </a:prstGeom>
          <a:noFill/>
          <a:ln/>
        </p:spPr>
        <p:txBody>
          <a:bodyPr wrap="square" lIns="0" tIns="0" rIns="0" bIns="0" rtlCol="0" anchor="ctr"/>
          <a:lstStyle/>
          <a:p>
            <a:pPr indent="0" marL="0">
              <a:buNone/>
            </a:pPr>
            <a:r>
              <a:rPr lang="en-US" sz="1500" dirty="0">
                <a:solidFill>
                  <a:schemeClr val="bg2"/>
                </a:solidFill>
              </a:rPr>
              <a:t>"OOC가 뭐고 MES에서 어디서 확인해?"</a:t>
            </a:r>
            <a:endParaRPr lang="en-US" sz="1500" dirty="0"/>
          </a:p>
        </p:txBody>
      </p:sp>
      <p:sp>
        <p:nvSpPr>
          <p:cNvPr id="8" name="Shape 6"/>
          <p:cNvSpPr/>
          <p:nvPr/>
        </p:nvSpPr>
        <p:spPr>
          <a:xfrm>
            <a:off x="8595360" y="2487168"/>
            <a:ext cx="3047695" cy="384048"/>
          </a:xfrm>
          <a:prstGeom prst="roundRect">
            <a:avLst>
              <a:gd name="adj" fmla="val 19048"/>
            </a:avLst>
          </a:prstGeom>
          <a:solidFill>
            <a:srgbClr val="C9B8F0"/>
          </a:solidFill>
          <a:ln w="12700">
            <a:solidFill>
              <a:srgbClr val="C9B8F0"/>
            </a:solidFill>
            <a:prstDash val="solid"/>
          </a:ln>
        </p:spPr>
      </p:sp>
      <p:sp>
        <p:nvSpPr>
          <p:cNvPr id="9" name="Text 7"/>
          <p:cNvSpPr txBox="1"/>
          <p:nvPr/>
        </p:nvSpPr>
        <p:spPr>
          <a:xfrm>
            <a:off x="8595360" y="2487168"/>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explain_concept</a:t>
            </a:r>
            <a:endParaRPr lang="en-US" sz="1200" dirty="0"/>
          </a:p>
        </p:txBody>
      </p:sp>
      <p:sp>
        <p:nvSpPr>
          <p:cNvPr id="10" name="Text 8"/>
          <p:cNvSpPr txBox="1"/>
          <p:nvPr/>
        </p:nvSpPr>
        <p:spPr>
          <a:xfrm>
            <a:off x="548640" y="3163824"/>
            <a:ext cx="7863840" cy="457200"/>
          </a:xfrm>
          <a:prstGeom prst="rect">
            <a:avLst/>
          </a:prstGeom>
          <a:noFill/>
          <a:ln/>
        </p:spPr>
        <p:txBody>
          <a:bodyPr wrap="square" lIns="0" tIns="0" rIns="0" bIns="0" rtlCol="0" anchor="ctr"/>
          <a:lstStyle/>
          <a:p>
            <a:pPr indent="0" marL="0">
              <a:buNone/>
            </a:pPr>
            <a:r>
              <a:rPr lang="en-US" sz="1500" dirty="0">
                <a:solidFill>
                  <a:schemeClr val="bg2"/>
                </a:solidFill>
              </a:rPr>
              <a:t>"Lot 화면 뭐 있어?" (비슷한 화면이 여러 개)</a:t>
            </a:r>
            <a:endParaRPr lang="en-US" sz="1500" dirty="0"/>
          </a:p>
        </p:txBody>
      </p:sp>
      <p:sp>
        <p:nvSpPr>
          <p:cNvPr id="11" name="Shape 9"/>
          <p:cNvSpPr/>
          <p:nvPr/>
        </p:nvSpPr>
        <p:spPr>
          <a:xfrm>
            <a:off x="8595360" y="3200400"/>
            <a:ext cx="3047695" cy="384048"/>
          </a:xfrm>
          <a:prstGeom prst="roundRect">
            <a:avLst>
              <a:gd name="adj" fmla="val 19048"/>
            </a:avLst>
          </a:prstGeom>
          <a:solidFill>
            <a:srgbClr val="C9B8F0"/>
          </a:solidFill>
          <a:ln w="12700">
            <a:solidFill>
              <a:srgbClr val="C9B8F0"/>
            </a:solidFill>
            <a:prstDash val="solid"/>
          </a:ln>
        </p:spPr>
      </p:sp>
      <p:sp>
        <p:nvSpPr>
          <p:cNvPr id="12" name="Text 10"/>
          <p:cNvSpPr txBox="1"/>
          <p:nvPr/>
        </p:nvSpPr>
        <p:spPr>
          <a:xfrm>
            <a:off x="8595360" y="3200400"/>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clarify_screen</a:t>
            </a:r>
            <a:endParaRPr lang="en-US" sz="1200" dirty="0"/>
          </a:p>
        </p:txBody>
      </p:sp>
      <p:sp>
        <p:nvSpPr>
          <p:cNvPr id="13" name="Text 11"/>
          <p:cNvSpPr txBox="1"/>
          <p:nvPr/>
        </p:nvSpPr>
        <p:spPr>
          <a:xfrm>
            <a:off x="548640" y="3877056"/>
            <a:ext cx="7863840" cy="457200"/>
          </a:xfrm>
          <a:prstGeom prst="rect">
            <a:avLst/>
          </a:prstGeom>
          <a:noFill/>
          <a:ln/>
        </p:spPr>
        <p:txBody>
          <a:bodyPr wrap="square" lIns="0" tIns="0" rIns="0" bIns="0" rtlCol="0" anchor="ctr"/>
          <a:lstStyle/>
          <a:p>
            <a:pPr indent="0" marL="0">
              <a:buNone/>
            </a:pPr>
            <a:r>
              <a:rPr lang="en-US" sz="1500" dirty="0">
                <a:solidFill>
                  <a:schemeClr val="bg2"/>
                </a:solidFill>
              </a:rPr>
              <a:t>이어서 "Release 는 누가 해?"</a:t>
            </a:r>
            <a:endParaRPr lang="en-US" sz="1500" dirty="0"/>
          </a:p>
        </p:txBody>
      </p:sp>
      <p:sp>
        <p:nvSpPr>
          <p:cNvPr id="14" name="Shape 12"/>
          <p:cNvSpPr/>
          <p:nvPr/>
        </p:nvSpPr>
        <p:spPr>
          <a:xfrm>
            <a:off x="8595360" y="3913632"/>
            <a:ext cx="3047695" cy="384048"/>
          </a:xfrm>
          <a:prstGeom prst="roundRect">
            <a:avLst>
              <a:gd name="adj" fmla="val 19048"/>
            </a:avLst>
          </a:prstGeom>
          <a:solidFill>
            <a:srgbClr val="F0A35E"/>
          </a:solidFill>
          <a:ln w="12700">
            <a:solidFill>
              <a:srgbClr val="F0A35E"/>
            </a:solidFill>
            <a:prstDash val="solid"/>
          </a:ln>
        </p:spPr>
      </p:sp>
      <p:sp>
        <p:nvSpPr>
          <p:cNvPr id="15" name="Text 13"/>
          <p:cNvSpPr txBox="1"/>
          <p:nvPr/>
        </p:nvSpPr>
        <p:spPr>
          <a:xfrm>
            <a:off x="8595360" y="3913632"/>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answer_follow_up</a:t>
            </a:r>
            <a:endParaRPr lang="en-US" sz="1200" dirty="0"/>
          </a:p>
        </p:txBody>
      </p:sp>
      <p:sp>
        <p:nvSpPr>
          <p:cNvPr id="16" name="Text 14"/>
          <p:cNvSpPr txBox="1"/>
          <p:nvPr/>
        </p:nvSpPr>
        <p:spPr>
          <a:xfrm>
            <a:off x="548640" y="4590288"/>
            <a:ext cx="7863840" cy="457200"/>
          </a:xfrm>
          <a:prstGeom prst="rect">
            <a:avLst/>
          </a:prstGeom>
          <a:noFill/>
          <a:ln/>
        </p:spPr>
        <p:txBody>
          <a:bodyPr wrap="square" lIns="0" tIns="0" rIns="0" bIns="0" rtlCol="0" anchor="ctr"/>
          <a:lstStyle/>
          <a:p>
            <a:pPr indent="0" marL="0">
              <a:buNone/>
            </a:pPr>
            <a:r>
              <a:rPr lang="en-US" sz="1500" dirty="0">
                <a:solidFill>
                  <a:schemeClr val="bg2"/>
                </a:solidFill>
              </a:rPr>
              <a:t>"설비 알람 이력 화면이 뭐야?" (등록 안 된 화면)</a:t>
            </a:r>
            <a:endParaRPr lang="en-US" sz="1500" dirty="0"/>
          </a:p>
        </p:txBody>
      </p:sp>
      <p:sp>
        <p:nvSpPr>
          <p:cNvPr id="17" name="Shape 15"/>
          <p:cNvSpPr/>
          <p:nvPr/>
        </p:nvSpPr>
        <p:spPr>
          <a:xfrm>
            <a:off x="8595360" y="4626864"/>
            <a:ext cx="3047695" cy="384048"/>
          </a:xfrm>
          <a:prstGeom prst="roundRect">
            <a:avLst>
              <a:gd name="adj" fmla="val 19048"/>
            </a:avLst>
          </a:prstGeom>
          <a:solidFill>
            <a:srgbClr val="F0A35E"/>
          </a:solidFill>
          <a:ln w="12700">
            <a:solidFill>
              <a:srgbClr val="F0A35E"/>
            </a:solidFill>
            <a:prstDash val="solid"/>
          </a:ln>
        </p:spPr>
      </p:sp>
      <p:sp>
        <p:nvSpPr>
          <p:cNvPr id="18" name="Text 16"/>
          <p:cNvSpPr txBox="1"/>
          <p:nvPr/>
        </p:nvSpPr>
        <p:spPr>
          <a:xfrm>
            <a:off x="8595360" y="4626864"/>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clarify_screen</a:t>
            </a:r>
            <a:endParaRPr lang="en-US" sz="1200" dirty="0"/>
          </a:p>
        </p:txBody>
      </p:sp>
      <p:sp>
        <p:nvSpPr>
          <p:cNvPr id="19" name="Text 17"/>
          <p:cNvSpPr txBox="1"/>
          <p:nvPr/>
        </p:nvSpPr>
        <p:spPr>
          <a:xfrm>
            <a:off x="548640" y="5577840"/>
            <a:ext cx="11094415" cy="365760"/>
          </a:xfrm>
          <a:prstGeom prst="rect">
            <a:avLst/>
          </a:prstGeom>
          <a:noFill/>
          <a:ln/>
        </p:spPr>
        <p:txBody>
          <a:bodyPr wrap="square" lIns="0" tIns="0" rIns="0" bIns="0" rtlCol="0" anchor="t"/>
          <a:lstStyle/>
          <a:p>
            <a:pPr indent="0" marL="0">
              <a:buNone/>
            </a:pPr>
            <a:r>
              <a:rPr lang="en-US" sz="1400" dirty="0">
                <a:solidFill>
                  <a:srgbClr val="C9CDE0"/>
                </a:solidFill>
              </a:rPr>
              <a:t>위 세 줄은 README 예시 질문(캡처 대상), 아래 두 줄은 추가 확인용입니다. 실제 데이터를 넣으면 화면명도 바꿔 주세요.</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E93A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수정 가이드</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이걸 바꾸려면 어디를 고치나</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993989"/>
                <a:gridCol w="2662660"/>
                <a:gridCol w="4437766"/>
              </a:tblGrid>
              <a:tr h="384048">
                <a:tc>
                  <a:txBody>
                    <a:bodyPr/>
                    <a:lstStyle/>
                    <a:p>
                      <a:pPr indent="0" marL="0">
                        <a:buNone/>
                      </a:pPr>
                      <a:r>
                        <a:rPr lang="en-US" sz="1400" b="1" dirty="0">
                          <a:solidFill>
                            <a:schemeClr val="bg2"/>
                          </a:solidFill>
                        </a:rPr>
                        <a:t>하고 싶은 것</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파일</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위치</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화면 추가·수정</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prompts.py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MES_SCREENS (★ 구간)</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설명 말투·형식 바꾸기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prompts.py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해당 노드의 *_SYSTEM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사내 정보·일반 지식 섞는 규칙</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prompts.py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COMMON_RULES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엉뚱한 화면이 걸리거나 못 찾음</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workflow.py / prompts.py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MATCH_THRESHOLD, AMBIGUOUS_GAP / 별칭 추가</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예시 질문 바꾸기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workflow.py + README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TEAM_INFO, README 맨 위</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r>
              <a:tr h="384048">
                <a:tc>
                  <a:txBody>
                    <a:bodyPr/>
                    <a:lstStyle/>
                    <a:p>
                      <a:pPr indent="0" marL="0">
                        <a:buNone/>
                      </a:pPr>
                      <a:r>
                        <a:rPr lang="en-US" sz="1400" dirty="0">
                          <a:solidFill>
                            <a:schemeClr val="tx1"/>
                          </a:solidFill>
                        </a:rPr>
                        <a:t>노드 추가·분기 변경</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workflow.py + README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build_graph(), route_after_search(), README 1장</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r>
            </a:tbl>
          </a:graphicData>
        </a:graphic>
      </p:graphicFrame>
      <p:sp>
        <p:nvSpPr>
          <p:cNvPr id="5" name="Text 2"/>
          <p:cNvSpPr txBox="1"/>
          <p:nvPr/>
        </p:nvSpPr>
        <p:spPr>
          <a:xfrm>
            <a:off x="548640" y="493776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회색 줄은 여러 파일을 함께 고쳐야 합니다. README 의 설명과 실제 코드가 다르면 감점 요인입니다.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다음 단계</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제출 전 남은 일</a:t>
            </a:r>
            <a:endParaRPr lang="en-US" sz="3000" dirty="0"/>
          </a:p>
        </p:txBody>
      </p:sp>
      <p:sp>
        <p:nvSpPr>
          <p:cNvPr id="4" name="Shape 2"/>
          <p:cNvSpPr/>
          <p:nvPr/>
        </p:nvSpPr>
        <p:spPr>
          <a:xfrm>
            <a:off x="548640" y="1810512"/>
            <a:ext cx="237744" cy="237744"/>
          </a:xfrm>
          <a:prstGeom prst="roundRect">
            <a:avLst>
              <a:gd name="adj" fmla="val 15385"/>
            </a:avLst>
          </a:prstGeom>
          <a:solidFill>
            <a:schemeClr val="bg1"/>
          </a:solidFill>
          <a:ln w="25400">
            <a:solidFill>
              <a:schemeClr val="tx2"/>
            </a:solidFill>
            <a:prstDash val="solid"/>
          </a:ln>
        </p:spPr>
      </p:sp>
      <p:sp>
        <p:nvSpPr>
          <p:cNvPr id="5" name="Text 3"/>
          <p:cNvSpPr txBox="1"/>
          <p:nvPr/>
        </p:nvSpPr>
        <p:spPr>
          <a:xfrm>
            <a:off x="1005840" y="1737360"/>
            <a:ext cx="8778240" cy="411480"/>
          </a:xfrm>
          <a:prstGeom prst="rect">
            <a:avLst/>
          </a:prstGeom>
          <a:noFill/>
          <a:ln/>
        </p:spPr>
        <p:txBody>
          <a:bodyPr wrap="square" lIns="0" tIns="0" rIns="0" bIns="0" rtlCol="0" anchor="ctr"/>
          <a:lstStyle/>
          <a:p>
            <a:pPr indent="0" marL="0">
              <a:buNone/>
            </a:pPr>
            <a:r>
              <a:rPr lang="en-US" sz="1500" dirty="0">
                <a:solidFill>
                  <a:schemeClr val="tx1"/>
                </a:solidFill>
              </a:rPr>
              <a:t>실제 MES 화면명·설명을 MES_SCREENS 에 입력 (예시 6줄 교체) → --screens 로 확인</a:t>
            </a:r>
            <a:endParaRPr lang="en-US" sz="1500" dirty="0"/>
          </a:p>
        </p:txBody>
      </p:sp>
      <p:sp>
        <p:nvSpPr>
          <p:cNvPr id="6" name="Shape 4"/>
          <p:cNvSpPr/>
          <p:nvPr/>
        </p:nvSpPr>
        <p:spPr>
          <a:xfrm>
            <a:off x="10058400" y="1764792"/>
            <a:ext cx="1584655" cy="347472"/>
          </a:xfrm>
          <a:prstGeom prst="roundRect">
            <a:avLst>
              <a:gd name="adj" fmla="val 50000"/>
            </a:avLst>
          </a:prstGeom>
          <a:solidFill>
            <a:schemeClr val="bg2"/>
          </a:solidFill>
          <a:ln w="12700">
            <a:solidFill>
              <a:srgbClr val="DDD8CC"/>
            </a:solidFill>
            <a:prstDash val="solid"/>
          </a:ln>
        </p:spPr>
      </p:sp>
      <p:sp>
        <p:nvSpPr>
          <p:cNvPr id="7" name="Text 5"/>
          <p:cNvSpPr txBox="1"/>
          <p:nvPr/>
        </p:nvSpPr>
        <p:spPr>
          <a:xfrm>
            <a:off x="10058400" y="17647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8" name="Shape 6"/>
          <p:cNvSpPr/>
          <p:nvPr/>
        </p:nvSpPr>
        <p:spPr>
          <a:xfrm>
            <a:off x="548640" y="2496312"/>
            <a:ext cx="237744" cy="237744"/>
          </a:xfrm>
          <a:prstGeom prst="roundRect">
            <a:avLst>
              <a:gd name="adj" fmla="val 15385"/>
            </a:avLst>
          </a:prstGeom>
          <a:solidFill>
            <a:schemeClr val="bg1"/>
          </a:solidFill>
          <a:ln w="25400">
            <a:solidFill>
              <a:schemeClr val="tx2"/>
            </a:solidFill>
            <a:prstDash val="solid"/>
          </a:ln>
        </p:spPr>
      </p:sp>
      <p:sp>
        <p:nvSpPr>
          <p:cNvPr id="9" name="Text 7"/>
          <p:cNvSpPr txBox="1"/>
          <p:nvPr/>
        </p:nvSpPr>
        <p:spPr>
          <a:xfrm>
            <a:off x="1005840" y="2423160"/>
            <a:ext cx="8778240" cy="411480"/>
          </a:xfrm>
          <a:prstGeom prst="rect">
            <a:avLst/>
          </a:prstGeom>
          <a:noFill/>
          <a:ln/>
        </p:spPr>
        <p:txBody>
          <a:bodyPr wrap="square" lIns="0" tIns="0" rIns="0" bIns="0" rtlCol="0" anchor="ctr"/>
          <a:lstStyle/>
          <a:p>
            <a:pPr indent="0" marL="0">
              <a:buNone/>
            </a:pPr>
            <a:r>
              <a:rPr lang="en-US" sz="1500" dirty="0">
                <a:solidFill>
                  <a:schemeClr val="tx1"/>
                </a:solidFill>
              </a:rPr>
              <a:t>TEAM_INFO 와 README 예시 질문을 실제 화면명으로 교체</a:t>
            </a:r>
            <a:endParaRPr lang="en-US" sz="1500" dirty="0"/>
          </a:p>
        </p:txBody>
      </p:sp>
      <p:sp>
        <p:nvSpPr>
          <p:cNvPr id="10" name="Shape 8"/>
          <p:cNvSpPr/>
          <p:nvPr/>
        </p:nvSpPr>
        <p:spPr>
          <a:xfrm>
            <a:off x="10058400" y="2450592"/>
            <a:ext cx="1584655" cy="347472"/>
          </a:xfrm>
          <a:prstGeom prst="roundRect">
            <a:avLst>
              <a:gd name="adj" fmla="val 50000"/>
            </a:avLst>
          </a:prstGeom>
          <a:solidFill>
            <a:schemeClr val="bg2"/>
          </a:solidFill>
          <a:ln w="12700">
            <a:solidFill>
              <a:srgbClr val="DDD8CC"/>
            </a:solidFill>
            <a:prstDash val="solid"/>
          </a:ln>
        </p:spPr>
      </p:sp>
      <p:sp>
        <p:nvSpPr>
          <p:cNvPr id="11" name="Text 9"/>
          <p:cNvSpPr txBox="1"/>
          <p:nvPr/>
        </p:nvSpPr>
        <p:spPr>
          <a:xfrm>
            <a:off x="10058400" y="24505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12" name="Shape 10"/>
          <p:cNvSpPr/>
          <p:nvPr/>
        </p:nvSpPr>
        <p:spPr>
          <a:xfrm>
            <a:off x="548640" y="3182112"/>
            <a:ext cx="237744" cy="237744"/>
          </a:xfrm>
          <a:prstGeom prst="roundRect">
            <a:avLst>
              <a:gd name="adj" fmla="val 15385"/>
            </a:avLst>
          </a:prstGeom>
          <a:solidFill>
            <a:schemeClr val="bg1"/>
          </a:solidFill>
          <a:ln w="25400">
            <a:solidFill>
              <a:schemeClr val="tx2"/>
            </a:solidFill>
            <a:prstDash val="solid"/>
          </a:ln>
        </p:spPr>
      </p:sp>
      <p:sp>
        <p:nvSpPr>
          <p:cNvPr id="13" name="Text 11"/>
          <p:cNvSpPr txBox="1"/>
          <p:nvPr/>
        </p:nvSpPr>
        <p:spPr>
          <a:xfrm>
            <a:off x="1005840" y="3108960"/>
            <a:ext cx="8778240" cy="411480"/>
          </a:xfrm>
          <a:prstGeom prst="rect">
            <a:avLst/>
          </a:prstGeom>
          <a:noFill/>
          <a:ln/>
        </p:spPr>
        <p:txBody>
          <a:bodyPr wrap="square" lIns="0" tIns="0" rIns="0" bIns="0" rtlCol="0" anchor="ctr"/>
          <a:lstStyle/>
          <a:p>
            <a:pPr indent="0" marL="0">
              <a:buNone/>
            </a:pPr>
            <a:r>
              <a:rPr lang="en-US" sz="1500" dirty="0">
                <a:solidFill>
                  <a:schemeClr val="tx1"/>
                </a:solidFill>
              </a:rPr>
              <a:t>사내 LLM 으로 예시 질문 3개 실행 → screenshots/case1~3.png 캡처 (노드 배지 보이게)</a:t>
            </a:r>
            <a:endParaRPr lang="en-US" sz="1500" dirty="0"/>
          </a:p>
        </p:txBody>
      </p:sp>
      <p:sp>
        <p:nvSpPr>
          <p:cNvPr id="14" name="Shape 12"/>
          <p:cNvSpPr/>
          <p:nvPr/>
        </p:nvSpPr>
        <p:spPr>
          <a:xfrm>
            <a:off x="10058400" y="3136392"/>
            <a:ext cx="1584655" cy="347472"/>
          </a:xfrm>
          <a:prstGeom prst="roundRect">
            <a:avLst>
              <a:gd name="adj" fmla="val 50000"/>
            </a:avLst>
          </a:prstGeom>
          <a:solidFill>
            <a:schemeClr val="bg2"/>
          </a:solidFill>
          <a:ln w="12700">
            <a:solidFill>
              <a:srgbClr val="DDD8CC"/>
            </a:solidFill>
            <a:prstDash val="solid"/>
          </a:ln>
        </p:spPr>
      </p:sp>
      <p:sp>
        <p:nvSpPr>
          <p:cNvPr id="15" name="Text 13"/>
          <p:cNvSpPr txBox="1"/>
          <p:nvPr/>
        </p:nvSpPr>
        <p:spPr>
          <a:xfrm>
            <a:off x="10058400" y="31363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16" name="Shape 14"/>
          <p:cNvSpPr/>
          <p:nvPr/>
        </p:nvSpPr>
        <p:spPr>
          <a:xfrm>
            <a:off x="548640" y="3867912"/>
            <a:ext cx="237744" cy="237744"/>
          </a:xfrm>
          <a:prstGeom prst="roundRect">
            <a:avLst>
              <a:gd name="adj" fmla="val 15385"/>
            </a:avLst>
          </a:prstGeom>
          <a:solidFill>
            <a:schemeClr val="bg1"/>
          </a:solidFill>
          <a:ln w="25400">
            <a:solidFill>
              <a:schemeClr val="tx2"/>
            </a:solidFill>
            <a:prstDash val="solid"/>
          </a:ln>
        </p:spPr>
      </p:sp>
      <p:sp>
        <p:nvSpPr>
          <p:cNvPr id="17" name="Text 15"/>
          <p:cNvSpPr txBox="1"/>
          <p:nvPr/>
        </p:nvSpPr>
        <p:spPr>
          <a:xfrm>
            <a:off x="1005840" y="3794760"/>
            <a:ext cx="8778240" cy="411480"/>
          </a:xfrm>
          <a:prstGeom prst="rect">
            <a:avLst/>
          </a:prstGeom>
          <a:noFill/>
          <a:ln/>
        </p:spPr>
        <p:txBody>
          <a:bodyPr wrap="square" lIns="0" tIns="0" rIns="0" bIns="0" rtlCol="0" anchor="ctr"/>
          <a:lstStyle/>
          <a:p>
            <a:pPr indent="0" marL="0">
              <a:buNone/>
            </a:pPr>
            <a:r>
              <a:rPr lang="en-US" sz="1500" dirty="0">
                <a:solidFill>
                  <a:schemeClr val="tx1"/>
                </a:solidFill>
              </a:rPr>
              <a:t>README 2장 '개선 전→후' 표를 실제 출력으로 교체 (지금은 예상 시나리오 초안)</a:t>
            </a:r>
            <a:endParaRPr lang="en-US" sz="1500" dirty="0"/>
          </a:p>
        </p:txBody>
      </p:sp>
      <p:sp>
        <p:nvSpPr>
          <p:cNvPr id="18" name="Shape 16"/>
          <p:cNvSpPr/>
          <p:nvPr/>
        </p:nvSpPr>
        <p:spPr>
          <a:xfrm>
            <a:off x="10058400" y="3822192"/>
            <a:ext cx="1584655" cy="347472"/>
          </a:xfrm>
          <a:prstGeom prst="roundRect">
            <a:avLst>
              <a:gd name="adj" fmla="val 50000"/>
            </a:avLst>
          </a:prstGeom>
          <a:solidFill>
            <a:schemeClr val="bg2"/>
          </a:solidFill>
          <a:ln w="12700">
            <a:solidFill>
              <a:srgbClr val="DDD8CC"/>
            </a:solidFill>
            <a:prstDash val="solid"/>
          </a:ln>
        </p:spPr>
      </p:sp>
      <p:sp>
        <p:nvSpPr>
          <p:cNvPr id="19" name="Text 17"/>
          <p:cNvSpPr txBox="1"/>
          <p:nvPr/>
        </p:nvSpPr>
        <p:spPr>
          <a:xfrm>
            <a:off x="10058400" y="38221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20" name="Shape 18"/>
          <p:cNvSpPr/>
          <p:nvPr/>
        </p:nvSpPr>
        <p:spPr>
          <a:xfrm>
            <a:off x="548640" y="4553712"/>
            <a:ext cx="237744" cy="237744"/>
          </a:xfrm>
          <a:prstGeom prst="roundRect">
            <a:avLst>
              <a:gd name="adj" fmla="val 15385"/>
            </a:avLst>
          </a:prstGeom>
          <a:solidFill>
            <a:schemeClr val="bg1"/>
          </a:solidFill>
          <a:ln w="25400">
            <a:solidFill>
              <a:schemeClr val="tx2"/>
            </a:solidFill>
            <a:prstDash val="solid"/>
          </a:ln>
        </p:spPr>
      </p:sp>
      <p:sp>
        <p:nvSpPr>
          <p:cNvPr id="21" name="Text 19"/>
          <p:cNvSpPr txBox="1"/>
          <p:nvPr/>
        </p:nvSpPr>
        <p:spPr>
          <a:xfrm>
            <a:off x="1005840" y="4480560"/>
            <a:ext cx="8778240" cy="411480"/>
          </a:xfrm>
          <a:prstGeom prst="rect">
            <a:avLst/>
          </a:prstGeom>
          <a:noFill/>
          <a:ln/>
        </p:spPr>
        <p:txBody>
          <a:bodyPr wrap="square" lIns="0" tIns="0" rIns="0" bIns="0" rtlCol="0" anchor="ctr"/>
          <a:lstStyle/>
          <a:p>
            <a:pPr indent="0" marL="0">
              <a:buNone/>
            </a:pPr>
            <a:r>
              <a:rPr lang="en-US" sz="1500" dirty="0">
                <a:solidFill>
                  <a:schemeClr val="tx1"/>
                </a:solidFill>
              </a:rPr>
              <a:t>최종 제출 주제 결정 (바이오리듬 / MES 화면 안내 / MES 소스 리뷰)</a:t>
            </a:r>
            <a:endParaRPr lang="en-US" sz="1500" dirty="0"/>
          </a:p>
        </p:txBody>
      </p:sp>
      <p:sp>
        <p:nvSpPr>
          <p:cNvPr id="22" name="Shape 20"/>
          <p:cNvSpPr/>
          <p:nvPr/>
        </p:nvSpPr>
        <p:spPr>
          <a:xfrm>
            <a:off x="10058400" y="4507992"/>
            <a:ext cx="1584655" cy="347472"/>
          </a:xfrm>
          <a:prstGeom prst="roundRect">
            <a:avLst>
              <a:gd name="adj" fmla="val 50000"/>
            </a:avLst>
          </a:prstGeom>
          <a:solidFill>
            <a:schemeClr val="bg2"/>
          </a:solidFill>
          <a:ln w="12700">
            <a:solidFill>
              <a:srgbClr val="DDD8CC"/>
            </a:solidFill>
            <a:prstDash val="solid"/>
          </a:ln>
        </p:spPr>
      </p:sp>
      <p:sp>
        <p:nvSpPr>
          <p:cNvPr id="23" name="Text 21"/>
          <p:cNvSpPr txBox="1"/>
          <p:nvPr/>
        </p:nvSpPr>
        <p:spPr>
          <a:xfrm>
            <a:off x="10058400" y="45079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3조 MES 화면 안내">
  <a:themeElements>
    <a:clrScheme name="3조 MES 화면 안내">
      <a:dk1>
        <a:srgbClr val="1B2433"/>
      </a:dk1>
      <a:lt1>
        <a:srgbClr val="FFFFFF"/>
      </a:lt1>
      <a:dk2>
        <a:srgbClr val="1E2238"/>
      </a:dk2>
      <a:lt2>
        <a:srgbClr val="F6F5F1"/>
      </a:lt2>
      <a:accent1>
        <a:srgbClr val="6B4FA0"/>
      </a:accent1>
      <a:accent2>
        <a:srgbClr val="2F6FB2"/>
      </a:accent2>
      <a:accent3>
        <a:srgbClr val="B5561A"/>
      </a:accent3>
      <a:accent4>
        <a:srgbClr val="E3EDF8"/>
      </a:accent4>
      <a:accent5>
        <a:srgbClr val="FBEBDD"/>
      </a:accent5>
      <a:accent6>
        <a:srgbClr val="4D5866"/>
      </a:accent6>
      <a:hlink>
        <a:srgbClr val="2F6FB2"/>
      </a:hlink>
      <a:folHlink>
        <a:srgbClr val="4D5866"/>
      </a:folHlink>
    </a:clrScheme>
    <a:fontScheme name="3조 MES 화면 안내">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3조 MES 화면 안내 선배봇 - 파일별 역할 설명</dc:title>
  <dc:subject>PptxGenJS Presentation</dc:subject>
  <dc:creator>3조</dc:creator>
  <cp:lastModifiedBy>3조</cp:lastModifiedBy>
  <cp:revision>1</cp:revision>
  <dcterms:created xsi:type="dcterms:W3CDTF">2026-10-27T02:31:37Z</dcterms:created>
  <dcterms:modified xsi:type="dcterms:W3CDTF">2026-10-27T02:31:37Z</dcterms:modified>
</cp:coreProperties>
</file>